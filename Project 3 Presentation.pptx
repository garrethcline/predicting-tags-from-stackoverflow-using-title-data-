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p:spPr>
        <p:txBody>
          <a:bodyPr rtlCol="0" anchor="ctr"/>
          <a:lstStyle/>
          <a:p/>
        </p:txBody>
      </p:sp>
      <p:sp>
        <p:nvSpPr>
          <p:cNvPr id="3" name="Rectangle 2"/>
          <p:cNvSpPr/>
          <p:nvPr/>
        </p:nvSpPr>
        <p:spPr>
          <a:xfrm>
            <a:off x="731520" y="3246120"/>
            <a:ext cx="1097280" cy="54864"/>
          </a:xfrm>
          <a:prstGeom prst="rect">
            <a:avLst/>
          </a:prstGeom>
          <a:solidFill>
            <a:srgbClr val="BF9000"/>
          </a:solidFill>
          <a:ln>
            <a:noFill/>
          </a:ln>
        </p:spPr>
        <p:txBody>
          <a:bodyPr rtlCol="0" anchor="ctr"/>
          <a:lstStyle/>
          <a:p/>
        </p:txBody>
      </p:sp>
      <p:sp>
        <p:nvSpPr>
          <p:cNvPr id="4" name="TextBox 3"/>
          <p:cNvSpPr txBox="1"/>
          <p:nvPr/>
        </p:nvSpPr>
        <p:spPr>
          <a:xfrm>
            <a:off x="731520" y="1097280"/>
            <a:ext cx="10698480" cy="2057400"/>
          </a:xfrm>
          <a:prstGeom prst="rect">
            <a:avLst/>
          </a:prstGeom>
          <a:noFill/>
        </p:spPr>
        <p:txBody>
          <a:bodyPr wrap="square" lIns="18288" rIns="18288" tIns="18288" bIns="18288" anchor="b">
            <a:spAutoFit/>
          </a:bodyPr>
          <a:lstStyle/>
          <a:p>
            <a:pPr algn="l">
              <a:lnSpc>
                <a:spcPct val="110000"/>
              </a:lnSpc>
              <a:spcAft>
                <a:spcPts val="0"/>
              </a:spcAft>
            </a:pPr>
            <a:r>
              <a:rPr sz="4000" b="1" i="0">
                <a:solidFill>
                  <a:srgbClr val="FFFFFF"/>
                </a:solidFill>
                <a:latin typeface="Calibri"/>
              </a:rPr>
              <a:t>Predicting Stack Overflow Tags</a:t>
            </a:r>
          </a:p>
          <a:p>
            <a:pPr algn="l">
              <a:lnSpc>
                <a:spcPct val="110000"/>
              </a:lnSpc>
              <a:spcAft>
                <a:spcPts val="0"/>
              </a:spcAft>
            </a:pPr>
            <a:r>
              <a:rPr sz="4000" b="1" i="0">
                <a:solidFill>
                  <a:srgbClr val="FFFFFF"/>
                </a:solidFill>
                <a:latin typeface="Calibri"/>
              </a:rPr>
              <a:t>from Question Titles</a:t>
            </a:r>
          </a:p>
        </p:txBody>
      </p:sp>
      <p:sp>
        <p:nvSpPr>
          <p:cNvPr id="5" name="TextBox 4"/>
          <p:cNvSpPr txBox="1"/>
          <p:nvPr/>
        </p:nvSpPr>
        <p:spPr>
          <a:xfrm>
            <a:off x="731520" y="3474720"/>
            <a:ext cx="10698480" cy="457200"/>
          </a:xfrm>
          <a:prstGeom prst="rect">
            <a:avLst/>
          </a:prstGeom>
          <a:noFill/>
        </p:spPr>
        <p:txBody>
          <a:bodyPr wrap="square" lIns="18288" rIns="18288" tIns="18288" bIns="18288" anchor="t">
            <a:spAutoFit/>
          </a:bodyPr>
          <a:lstStyle/>
          <a:p>
            <a:pPr algn="l">
              <a:lnSpc>
                <a:spcPct val="110000"/>
              </a:lnSpc>
              <a:spcAft>
                <a:spcPts val="0"/>
              </a:spcAft>
            </a:pPr>
            <a:r>
              <a:rPr sz="2000" b="0" i="0">
                <a:solidFill>
                  <a:srgbClr val="FFFFFF"/>
                </a:solidFill>
                <a:latin typeface="Calibri"/>
              </a:rPr>
              <a:t>Metis Data Science Bootcamp, Project 3, February 2021</a:t>
            </a:r>
          </a:p>
        </p:txBody>
      </p:sp>
      <p:sp>
        <p:nvSpPr>
          <p:cNvPr id="6" name="TextBox 5"/>
          <p:cNvSpPr txBox="1"/>
          <p:nvPr/>
        </p:nvSpPr>
        <p:spPr>
          <a:xfrm>
            <a:off x="731520" y="3977639"/>
            <a:ext cx="10698480" cy="457200"/>
          </a:xfrm>
          <a:prstGeom prst="rect">
            <a:avLst/>
          </a:prstGeom>
          <a:noFill/>
        </p:spPr>
        <p:txBody>
          <a:bodyPr wrap="square" lIns="18288" rIns="18288" tIns="18288" bIns="18288" anchor="t">
            <a:spAutoFit/>
          </a:bodyPr>
          <a:lstStyle/>
          <a:p>
            <a:pPr algn="l">
              <a:lnSpc>
                <a:spcPct val="110000"/>
              </a:lnSpc>
              <a:spcAft>
                <a:spcPts val="0"/>
              </a:spcAft>
            </a:pPr>
            <a:r>
              <a:rPr sz="2000" b="1" i="0">
                <a:solidFill>
                  <a:srgbClr val="FFFFFF"/>
                </a:solidFill>
                <a:latin typeface="Calibri"/>
              </a:rPr>
              <a:t>Garreth Cline</a:t>
            </a:r>
          </a:p>
        </p:txBody>
      </p:sp>
      <p:sp>
        <p:nvSpPr>
          <p:cNvPr id="7" name="TextBox 6"/>
          <p:cNvSpPr txBox="1"/>
          <p:nvPr/>
        </p:nvSpPr>
        <p:spPr>
          <a:xfrm>
            <a:off x="731520" y="5440680"/>
            <a:ext cx="10698480" cy="822960"/>
          </a:xfrm>
          <a:prstGeom prst="rect">
            <a:avLst/>
          </a:prstGeom>
          <a:noFill/>
        </p:spPr>
        <p:txBody>
          <a:bodyPr wrap="square" lIns="18288" rIns="18288" tIns="18288" bIns="18288" anchor="t">
            <a:spAutoFit/>
          </a:bodyPr>
          <a:lstStyle/>
          <a:p>
            <a:pPr algn="l">
              <a:lnSpc>
                <a:spcPct val="110000"/>
              </a:lnSpc>
              <a:spcAft>
                <a:spcPts val="300"/>
              </a:spcAft>
            </a:pPr>
            <a:r>
              <a:rPr sz="1300" b="0" i="0">
                <a:solidFill>
                  <a:srgbClr val="C8D0E0"/>
                </a:solidFill>
                <a:latin typeface="Calibri"/>
              </a:rPr>
              <a:t>Slides remade in October 2026 with AI help. Every result comes from the original 2021 notebook.</a:t>
            </a:r>
          </a:p>
          <a:p>
            <a:pPr algn="l">
              <a:lnSpc>
                <a:spcPct val="110000"/>
              </a:lnSpc>
              <a:spcAft>
                <a:spcPts val="300"/>
              </a:spcAft>
            </a:pPr>
            <a:r>
              <a:rPr sz="1300" b="0" i="0">
                <a:solidFill>
                  <a:srgbClr val="C8D0E0"/>
                </a:solidFill>
                <a:latin typeface="Calibri"/>
              </a:rPr>
              <a:t>Code and notebook: github.com/garrethcline/Predicting-Tags-from-StackOverflow-Using-Title-Data-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The goal</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Predicting Stack Overflow tags from titles  |  Metis, February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2</a:t>
            </a:r>
          </a:p>
        </p:txBody>
      </p:sp>
      <p:sp>
        <p:nvSpPr>
          <p:cNvPr id="6" name="TextBox 5"/>
          <p:cNvSpPr txBox="1"/>
          <p:nvPr/>
        </p:nvSpPr>
        <p:spPr>
          <a:xfrm>
            <a:off x="548640" y="1463040"/>
            <a:ext cx="5394960" cy="914400"/>
          </a:xfrm>
          <a:prstGeom prst="rect">
            <a:avLst/>
          </a:prstGeom>
          <a:noFill/>
        </p:spPr>
        <p:txBody>
          <a:bodyPr wrap="square" lIns="18288" rIns="18288" tIns="18288" bIns="18288" anchor="t">
            <a:spAutoFit/>
          </a:bodyPr>
          <a:lstStyle/>
          <a:p>
            <a:pPr algn="l">
              <a:lnSpc>
                <a:spcPct val="110000"/>
              </a:lnSpc>
              <a:spcAft>
                <a:spcPts val="0"/>
              </a:spcAft>
            </a:pPr>
            <a:r>
              <a:rPr sz="2200" b="1" i="0">
                <a:solidFill>
                  <a:srgbClr val="1F3864"/>
                </a:solidFill>
                <a:latin typeface="Calibri"/>
              </a:rPr>
              <a:t>Recommend tags for a Stack Overflow question from its title alone.</a:t>
            </a:r>
          </a:p>
        </p:txBody>
      </p:sp>
      <p:sp>
        <p:nvSpPr>
          <p:cNvPr id="7" name="TextBox 6"/>
          <p:cNvSpPr txBox="1"/>
          <p:nvPr/>
        </p:nvSpPr>
        <p:spPr>
          <a:xfrm>
            <a:off x="548640" y="2514600"/>
            <a:ext cx="5394960" cy="3566160"/>
          </a:xfrm>
          <a:prstGeom prst="rect">
            <a:avLst/>
          </a:prstGeom>
          <a:noFill/>
        </p:spPr>
        <p:txBody>
          <a:bodyPr wrap="square" lIns="18288" rIns="18288" tIns="18288" bIns="18288">
            <a:spAutoFit/>
          </a:bodyPr>
          <a:lstStyle/>
          <a:p>
            <a:pPr marL="256032" indent="-256032">
              <a:lnSpc>
                <a:spcPct val="108000"/>
              </a:lnSpc>
              <a:spcAft>
                <a:spcPts val="1200"/>
              </a:spcAft>
              <a:buChar char="•"/>
            </a:pPr>
            <a:r>
              <a:rPr sz="1800" b="0" i="0">
                <a:solidFill>
                  <a:srgbClr val="222222"/>
                </a:solidFill>
                <a:latin typeface="Calibri"/>
              </a:rPr>
              <a:t>Suggest tags to someone while they write a question.</a:t>
            </a:r>
          </a:p>
          <a:p>
            <a:pPr marL="256032" indent="-256032">
              <a:lnSpc>
                <a:spcPct val="108000"/>
              </a:lnSpc>
              <a:spcAft>
                <a:spcPts val="1200"/>
              </a:spcAft>
              <a:buChar char="•"/>
            </a:pPr>
            <a:r>
              <a:rPr sz="1800" b="0" i="0">
                <a:solidFill>
                  <a:srgbClr val="222222"/>
                </a:solidFill>
                <a:latin typeface="Calibri"/>
              </a:rPr>
              <a:t>Add tags to old posts or other text that has none.</a:t>
            </a:r>
          </a:p>
          <a:p>
            <a:pPr marL="256032" indent="-256032">
              <a:lnSpc>
                <a:spcPct val="108000"/>
              </a:lnSpc>
              <a:spcAft>
                <a:spcPts val="1200"/>
              </a:spcAft>
              <a:buChar char="•"/>
            </a:pPr>
            <a:r>
              <a:rPr sz="1800" b="0" i="0">
                <a:solidFill>
                  <a:srgbClr val="222222"/>
                </a:solidFill>
                <a:latin typeface="Calibri"/>
              </a:rPr>
              <a:t>A question can have several tags, so for each title the model makes 100 yes or no calls, one for each of the 100 most common tags.</a:t>
            </a:r>
          </a:p>
        </p:txBody>
      </p:sp>
      <p:graphicFrame>
        <p:nvGraphicFramePr>
          <p:cNvPr id="8" name="Table 7"/>
          <p:cNvGraphicFramePr>
            <a:graphicFrameLocks noGrp="1"/>
          </p:cNvGraphicFramePr>
          <p:nvPr/>
        </p:nvGraphicFramePr>
        <p:xfrm>
          <a:off x="6309360" y="1508760"/>
          <a:ext cx="5349240" cy="2560320"/>
        </p:xfrm>
        <a:graphic>
          <a:graphicData uri="http://schemas.openxmlformats.org/drawingml/2006/table">
            <a:tbl>
              <a:tblPr firstRow="1" bandRow="0">
                <a:tableStyleId>{5940675A-B579-460E-94D1-54222C63F5DA}</a:tableStyleId>
              </a:tblPr>
              <a:tblGrid>
                <a:gridCol w="3611880"/>
                <a:gridCol w="1737360"/>
              </a:tblGrid>
              <a:tr h="512064">
                <a:tc>
                  <a:txBody>
                    <a:bodyPr wrap="square"/>
                    <a:lstStyle/>
                    <a:p>
                      <a:r>
                        <a:rPr sz="1400" b="1" i="0">
                          <a:solidFill>
                            <a:srgbClr val="FFFFFF"/>
                          </a:solidFill>
                          <a:latin typeface="Calibri"/>
                        </a:rPr>
                        <a:t>Title</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1" i="0">
                          <a:solidFill>
                            <a:srgbClr val="FFFFFF"/>
                          </a:solidFill>
                          <a:latin typeface="Calibri"/>
                        </a:rPr>
                        <a:t>Tags kept</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r>
              <a:tr h="512064">
                <a:tc>
                  <a:txBody>
                    <a:bodyPr wrap="square"/>
                    <a:lstStyle/>
                    <a:p>
                      <a:r>
                        <a:rPr sz="1400" b="0" i="0">
                          <a:solidFill>
                            <a:srgbClr val="222222"/>
                          </a:solidFill>
                          <a:latin typeface="Calibri"/>
                        </a:rPr>
                        <a:t>Convert Decimal to Double?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c#</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512064">
                <a:tc>
                  <a:txBody>
                    <a:bodyPr wrap="square"/>
                    <a:lstStyle/>
                    <a:p>
                      <a:r>
                        <a:rPr sz="1400" b="0" i="0">
                          <a:solidFill>
                            <a:srgbClr val="222222"/>
                          </a:solidFill>
                          <a:latin typeface="Calibri"/>
                        </a:rPr>
                        <a:t>How do I calculate someone’s age in C#?</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c#, .net, datetime</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512064">
                <a:tc>
                  <a:txBody>
                    <a:bodyPr wrap="square"/>
                    <a:lstStyle/>
                    <a:p>
                      <a:r>
                        <a:rPr sz="1400" b="0" i="0">
                          <a:solidFill>
                            <a:srgbClr val="222222"/>
                          </a:solidFill>
                          <a:latin typeface="Calibri"/>
                        </a:rPr>
                        <a:t>Calculate relative time in C#</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c#, datetime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512064">
                <a:tc>
                  <a:txBody>
                    <a:bodyPr wrap="square"/>
                    <a:lstStyle/>
                    <a:p>
                      <a:r>
                        <a:rPr sz="1400" b="0" i="0">
                          <a:solidFill>
                            <a:srgbClr val="222222"/>
                          </a:solidFill>
                          <a:latin typeface="Calibri"/>
                        </a:rPr>
                        <a:t>Determine a User’s Timezone</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400" b="0" i="0">
                          <a:solidFill>
                            <a:srgbClr val="222222"/>
                          </a:solidFill>
                          <a:latin typeface="Calibri"/>
                        </a:rPr>
                        <a:t>javascript, html</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bl>
          </a:graphicData>
        </a:graphic>
      </p:graphicFrame>
      <p:sp>
        <p:nvSpPr>
          <p:cNvPr id="9" name="TextBox 8"/>
          <p:cNvSpPr txBox="1"/>
          <p:nvPr/>
        </p:nvSpPr>
        <p:spPr>
          <a:xfrm>
            <a:off x="6309360" y="4206240"/>
            <a:ext cx="5349240" cy="640080"/>
          </a:xfrm>
          <a:prstGeom prst="rect">
            <a:avLst/>
          </a:prstGeom>
          <a:noFill/>
        </p:spPr>
        <p:txBody>
          <a:bodyPr wrap="square" lIns="18288" rIns="18288" tIns="18288" bIns="18288" anchor="t">
            <a:spAutoFit/>
          </a:bodyPr>
          <a:lstStyle/>
          <a:p>
            <a:pPr algn="l">
              <a:lnSpc>
                <a:spcPct val="110000"/>
              </a:lnSpc>
              <a:spcAft>
                <a:spcPts val="0"/>
              </a:spcAft>
            </a:pPr>
            <a:r>
              <a:rPr sz="1300" b="0" i="0">
                <a:solidFill>
                  <a:srgbClr val="5F636B"/>
                </a:solidFill>
                <a:latin typeface="Calibri"/>
              </a:rPr>
              <a:t>Examples from the data. Tags outside the 100 most common were dropped.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The data</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1115568"/>
            <a:ext cx="11064240" cy="411480"/>
          </a:xfrm>
          <a:prstGeom prst="rect">
            <a:avLst/>
          </a:prstGeom>
          <a:noFill/>
        </p:spPr>
        <p:txBody>
          <a:bodyPr wrap="square" lIns="18288" rIns="18288" tIns="18288" bIns="18288" anchor="t">
            <a:spAutoFit/>
          </a:bodyPr>
          <a:lstStyle/>
          <a:p>
            <a:pPr algn="l">
              <a:lnSpc>
                <a:spcPct val="110000"/>
              </a:lnSpc>
              <a:spcAft>
                <a:spcPts val="0"/>
              </a:spcAft>
            </a:pPr>
            <a:r>
              <a:rPr sz="1600" b="0" i="0">
                <a:solidFill>
                  <a:srgbClr val="5F636B"/>
                </a:solidFill>
                <a:latin typeface="Calibri"/>
              </a:rPr>
              <a:t>Stack Overflow’s public data dump (2010 version), loaded as a SQL Server database from brentozar.com</a:t>
            </a:r>
          </a:p>
        </p:txBody>
      </p:sp>
      <p:sp>
        <p:nvSpPr>
          <p:cNvPr id="5" name="TextBox 4"/>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Predicting Stack Overflow tags from titles  |  Metis, February 2021</a:t>
            </a:r>
          </a:p>
        </p:txBody>
      </p:sp>
      <p:sp>
        <p:nvSpPr>
          <p:cNvPr id="6" name="TextBox 5"/>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3</a:t>
            </a:r>
          </a:p>
        </p:txBody>
      </p:sp>
      <p:sp>
        <p:nvSpPr>
          <p:cNvPr id="7" name="Rectangle 6"/>
          <p:cNvSpPr/>
          <p:nvPr/>
        </p:nvSpPr>
        <p:spPr>
          <a:xfrm>
            <a:off x="576072" y="1783080"/>
            <a:ext cx="2468880" cy="1234440"/>
          </a:xfrm>
          <a:prstGeom prst="rect">
            <a:avLst/>
          </a:prstGeom>
          <a:solidFill>
            <a:srgbClr val="F1F4F9"/>
          </a:solidFill>
          <a:ln>
            <a:noFill/>
          </a:ln>
        </p:spPr>
        <p:txBody>
          <a:bodyPr rtlCol="0" anchor="ctr"/>
          <a:lstStyle/>
          <a:p/>
        </p:txBody>
      </p:sp>
      <p:sp>
        <p:nvSpPr>
          <p:cNvPr id="8" name="TextBox 7"/>
          <p:cNvSpPr txBox="1"/>
          <p:nvPr/>
        </p:nvSpPr>
        <p:spPr>
          <a:xfrm>
            <a:off x="758952" y="1892807"/>
            <a:ext cx="2103120" cy="685800"/>
          </a:xfrm>
          <a:prstGeom prst="rect">
            <a:avLst/>
          </a:prstGeom>
          <a:noFill/>
        </p:spPr>
        <p:txBody>
          <a:bodyPr wrap="square" lIns="18288" rIns="18288" tIns="18288" bIns="18288" anchor="t">
            <a:spAutoFit/>
          </a:bodyPr>
          <a:lstStyle/>
          <a:p>
            <a:pPr algn="l">
              <a:lnSpc>
                <a:spcPct val="110000"/>
              </a:lnSpc>
              <a:spcAft>
                <a:spcPts val="0"/>
              </a:spcAft>
            </a:pPr>
            <a:r>
              <a:rPr sz="3200" b="1" i="0">
                <a:solidFill>
                  <a:srgbClr val="1F3864"/>
                </a:solidFill>
                <a:latin typeface="Calibri"/>
              </a:rPr>
              <a:t>1,000,000</a:t>
            </a:r>
          </a:p>
        </p:txBody>
      </p:sp>
      <p:sp>
        <p:nvSpPr>
          <p:cNvPr id="9" name="TextBox 8"/>
          <p:cNvSpPr txBox="1"/>
          <p:nvPr/>
        </p:nvSpPr>
        <p:spPr>
          <a:xfrm>
            <a:off x="758952" y="2587752"/>
            <a:ext cx="210312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posts exported</a:t>
            </a:r>
          </a:p>
        </p:txBody>
      </p:sp>
      <p:sp>
        <p:nvSpPr>
          <p:cNvPr id="10" name="TextBox 9"/>
          <p:cNvSpPr txBox="1"/>
          <p:nvPr/>
        </p:nvSpPr>
        <p:spPr>
          <a:xfrm>
            <a:off x="3044952" y="2103120"/>
            <a:ext cx="384048" cy="548640"/>
          </a:xfrm>
          <a:prstGeom prst="rect">
            <a:avLst/>
          </a:prstGeom>
          <a:noFill/>
        </p:spPr>
        <p:txBody>
          <a:bodyPr wrap="square" lIns="18288" rIns="18288" tIns="18288" bIns="18288" anchor="t">
            <a:spAutoFit/>
          </a:bodyPr>
          <a:lstStyle/>
          <a:p>
            <a:pPr algn="ctr">
              <a:lnSpc>
                <a:spcPct val="110000"/>
              </a:lnSpc>
              <a:spcAft>
                <a:spcPts val="0"/>
              </a:spcAft>
            </a:pPr>
            <a:r>
              <a:rPr sz="2400" b="0" i="0">
                <a:solidFill>
                  <a:srgbClr val="5F636B"/>
                </a:solidFill>
                <a:latin typeface="Calibri"/>
              </a:rPr>
              <a:t>→</a:t>
            </a:r>
          </a:p>
        </p:txBody>
      </p:sp>
      <p:sp>
        <p:nvSpPr>
          <p:cNvPr id="11" name="Rectangle 10"/>
          <p:cNvSpPr/>
          <p:nvPr/>
        </p:nvSpPr>
        <p:spPr>
          <a:xfrm>
            <a:off x="3429000" y="1783080"/>
            <a:ext cx="2468880" cy="1234440"/>
          </a:xfrm>
          <a:prstGeom prst="rect">
            <a:avLst/>
          </a:prstGeom>
          <a:solidFill>
            <a:srgbClr val="F1F4F9"/>
          </a:solidFill>
          <a:ln>
            <a:noFill/>
          </a:ln>
        </p:spPr>
        <p:txBody>
          <a:bodyPr rtlCol="0" anchor="ctr"/>
          <a:lstStyle/>
          <a:p/>
        </p:txBody>
      </p:sp>
      <p:sp>
        <p:nvSpPr>
          <p:cNvPr id="12" name="TextBox 11"/>
          <p:cNvSpPr txBox="1"/>
          <p:nvPr/>
        </p:nvSpPr>
        <p:spPr>
          <a:xfrm>
            <a:off x="3611880" y="1892807"/>
            <a:ext cx="2103120" cy="685800"/>
          </a:xfrm>
          <a:prstGeom prst="rect">
            <a:avLst/>
          </a:prstGeom>
          <a:noFill/>
        </p:spPr>
        <p:txBody>
          <a:bodyPr wrap="square" lIns="18288" rIns="18288" tIns="18288" bIns="18288" anchor="t">
            <a:spAutoFit/>
          </a:bodyPr>
          <a:lstStyle/>
          <a:p>
            <a:pPr algn="l">
              <a:lnSpc>
                <a:spcPct val="110000"/>
              </a:lnSpc>
              <a:spcAft>
                <a:spcPts val="0"/>
              </a:spcAft>
            </a:pPr>
            <a:r>
              <a:rPr sz="3200" b="1" i="0">
                <a:solidFill>
                  <a:srgbClr val="1F3864"/>
                </a:solidFill>
                <a:latin typeface="Calibri"/>
              </a:rPr>
              <a:t>28,183</a:t>
            </a:r>
          </a:p>
        </p:txBody>
      </p:sp>
      <p:sp>
        <p:nvSpPr>
          <p:cNvPr id="13" name="TextBox 12"/>
          <p:cNvSpPr txBox="1"/>
          <p:nvPr/>
        </p:nvSpPr>
        <p:spPr>
          <a:xfrm>
            <a:off x="3611880" y="2587752"/>
            <a:ext cx="210312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score above 50</a:t>
            </a:r>
          </a:p>
        </p:txBody>
      </p:sp>
      <p:sp>
        <p:nvSpPr>
          <p:cNvPr id="14" name="TextBox 13"/>
          <p:cNvSpPr txBox="1"/>
          <p:nvPr/>
        </p:nvSpPr>
        <p:spPr>
          <a:xfrm>
            <a:off x="5897880" y="2103120"/>
            <a:ext cx="384048" cy="548640"/>
          </a:xfrm>
          <a:prstGeom prst="rect">
            <a:avLst/>
          </a:prstGeom>
          <a:noFill/>
        </p:spPr>
        <p:txBody>
          <a:bodyPr wrap="square" lIns="18288" rIns="18288" tIns="18288" bIns="18288" anchor="t">
            <a:spAutoFit/>
          </a:bodyPr>
          <a:lstStyle/>
          <a:p>
            <a:pPr algn="ctr">
              <a:lnSpc>
                <a:spcPct val="110000"/>
              </a:lnSpc>
              <a:spcAft>
                <a:spcPts val="0"/>
              </a:spcAft>
            </a:pPr>
            <a:r>
              <a:rPr sz="2400" b="0" i="0">
                <a:solidFill>
                  <a:srgbClr val="5F636B"/>
                </a:solidFill>
                <a:latin typeface="Calibri"/>
              </a:rPr>
              <a:t>→</a:t>
            </a:r>
          </a:p>
        </p:txBody>
      </p:sp>
      <p:sp>
        <p:nvSpPr>
          <p:cNvPr id="15" name="Rectangle 14"/>
          <p:cNvSpPr/>
          <p:nvPr/>
        </p:nvSpPr>
        <p:spPr>
          <a:xfrm>
            <a:off x="6281928" y="1783080"/>
            <a:ext cx="2468880" cy="1234440"/>
          </a:xfrm>
          <a:prstGeom prst="rect">
            <a:avLst/>
          </a:prstGeom>
          <a:solidFill>
            <a:srgbClr val="F1F4F9"/>
          </a:solidFill>
          <a:ln>
            <a:noFill/>
          </a:ln>
        </p:spPr>
        <p:txBody>
          <a:bodyPr rtlCol="0" anchor="ctr"/>
          <a:lstStyle/>
          <a:p/>
        </p:txBody>
      </p:sp>
      <p:sp>
        <p:nvSpPr>
          <p:cNvPr id="16" name="TextBox 15"/>
          <p:cNvSpPr txBox="1"/>
          <p:nvPr/>
        </p:nvSpPr>
        <p:spPr>
          <a:xfrm>
            <a:off x="6464808" y="1892807"/>
            <a:ext cx="2103120" cy="685800"/>
          </a:xfrm>
          <a:prstGeom prst="rect">
            <a:avLst/>
          </a:prstGeom>
          <a:noFill/>
        </p:spPr>
        <p:txBody>
          <a:bodyPr wrap="square" lIns="18288" rIns="18288" tIns="18288" bIns="18288" anchor="t">
            <a:spAutoFit/>
          </a:bodyPr>
          <a:lstStyle/>
          <a:p>
            <a:pPr algn="l">
              <a:lnSpc>
                <a:spcPct val="110000"/>
              </a:lnSpc>
              <a:spcAft>
                <a:spcPts val="0"/>
              </a:spcAft>
            </a:pPr>
            <a:r>
              <a:rPr sz="3200" b="1" i="0">
                <a:solidFill>
                  <a:srgbClr val="1F3864"/>
                </a:solidFill>
                <a:latin typeface="Calibri"/>
              </a:rPr>
              <a:t>27,666</a:t>
            </a:r>
          </a:p>
        </p:txBody>
      </p:sp>
      <p:sp>
        <p:nvSpPr>
          <p:cNvPr id="17" name="TextBox 16"/>
          <p:cNvSpPr txBox="1"/>
          <p:nvPr/>
        </p:nvSpPr>
        <p:spPr>
          <a:xfrm>
            <a:off x="6464808" y="2587752"/>
            <a:ext cx="210312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over 10,000 views</a:t>
            </a:r>
          </a:p>
        </p:txBody>
      </p:sp>
      <p:sp>
        <p:nvSpPr>
          <p:cNvPr id="18" name="TextBox 17"/>
          <p:cNvSpPr txBox="1"/>
          <p:nvPr/>
        </p:nvSpPr>
        <p:spPr>
          <a:xfrm>
            <a:off x="8750808" y="2103120"/>
            <a:ext cx="384048" cy="548640"/>
          </a:xfrm>
          <a:prstGeom prst="rect">
            <a:avLst/>
          </a:prstGeom>
          <a:noFill/>
        </p:spPr>
        <p:txBody>
          <a:bodyPr wrap="square" lIns="18288" rIns="18288" tIns="18288" bIns="18288" anchor="t">
            <a:spAutoFit/>
          </a:bodyPr>
          <a:lstStyle/>
          <a:p>
            <a:pPr algn="ctr">
              <a:lnSpc>
                <a:spcPct val="110000"/>
              </a:lnSpc>
              <a:spcAft>
                <a:spcPts val="0"/>
              </a:spcAft>
            </a:pPr>
            <a:r>
              <a:rPr sz="2400" b="0" i="0">
                <a:solidFill>
                  <a:srgbClr val="5F636B"/>
                </a:solidFill>
                <a:latin typeface="Calibri"/>
              </a:rPr>
              <a:t>→</a:t>
            </a:r>
          </a:p>
        </p:txBody>
      </p:sp>
      <p:sp>
        <p:nvSpPr>
          <p:cNvPr id="19" name="Rectangle 18"/>
          <p:cNvSpPr/>
          <p:nvPr/>
        </p:nvSpPr>
        <p:spPr>
          <a:xfrm>
            <a:off x="9134856" y="1783080"/>
            <a:ext cx="2468880" cy="1234440"/>
          </a:xfrm>
          <a:prstGeom prst="rect">
            <a:avLst/>
          </a:prstGeom>
          <a:solidFill>
            <a:srgbClr val="F1F4F9"/>
          </a:solidFill>
          <a:ln>
            <a:noFill/>
          </a:ln>
        </p:spPr>
        <p:txBody>
          <a:bodyPr rtlCol="0" anchor="ctr"/>
          <a:lstStyle/>
          <a:p/>
        </p:txBody>
      </p:sp>
      <p:sp>
        <p:nvSpPr>
          <p:cNvPr id="20" name="TextBox 19"/>
          <p:cNvSpPr txBox="1"/>
          <p:nvPr/>
        </p:nvSpPr>
        <p:spPr>
          <a:xfrm>
            <a:off x="9317736" y="1892807"/>
            <a:ext cx="2103120" cy="685800"/>
          </a:xfrm>
          <a:prstGeom prst="rect">
            <a:avLst/>
          </a:prstGeom>
          <a:noFill/>
        </p:spPr>
        <p:txBody>
          <a:bodyPr wrap="square" lIns="18288" rIns="18288" tIns="18288" bIns="18288" anchor="t">
            <a:spAutoFit/>
          </a:bodyPr>
          <a:lstStyle/>
          <a:p>
            <a:pPr algn="l">
              <a:lnSpc>
                <a:spcPct val="110000"/>
              </a:lnSpc>
              <a:spcAft>
                <a:spcPts val="0"/>
              </a:spcAft>
            </a:pPr>
            <a:r>
              <a:rPr sz="3200" b="1" i="0">
                <a:solidFill>
                  <a:srgbClr val="1F3864"/>
                </a:solidFill>
                <a:latin typeface="Calibri"/>
              </a:rPr>
              <a:t>25,352</a:t>
            </a:r>
          </a:p>
        </p:txBody>
      </p:sp>
      <p:sp>
        <p:nvSpPr>
          <p:cNvPr id="21" name="TextBox 20"/>
          <p:cNvSpPr txBox="1"/>
          <p:nvPr/>
        </p:nvSpPr>
        <p:spPr>
          <a:xfrm>
            <a:off x="9317736" y="2587752"/>
            <a:ext cx="210312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with a top-100 tag</a:t>
            </a:r>
          </a:p>
        </p:txBody>
      </p:sp>
      <p:sp>
        <p:nvSpPr>
          <p:cNvPr id="22" name="TextBox 21"/>
          <p:cNvSpPr txBox="1"/>
          <p:nvPr/>
        </p:nvSpPr>
        <p:spPr>
          <a:xfrm>
            <a:off x="548640" y="3337560"/>
            <a:ext cx="5212080" cy="365760"/>
          </a:xfrm>
          <a:prstGeom prst="rect">
            <a:avLst/>
          </a:prstGeom>
          <a:noFill/>
        </p:spPr>
        <p:txBody>
          <a:bodyPr wrap="square" lIns="18288" rIns="18288" tIns="18288" bIns="18288" anchor="t">
            <a:spAutoFit/>
          </a:bodyPr>
          <a:lstStyle/>
          <a:p>
            <a:pPr algn="l">
              <a:lnSpc>
                <a:spcPct val="110000"/>
              </a:lnSpc>
              <a:spcAft>
                <a:spcPts val="0"/>
              </a:spcAft>
            </a:pPr>
            <a:r>
              <a:rPr sz="1800" b="1" i="0">
                <a:solidFill>
                  <a:srgbClr val="1F3864"/>
                </a:solidFill>
                <a:latin typeface="Calibri"/>
              </a:rPr>
              <a:t>In SQL Server</a:t>
            </a:r>
          </a:p>
        </p:txBody>
      </p:sp>
      <p:sp>
        <p:nvSpPr>
          <p:cNvPr id="23" name="TextBox 22"/>
          <p:cNvSpPr txBox="1"/>
          <p:nvPr/>
        </p:nvSpPr>
        <p:spPr>
          <a:xfrm>
            <a:off x="548640" y="3749039"/>
            <a:ext cx="5212080" cy="2468880"/>
          </a:xfrm>
          <a:prstGeom prst="rect">
            <a:avLst/>
          </a:prstGeom>
          <a:noFill/>
        </p:spPr>
        <p:txBody>
          <a:bodyPr wrap="square" lIns="18288" rIns="18288" tIns="18288" bIns="18288">
            <a:spAutoFit/>
          </a:bodyPr>
          <a:lstStyle/>
          <a:p>
            <a:pPr marL="256032" indent="-256032">
              <a:lnSpc>
                <a:spcPct val="108000"/>
              </a:lnSpc>
              <a:spcAft>
                <a:spcPts val="700"/>
              </a:spcAft>
              <a:buChar char="•"/>
            </a:pPr>
            <a:r>
              <a:rPr sz="1600" b="0" i="0">
                <a:solidFill>
                  <a:srgbClr val="222222"/>
                </a:solidFill>
                <a:latin typeface="Calibri"/>
              </a:rPr>
              <a:t>Removed commas from titles and tags so the CSV would load cleanly, and stripped the HTML angle brackets from the tags</a:t>
            </a:r>
          </a:p>
          <a:p>
            <a:pPr marL="256032" indent="-256032">
              <a:lnSpc>
                <a:spcPct val="108000"/>
              </a:lnSpc>
              <a:spcAft>
                <a:spcPts val="700"/>
              </a:spcAft>
              <a:buChar char="•"/>
            </a:pPr>
            <a:r>
              <a:rPr sz="1600" b="0" i="0">
                <a:solidFill>
                  <a:srgbClr val="222222"/>
                </a:solidFill>
                <a:latin typeface="Calibri"/>
              </a:rPr>
              <a:t>Deleted posts with no title</a:t>
            </a:r>
          </a:p>
          <a:p>
            <a:pPr marL="256032" indent="-256032">
              <a:lnSpc>
                <a:spcPct val="108000"/>
              </a:lnSpc>
              <a:spcAft>
                <a:spcPts val="700"/>
              </a:spcAft>
              <a:buChar char="•"/>
            </a:pPr>
            <a:r>
              <a:rPr sz="1600" b="0" i="0">
                <a:solidFill>
                  <a:srgbClr val="222222"/>
                </a:solidFill>
                <a:latin typeface="Calibri"/>
              </a:rPr>
              <a:t>Exported the posts to CSV with SQL Server Management Studio</a:t>
            </a:r>
          </a:p>
        </p:txBody>
      </p:sp>
      <p:sp>
        <p:nvSpPr>
          <p:cNvPr id="24" name="TextBox 23"/>
          <p:cNvSpPr txBox="1"/>
          <p:nvPr/>
        </p:nvSpPr>
        <p:spPr>
          <a:xfrm>
            <a:off x="6263640" y="3337560"/>
            <a:ext cx="5394960" cy="365760"/>
          </a:xfrm>
          <a:prstGeom prst="rect">
            <a:avLst/>
          </a:prstGeom>
          <a:noFill/>
        </p:spPr>
        <p:txBody>
          <a:bodyPr wrap="square" lIns="18288" rIns="18288" tIns="18288" bIns="18288" anchor="t">
            <a:spAutoFit/>
          </a:bodyPr>
          <a:lstStyle/>
          <a:p>
            <a:pPr algn="l">
              <a:lnSpc>
                <a:spcPct val="110000"/>
              </a:lnSpc>
              <a:spcAft>
                <a:spcPts val="0"/>
              </a:spcAft>
            </a:pPr>
            <a:r>
              <a:rPr sz="1800" b="1" i="0">
                <a:solidFill>
                  <a:srgbClr val="1F3864"/>
                </a:solidFill>
                <a:latin typeface="Calibri"/>
              </a:rPr>
              <a:t>In Python</a:t>
            </a:r>
          </a:p>
        </p:txBody>
      </p:sp>
      <p:sp>
        <p:nvSpPr>
          <p:cNvPr id="25" name="TextBox 24"/>
          <p:cNvSpPr txBox="1"/>
          <p:nvPr/>
        </p:nvSpPr>
        <p:spPr>
          <a:xfrm>
            <a:off x="6263640" y="3749039"/>
            <a:ext cx="5394960" cy="2468880"/>
          </a:xfrm>
          <a:prstGeom prst="rect">
            <a:avLst/>
          </a:prstGeom>
          <a:noFill/>
        </p:spPr>
        <p:txBody>
          <a:bodyPr wrap="square" lIns="18288" rIns="18288" tIns="18288" bIns="18288">
            <a:spAutoFit/>
          </a:bodyPr>
          <a:lstStyle/>
          <a:p>
            <a:pPr marL="256032" indent="-256032">
              <a:lnSpc>
                <a:spcPct val="108000"/>
              </a:lnSpc>
              <a:spcAft>
                <a:spcPts val="700"/>
              </a:spcAft>
              <a:buChar char="•"/>
            </a:pPr>
            <a:r>
              <a:rPr sz="1600" b="0" i="0">
                <a:solidFill>
                  <a:srgbClr val="222222"/>
                </a:solidFill>
                <a:latin typeface="Calibri"/>
              </a:rPr>
              <a:t>Counted 82,516 tag uses across 6,884 different tags and kept the 100 most common</a:t>
            </a:r>
          </a:p>
          <a:p>
            <a:pPr marL="256032" indent="-256032">
              <a:lnSpc>
                <a:spcPct val="108000"/>
              </a:lnSpc>
              <a:spcAft>
                <a:spcPts val="700"/>
              </a:spcAft>
              <a:buChar char="•"/>
            </a:pPr>
            <a:r>
              <a:rPr sz="1600" b="0" i="0">
                <a:solidFill>
                  <a:srgbClr val="222222"/>
                </a:solidFill>
                <a:latin typeface="Calibri"/>
              </a:rPr>
              <a:t>Cleaned the titles: removed punctuation, reduced verbs to their base form, removed common words</a:t>
            </a:r>
          </a:p>
          <a:p>
            <a:pPr marL="256032" indent="-256032">
              <a:lnSpc>
                <a:spcPct val="108000"/>
              </a:lnSpc>
              <a:spcAft>
                <a:spcPts val="700"/>
              </a:spcAft>
              <a:buChar char="•"/>
            </a:pPr>
            <a:r>
              <a:rPr sz="1600" b="0" i="0">
                <a:solidFill>
                  <a:srgbClr val="222222"/>
                </a:solidFill>
                <a:latin typeface="Calibri"/>
              </a:rPr>
              <a:t>Scored each title with TF-IDF over the 1,000 most frequent words</a:t>
            </a:r>
          </a:p>
          <a:p>
            <a:pPr marL="256032" indent="-256032">
              <a:lnSpc>
                <a:spcPct val="108000"/>
              </a:lnSpc>
              <a:spcAft>
                <a:spcPts val="700"/>
              </a:spcAft>
              <a:buChar char="•"/>
            </a:pPr>
            <a:r>
              <a:rPr sz="1600" b="0" i="0">
                <a:solidFill>
                  <a:srgbClr val="222222"/>
                </a:solidFill>
                <a:latin typeface="Calibri"/>
              </a:rPr>
              <a:t>Held out 20% of the questions (5,071) as a test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The 100 most common tags</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Predicting Stack Overflow tags from titles  |  Metis, February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4</a:t>
            </a:r>
          </a:p>
        </p:txBody>
      </p:sp>
      <p:sp>
        <p:nvSpPr>
          <p:cNvPr id="6" name="Rectangle 5"/>
          <p:cNvSpPr/>
          <p:nvPr/>
        </p:nvSpPr>
        <p:spPr>
          <a:xfrm>
            <a:off x="548640" y="1371600"/>
            <a:ext cx="6400800" cy="4800600"/>
          </a:xfrm>
          <a:prstGeom prst="rect">
            <a:avLst/>
          </a:prstGeom>
          <a:solidFill>
            <a:srgbClr val="FFFFFF"/>
          </a:solidFill>
          <a:ln w="9525">
            <a:solidFill>
              <a:srgbClr val="C8D0E0"/>
            </a:solidFill>
          </a:ln>
        </p:spPr>
        <p:txBody>
          <a:bodyPr rtlCol="0" anchor="ctr"/>
          <a:lstStyle/>
          <a:p/>
        </p:txBody>
      </p:sp>
      <p:pic>
        <p:nvPicPr>
          <p:cNvPr id="7" name="Picture 6" descr="orig_tag_counts.png"/>
          <p:cNvPicPr>
            <a:picLocks noChangeAspect="1"/>
          </p:cNvPicPr>
          <p:nvPr/>
        </p:nvPicPr>
        <p:blipFill>
          <a:blip r:embed="rId2"/>
          <a:stretch>
            <a:fillRect/>
          </a:stretch>
        </p:blipFill>
        <p:spPr>
          <a:xfrm>
            <a:off x="640080" y="1447351"/>
            <a:ext cx="6217920" cy="4658241"/>
          </a:xfrm>
          <a:prstGeom prst="rect">
            <a:avLst/>
          </a:prstGeom>
        </p:spPr>
      </p:pic>
      <p:sp>
        <p:nvSpPr>
          <p:cNvPr id="8" name="TextBox 7"/>
          <p:cNvSpPr txBox="1"/>
          <p:nvPr/>
        </p:nvSpPr>
        <p:spPr>
          <a:xfrm>
            <a:off x="7315200" y="1463040"/>
            <a:ext cx="4343400" cy="4206240"/>
          </a:xfrm>
          <a:prstGeom prst="rect">
            <a:avLst/>
          </a:prstGeom>
          <a:noFill/>
        </p:spPr>
        <p:txBody>
          <a:bodyPr wrap="square" lIns="18288" rIns="18288" tIns="18288" bIns="18288" anchor="t">
            <a:spAutoFit/>
          </a:bodyPr>
          <a:lstStyle/>
          <a:p>
            <a:pPr algn="l">
              <a:lnSpc>
                <a:spcPct val="110000"/>
              </a:lnSpc>
              <a:spcAft>
                <a:spcPts val="1400"/>
              </a:spcAft>
            </a:pPr>
            <a:r>
              <a:rPr sz="1700" b="0" i="0">
                <a:solidFill>
                  <a:srgbClr val="222222"/>
                </a:solidFill>
                <a:latin typeface="Calibri"/>
              </a:rPr>
              <a:t>How often each tag appears in the 27,666 questions left after the score and view filters.</a:t>
            </a:r>
          </a:p>
          <a:p>
            <a:pPr algn="l">
              <a:lnSpc>
                <a:spcPct val="110000"/>
              </a:lnSpc>
              <a:spcAft>
                <a:spcPts val="1400"/>
              </a:spcAft>
            </a:pPr>
            <a:r>
              <a:rPr sz="1700" b="0" i="0">
                <a:solidFill>
                  <a:srgbClr val="222222"/>
                </a:solidFill>
                <a:latin typeface="Calibri"/>
              </a:rPr>
              <a:t>c# is the most common, on about 3,100 questions, followed by java, javascript and python. By the 100th tag (file-io) the count is close to 100.</a:t>
            </a:r>
          </a:p>
          <a:p>
            <a:pPr algn="l">
              <a:lnSpc>
                <a:spcPct val="110000"/>
              </a:lnSpc>
              <a:spcAft>
                <a:spcPts val="0"/>
              </a:spcAft>
            </a:pPr>
            <a:r>
              <a:rPr sz="1700" b="0" i="0">
                <a:solidFill>
                  <a:srgbClr val="222222"/>
                </a:solidFill>
                <a:latin typeface="Calibri"/>
              </a:rPr>
              <a:t>So c# has about 30 times as many examples to learn from as file-io.</a:t>
            </a:r>
          </a:p>
        </p:txBody>
      </p:sp>
      <p:sp>
        <p:nvSpPr>
          <p:cNvPr id="9" name="TextBox 8"/>
          <p:cNvSpPr txBox="1"/>
          <p:nvPr/>
        </p:nvSpPr>
        <p:spPr>
          <a:xfrm>
            <a:off x="7315200" y="5760720"/>
            <a:ext cx="4343400" cy="365760"/>
          </a:xfrm>
          <a:prstGeom prst="rect">
            <a:avLst/>
          </a:prstGeom>
          <a:noFill/>
        </p:spPr>
        <p:txBody>
          <a:bodyPr wrap="square" lIns="18288" rIns="18288" tIns="18288" bIns="18288" anchor="t">
            <a:spAutoFit/>
          </a:bodyPr>
          <a:lstStyle/>
          <a:p>
            <a:pPr algn="l">
              <a:lnSpc>
                <a:spcPct val="110000"/>
              </a:lnSpc>
              <a:spcAft>
                <a:spcPts val="0"/>
              </a:spcAft>
            </a:pPr>
            <a:r>
              <a:rPr sz="1300" b="0" i="1">
                <a:solidFill>
                  <a:srgbClr val="5F636B"/>
                </a:solidFill>
                <a:latin typeface="Calibri"/>
              </a:rPr>
              <a:t>Chart from the 2021 notebook.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Twelve models on the same test set</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1115568"/>
            <a:ext cx="11064240" cy="411480"/>
          </a:xfrm>
          <a:prstGeom prst="rect">
            <a:avLst/>
          </a:prstGeom>
          <a:noFill/>
        </p:spPr>
        <p:txBody>
          <a:bodyPr wrap="square" lIns="18288" rIns="18288" tIns="18288" bIns="18288" anchor="t">
            <a:spAutoFit/>
          </a:bodyPr>
          <a:lstStyle/>
          <a:p>
            <a:pPr algn="l">
              <a:lnSpc>
                <a:spcPct val="110000"/>
              </a:lnSpc>
              <a:spcAft>
                <a:spcPts val="0"/>
              </a:spcAft>
            </a:pPr>
            <a:r>
              <a:rPr sz="1600" b="0" i="0">
                <a:solidFill>
                  <a:srgbClr val="5F636B"/>
                </a:solidFill>
                <a:latin typeface="Calibri"/>
              </a:rPr>
              <a:t>Each model ran as 100 yes or no classifiers, one per tag (one-vs-rest), without tuning.</a:t>
            </a:r>
          </a:p>
        </p:txBody>
      </p:sp>
      <p:sp>
        <p:nvSpPr>
          <p:cNvPr id="5" name="TextBox 4"/>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Predicting Stack Overflow tags from titles  |  Metis, February 2021</a:t>
            </a:r>
          </a:p>
        </p:txBody>
      </p:sp>
      <p:sp>
        <p:nvSpPr>
          <p:cNvPr id="6" name="TextBox 5"/>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5</a:t>
            </a:r>
          </a:p>
        </p:txBody>
      </p:sp>
      <p:graphicFrame>
        <p:nvGraphicFramePr>
          <p:cNvPr id="7" name="Table 6"/>
          <p:cNvGraphicFramePr>
            <a:graphicFrameLocks noGrp="1"/>
          </p:cNvGraphicFramePr>
          <p:nvPr/>
        </p:nvGraphicFramePr>
        <p:xfrm>
          <a:off x="548640" y="1645920"/>
          <a:ext cx="6949440" cy="3973068"/>
        </p:xfrm>
        <a:graphic>
          <a:graphicData uri="http://schemas.openxmlformats.org/drawingml/2006/table">
            <a:tbl>
              <a:tblPr firstRow="1" bandRow="0">
                <a:tableStyleId>{5940675A-B579-460E-94D1-54222C63F5DA}</a:tableStyleId>
              </a:tblPr>
              <a:tblGrid>
                <a:gridCol w="3383280"/>
                <a:gridCol w="1783080"/>
                <a:gridCol w="1783080"/>
              </a:tblGrid>
              <a:tr h="361188">
                <a:tc>
                  <a:txBody>
                    <a:bodyPr wrap="square"/>
                    <a:lstStyle/>
                    <a:p>
                      <a:r>
                        <a:rPr sz="1400" b="1" i="0">
                          <a:solidFill>
                            <a:srgbClr val="FFFFFF"/>
                          </a:solidFill>
                          <a:latin typeface="Calibri"/>
                        </a:rPr>
                        <a:t>Model</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Jaccard score</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Hamming loss</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r>
              <a:tr h="361188">
                <a:tc>
                  <a:txBody>
                    <a:bodyPr wrap="square"/>
                    <a:lstStyle/>
                    <a:p>
                      <a:r>
                        <a:rPr sz="1400" b="0" i="0">
                          <a:solidFill>
                            <a:srgbClr val="222222"/>
                          </a:solidFill>
                          <a:latin typeface="Calibri"/>
                        </a:rPr>
                        <a:t>PassiveAggressive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48.5</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1.19%</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61188">
                <a:tc>
                  <a:txBody>
                    <a:bodyPr wrap="square"/>
                    <a:lstStyle/>
                    <a:p>
                      <a:r>
                        <a:rPr sz="1400" b="1" i="0">
                          <a:solidFill>
                            <a:srgbClr val="222222"/>
                          </a:solidFill>
                          <a:latin typeface="Calibri"/>
                        </a:rPr>
                        <a:t>LinearSVC (chosen)</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222222"/>
                          </a:solidFill>
                          <a:latin typeface="Calibri"/>
                        </a:rPr>
                        <a:t>47.8</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222222"/>
                          </a:solidFill>
                          <a:latin typeface="Calibri"/>
                        </a:rPr>
                        <a:t>1.02%</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61188">
                <a:tc>
                  <a:txBody>
                    <a:bodyPr wrap="square"/>
                    <a:lstStyle/>
                    <a:p>
                      <a:r>
                        <a:rPr sz="1400" b="0" i="0">
                          <a:solidFill>
                            <a:srgbClr val="222222"/>
                          </a:solidFill>
                          <a:latin typeface="Calibri"/>
                        </a:rPr>
                        <a:t>Random forest, 3 runs</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45.8 to 45.9</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1.07 to 1.08%</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61188">
                <a:tc>
                  <a:txBody>
                    <a:bodyPr wrap="square"/>
                    <a:lstStyle/>
                    <a:p>
                      <a:r>
                        <a:rPr sz="1400" b="0" i="0">
                          <a:solidFill>
                            <a:srgbClr val="222222"/>
                          </a:solidFill>
                          <a:latin typeface="Calibri"/>
                        </a:rPr>
                        <a:t>SGD</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45.7</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1.02%</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61188">
                <a:tc>
                  <a:txBody>
                    <a:bodyPr wrap="square"/>
                    <a:lstStyle/>
                    <a:p>
                      <a:r>
                        <a:rPr sz="1400" b="0" i="0">
                          <a:solidFill>
                            <a:srgbClr val="222222"/>
                          </a:solidFill>
                          <a:latin typeface="Calibri"/>
                        </a:rPr>
                        <a:t>Decision tree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43.1</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1.41%</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61188">
                <a:tc>
                  <a:txBody>
                    <a:bodyPr wrap="square"/>
                    <a:lstStyle/>
                    <a:p>
                      <a:r>
                        <a:rPr sz="1400" b="0" i="0">
                          <a:solidFill>
                            <a:srgbClr val="222222"/>
                          </a:solidFill>
                          <a:latin typeface="Calibri"/>
                        </a:rPr>
                        <a:t>Perceptron</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42.7</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1.70%</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61188">
                <a:tc>
                  <a:txBody>
                    <a:bodyPr wrap="square"/>
                    <a:lstStyle/>
                    <a:p>
                      <a:r>
                        <a:rPr sz="1400" b="0" i="0">
                          <a:solidFill>
                            <a:srgbClr val="222222"/>
                          </a:solidFill>
                          <a:latin typeface="Calibri"/>
                        </a:rPr>
                        <a:t>Logistic regression</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41.1</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1.09%</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61188">
                <a:tc>
                  <a:txBody>
                    <a:bodyPr wrap="square"/>
                    <a:lstStyle/>
                    <a:p>
                      <a:r>
                        <a:rPr sz="1400" b="0" i="0">
                          <a:solidFill>
                            <a:srgbClr val="222222"/>
                          </a:solidFill>
                          <a:latin typeface="Calibri"/>
                        </a:rPr>
                        <a:t>k-nearest neighbors</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24.2</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1.42%</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61188">
                <a:tc>
                  <a:txBody>
                    <a:bodyPr wrap="square"/>
                    <a:lstStyle/>
                    <a:p>
                      <a:r>
                        <a:rPr sz="1400" b="0" i="0">
                          <a:solidFill>
                            <a:srgbClr val="222222"/>
                          </a:solidFill>
                          <a:latin typeface="Calibri"/>
                        </a:rPr>
                        <a:t>Multinomial naive Bayes</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23.2</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1.35%</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61188">
                <a:tc>
                  <a:txBody>
                    <a:bodyPr wrap="square"/>
                    <a:lstStyle/>
                    <a:p>
                      <a:r>
                        <a:rPr sz="1400" b="0" i="0">
                          <a:solidFill>
                            <a:srgbClr val="222222"/>
                          </a:solidFill>
                          <a:latin typeface="Calibri"/>
                        </a:rPr>
                        <a:t>Dummy (random guesses)</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2.6</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3.14%</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bl>
          </a:graphicData>
        </a:graphic>
      </p:graphicFrame>
      <p:sp>
        <p:nvSpPr>
          <p:cNvPr id="8" name="Rectangle 7"/>
          <p:cNvSpPr/>
          <p:nvPr/>
        </p:nvSpPr>
        <p:spPr>
          <a:xfrm>
            <a:off x="7818120" y="1645920"/>
            <a:ext cx="3840480" cy="3973068"/>
          </a:xfrm>
          <a:prstGeom prst="rect">
            <a:avLst/>
          </a:prstGeom>
          <a:solidFill>
            <a:srgbClr val="F1F4F9"/>
          </a:solidFill>
          <a:ln>
            <a:noFill/>
          </a:ln>
        </p:spPr>
        <p:txBody>
          <a:bodyPr rtlCol="0" anchor="ctr"/>
          <a:lstStyle/>
          <a:p/>
        </p:txBody>
      </p:sp>
      <p:sp>
        <p:nvSpPr>
          <p:cNvPr id="9" name="TextBox 8"/>
          <p:cNvSpPr txBox="1"/>
          <p:nvPr/>
        </p:nvSpPr>
        <p:spPr>
          <a:xfrm>
            <a:off x="8046720" y="1783080"/>
            <a:ext cx="3429000" cy="3749039"/>
          </a:xfrm>
          <a:prstGeom prst="rect">
            <a:avLst/>
          </a:prstGeom>
          <a:noFill/>
        </p:spPr>
        <p:txBody>
          <a:bodyPr wrap="square" lIns="18288" rIns="18288" tIns="18288" bIns="18288" anchor="t">
            <a:spAutoFit/>
          </a:bodyPr>
          <a:lstStyle/>
          <a:p>
            <a:pPr algn="l">
              <a:lnSpc>
                <a:spcPct val="110000"/>
              </a:lnSpc>
              <a:spcAft>
                <a:spcPts val="800"/>
              </a:spcAft>
            </a:pPr>
            <a:r>
              <a:rPr sz="1700" b="1" i="0">
                <a:solidFill>
                  <a:srgbClr val="1F3864"/>
                </a:solidFill>
                <a:latin typeface="Calibri"/>
              </a:rPr>
              <a:t>Reading the scores</a:t>
            </a:r>
          </a:p>
          <a:p>
            <a:pPr algn="l">
              <a:lnSpc>
                <a:spcPct val="110000"/>
              </a:lnSpc>
              <a:spcAft>
                <a:spcPts val="200"/>
              </a:spcAft>
            </a:pPr>
            <a:r>
              <a:rPr sz="1400" b="1" i="0">
                <a:solidFill>
                  <a:srgbClr val="222222"/>
                </a:solidFill>
                <a:latin typeface="Calibri"/>
              </a:rPr>
              <a:t>Jaccard score</a:t>
            </a:r>
          </a:p>
          <a:p>
            <a:pPr algn="l">
              <a:lnSpc>
                <a:spcPct val="110000"/>
              </a:lnSpc>
              <a:spcAft>
                <a:spcPts val="1000"/>
              </a:spcAft>
            </a:pPr>
            <a:r>
              <a:rPr sz="1400" b="0" i="0">
                <a:solidFill>
                  <a:srgbClr val="222222"/>
                </a:solidFill>
                <a:latin typeface="Calibri"/>
              </a:rPr>
              <a:t>For each test question: the tags both predicted and correct, divided by all tags that were predicted or correct. Averaged and shown out of 100. Higher is better.</a:t>
            </a:r>
          </a:p>
          <a:p>
            <a:pPr algn="l">
              <a:lnSpc>
                <a:spcPct val="110000"/>
              </a:lnSpc>
              <a:spcAft>
                <a:spcPts val="200"/>
              </a:spcAft>
            </a:pPr>
            <a:r>
              <a:rPr sz="1400" b="1" i="0">
                <a:solidFill>
                  <a:srgbClr val="222222"/>
                </a:solidFill>
                <a:latin typeface="Calibri"/>
              </a:rPr>
              <a:t>Hamming loss</a:t>
            </a:r>
          </a:p>
          <a:p>
            <a:pPr algn="l">
              <a:lnSpc>
                <a:spcPct val="110000"/>
              </a:lnSpc>
              <a:spcAft>
                <a:spcPts val="1000"/>
              </a:spcAft>
            </a:pPr>
            <a:r>
              <a:rPr sz="1400" b="0" i="0">
                <a:solidFill>
                  <a:srgbClr val="222222"/>
                </a:solidFill>
                <a:latin typeface="Calibri"/>
              </a:rPr>
              <a:t>The share of all yes or no calls that were wrong. Lower is better.</a:t>
            </a:r>
          </a:p>
          <a:p>
            <a:pPr algn="l">
              <a:lnSpc>
                <a:spcPct val="110000"/>
              </a:lnSpc>
              <a:spcAft>
                <a:spcPts val="0"/>
              </a:spcAft>
            </a:pPr>
            <a:r>
              <a:rPr sz="1400" b="0" i="0">
                <a:solidFill>
                  <a:srgbClr val="222222"/>
                </a:solidFill>
                <a:latin typeface="Calibri"/>
              </a:rPr>
              <a:t>Even the dummy model gets about 97% of calls right, since most tags don’t apply to a given question. The Jaccard score shows the differences better.</a:t>
            </a:r>
          </a:p>
        </p:txBody>
      </p:sp>
      <p:sp>
        <p:nvSpPr>
          <p:cNvPr id="10" name="TextBox 9"/>
          <p:cNvSpPr txBox="1"/>
          <p:nvPr/>
        </p:nvSpPr>
        <p:spPr>
          <a:xfrm>
            <a:off x="548640" y="5742432"/>
            <a:ext cx="11064240" cy="548640"/>
          </a:xfrm>
          <a:prstGeom prst="rect">
            <a:avLst/>
          </a:prstGeom>
          <a:noFill/>
        </p:spPr>
        <p:txBody>
          <a:bodyPr wrap="square" lIns="18288" rIns="18288" tIns="18288" bIns="18288" anchor="t">
            <a:spAutoFit/>
          </a:bodyPr>
          <a:lstStyle/>
          <a:p>
            <a:pPr algn="l">
              <a:lnSpc>
                <a:spcPct val="110000"/>
              </a:lnSpc>
              <a:spcAft>
                <a:spcPts val="0"/>
              </a:spcAft>
            </a:pPr>
            <a:r>
              <a:rPr sz="1200" b="0" i="0">
                <a:solidFill>
                  <a:srgbClr val="5F636B"/>
                </a:solidFill>
                <a:latin typeface="Calibri"/>
              </a:rPr>
              <a:t>The 2021 code labeled the three random forests 10, 100 and 1,000 trees, but all three were set to 1,000, so they share a row. The dummy model guessed each tag at random, at that tag’s rate in the training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Final model: LinearSVC</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Predicting Stack Overflow tags from titles  |  Metis, February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6</a:t>
            </a:r>
          </a:p>
        </p:txBody>
      </p:sp>
      <p:sp>
        <p:nvSpPr>
          <p:cNvPr id="6" name="TextBox 5"/>
          <p:cNvSpPr txBox="1"/>
          <p:nvPr/>
        </p:nvSpPr>
        <p:spPr>
          <a:xfrm>
            <a:off x="548640" y="1463040"/>
            <a:ext cx="5257800" cy="4206240"/>
          </a:xfrm>
          <a:prstGeom prst="rect">
            <a:avLst/>
          </a:prstGeom>
          <a:noFill/>
        </p:spPr>
        <p:txBody>
          <a:bodyPr wrap="square" lIns="18288" rIns="18288" tIns="18288" bIns="18288" anchor="t">
            <a:spAutoFit/>
          </a:bodyPr>
          <a:lstStyle/>
          <a:p>
            <a:pPr algn="l">
              <a:lnSpc>
                <a:spcPct val="110000"/>
              </a:lnSpc>
              <a:spcAft>
                <a:spcPts val="1400"/>
              </a:spcAft>
            </a:pPr>
            <a:r>
              <a:rPr sz="1700" b="0" i="0">
                <a:solidFill>
                  <a:srgbClr val="222222"/>
                </a:solidFill>
                <a:latin typeface="Calibri"/>
              </a:rPr>
              <a:t>I tuned LinearSVC, which had the lowest Hamming loss and the second-highest Jaccard score.</a:t>
            </a:r>
          </a:p>
          <a:p>
            <a:pPr algn="l">
              <a:lnSpc>
                <a:spcPct val="110000"/>
              </a:lnSpc>
              <a:spcAft>
                <a:spcPts val="1400"/>
              </a:spcAft>
            </a:pPr>
            <a:r>
              <a:rPr sz="1700" b="0" i="0">
                <a:solidFill>
                  <a:srgbClr val="222222"/>
                </a:solidFill>
                <a:latin typeface="Calibri"/>
              </a:rPr>
              <a:t>A grid search tried C = 1, 10, 100 and 1,000 with 100-fold cross-validation: 400 fits, about four minutes on a 32-thread computer.</a:t>
            </a:r>
          </a:p>
          <a:p>
            <a:pPr algn="l">
              <a:lnSpc>
                <a:spcPct val="110000"/>
              </a:lnSpc>
              <a:spcAft>
                <a:spcPts val="1400"/>
              </a:spcAft>
            </a:pPr>
            <a:r>
              <a:rPr sz="1700" b="0" i="0">
                <a:solidFill>
                  <a:srgbClr val="222222"/>
                </a:solidFill>
                <a:latin typeface="Calibri"/>
              </a:rPr>
              <a:t>The best value was C = 1, the default, so the tuned model scored the same as the untuned one.</a:t>
            </a:r>
          </a:p>
          <a:p>
            <a:pPr algn="l">
              <a:lnSpc>
                <a:spcPct val="110000"/>
              </a:lnSpc>
              <a:spcAft>
                <a:spcPts val="0"/>
              </a:spcAft>
            </a:pPr>
            <a:r>
              <a:rPr sz="1700" b="0" i="0">
                <a:solidFill>
                  <a:srgbClr val="222222"/>
                </a:solidFill>
                <a:latin typeface="Calibri"/>
              </a:rPr>
              <a:t>100 folds was probably more than needed; the notebook notes that 15 gave similar results with much less load.</a:t>
            </a:r>
          </a:p>
        </p:txBody>
      </p:sp>
      <p:sp>
        <p:nvSpPr>
          <p:cNvPr id="7" name="Rectangle 6"/>
          <p:cNvSpPr/>
          <p:nvPr/>
        </p:nvSpPr>
        <p:spPr>
          <a:xfrm>
            <a:off x="6172200" y="1463040"/>
            <a:ext cx="2651760" cy="1920240"/>
          </a:xfrm>
          <a:prstGeom prst="rect">
            <a:avLst/>
          </a:prstGeom>
          <a:solidFill>
            <a:srgbClr val="F1F4F9"/>
          </a:solidFill>
          <a:ln>
            <a:noFill/>
          </a:ln>
        </p:spPr>
        <p:txBody>
          <a:bodyPr rtlCol="0" anchor="ctr"/>
          <a:lstStyle/>
          <a:p/>
        </p:txBody>
      </p:sp>
      <p:sp>
        <p:nvSpPr>
          <p:cNvPr id="8" name="TextBox 7"/>
          <p:cNvSpPr txBox="1"/>
          <p:nvPr/>
        </p:nvSpPr>
        <p:spPr>
          <a:xfrm>
            <a:off x="6355080" y="1572768"/>
            <a:ext cx="2286000" cy="685800"/>
          </a:xfrm>
          <a:prstGeom prst="rect">
            <a:avLst/>
          </a:prstGeom>
          <a:noFill/>
        </p:spPr>
        <p:txBody>
          <a:bodyPr wrap="square" lIns="18288" rIns="18288" tIns="18288" bIns="18288" anchor="t">
            <a:spAutoFit/>
          </a:bodyPr>
          <a:lstStyle/>
          <a:p>
            <a:pPr algn="l">
              <a:lnSpc>
                <a:spcPct val="110000"/>
              </a:lnSpc>
              <a:spcAft>
                <a:spcPts val="0"/>
              </a:spcAft>
            </a:pPr>
            <a:r>
              <a:rPr sz="3400" b="1" i="0">
                <a:solidFill>
                  <a:srgbClr val="1F3864"/>
                </a:solidFill>
                <a:latin typeface="Calibri"/>
              </a:rPr>
              <a:t>47.8</a:t>
            </a:r>
          </a:p>
        </p:txBody>
      </p:sp>
      <p:sp>
        <p:nvSpPr>
          <p:cNvPr id="9" name="TextBox 8"/>
          <p:cNvSpPr txBox="1"/>
          <p:nvPr/>
        </p:nvSpPr>
        <p:spPr>
          <a:xfrm>
            <a:off x="6355080" y="2267712"/>
            <a:ext cx="228600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Jaccard score</a:t>
            </a:r>
          </a:p>
        </p:txBody>
      </p:sp>
      <p:sp>
        <p:nvSpPr>
          <p:cNvPr id="10" name="TextBox 9"/>
          <p:cNvSpPr txBox="1"/>
          <p:nvPr/>
        </p:nvSpPr>
        <p:spPr>
          <a:xfrm>
            <a:off x="6355080" y="2606040"/>
            <a:ext cx="2286000" cy="731520"/>
          </a:xfrm>
          <a:prstGeom prst="rect">
            <a:avLst/>
          </a:prstGeom>
          <a:noFill/>
        </p:spPr>
        <p:txBody>
          <a:bodyPr wrap="square" lIns="18288" rIns="18288" tIns="18288" bIns="18288" anchor="t">
            <a:spAutoFit/>
          </a:bodyPr>
          <a:lstStyle/>
          <a:p>
            <a:pPr algn="l">
              <a:lnSpc>
                <a:spcPct val="110000"/>
              </a:lnSpc>
              <a:spcAft>
                <a:spcPts val="0"/>
              </a:spcAft>
            </a:pPr>
            <a:r>
              <a:rPr sz="1300" b="0" i="0">
                <a:solidFill>
                  <a:srgbClr val="5F636B"/>
                </a:solidFill>
                <a:latin typeface="Calibri"/>
              </a:rPr>
              <a:t>Dummy model: 2.6</a:t>
            </a:r>
          </a:p>
        </p:txBody>
      </p:sp>
      <p:sp>
        <p:nvSpPr>
          <p:cNvPr id="11" name="Rectangle 10"/>
          <p:cNvSpPr/>
          <p:nvPr/>
        </p:nvSpPr>
        <p:spPr>
          <a:xfrm>
            <a:off x="9006840" y="1463040"/>
            <a:ext cx="2651760" cy="1920240"/>
          </a:xfrm>
          <a:prstGeom prst="rect">
            <a:avLst/>
          </a:prstGeom>
          <a:solidFill>
            <a:srgbClr val="F1F4F9"/>
          </a:solidFill>
          <a:ln>
            <a:noFill/>
          </a:ln>
        </p:spPr>
        <p:txBody>
          <a:bodyPr rtlCol="0" anchor="ctr"/>
          <a:lstStyle/>
          <a:p/>
        </p:txBody>
      </p:sp>
      <p:sp>
        <p:nvSpPr>
          <p:cNvPr id="12" name="TextBox 11"/>
          <p:cNvSpPr txBox="1"/>
          <p:nvPr/>
        </p:nvSpPr>
        <p:spPr>
          <a:xfrm>
            <a:off x="9189719" y="1572768"/>
            <a:ext cx="2286000" cy="685800"/>
          </a:xfrm>
          <a:prstGeom prst="rect">
            <a:avLst/>
          </a:prstGeom>
          <a:noFill/>
        </p:spPr>
        <p:txBody>
          <a:bodyPr wrap="square" lIns="18288" rIns="18288" tIns="18288" bIns="18288" anchor="t">
            <a:spAutoFit/>
          </a:bodyPr>
          <a:lstStyle/>
          <a:p>
            <a:pPr algn="l">
              <a:lnSpc>
                <a:spcPct val="110000"/>
              </a:lnSpc>
              <a:spcAft>
                <a:spcPts val="0"/>
              </a:spcAft>
            </a:pPr>
            <a:r>
              <a:rPr sz="3400" b="1" i="0">
                <a:solidFill>
                  <a:srgbClr val="1F3864"/>
                </a:solidFill>
                <a:latin typeface="Calibri"/>
              </a:rPr>
              <a:t>1.02%</a:t>
            </a:r>
          </a:p>
        </p:txBody>
      </p:sp>
      <p:sp>
        <p:nvSpPr>
          <p:cNvPr id="13" name="TextBox 12"/>
          <p:cNvSpPr txBox="1"/>
          <p:nvPr/>
        </p:nvSpPr>
        <p:spPr>
          <a:xfrm>
            <a:off x="9189719" y="2267712"/>
            <a:ext cx="228600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Hamming loss</a:t>
            </a:r>
          </a:p>
        </p:txBody>
      </p:sp>
      <p:sp>
        <p:nvSpPr>
          <p:cNvPr id="14" name="TextBox 13"/>
          <p:cNvSpPr txBox="1"/>
          <p:nvPr/>
        </p:nvSpPr>
        <p:spPr>
          <a:xfrm>
            <a:off x="9189719" y="2606040"/>
            <a:ext cx="2286000" cy="731520"/>
          </a:xfrm>
          <a:prstGeom prst="rect">
            <a:avLst/>
          </a:prstGeom>
          <a:noFill/>
        </p:spPr>
        <p:txBody>
          <a:bodyPr wrap="square" lIns="18288" rIns="18288" tIns="18288" bIns="18288" anchor="t">
            <a:spAutoFit/>
          </a:bodyPr>
          <a:lstStyle/>
          <a:p>
            <a:pPr algn="l">
              <a:lnSpc>
                <a:spcPct val="110000"/>
              </a:lnSpc>
              <a:spcAft>
                <a:spcPts val="0"/>
              </a:spcAft>
            </a:pPr>
            <a:r>
              <a:rPr sz="1300" b="0" i="0">
                <a:solidFill>
                  <a:srgbClr val="5F636B"/>
                </a:solidFill>
                <a:latin typeface="Calibri"/>
              </a:rPr>
              <a:t>Dummy model: 3.14%</a:t>
            </a:r>
          </a:p>
        </p:txBody>
      </p:sp>
      <p:sp>
        <p:nvSpPr>
          <p:cNvPr id="15" name="Rectangle 14"/>
          <p:cNvSpPr/>
          <p:nvPr/>
        </p:nvSpPr>
        <p:spPr>
          <a:xfrm>
            <a:off x="6172200" y="3566160"/>
            <a:ext cx="2651760" cy="1920240"/>
          </a:xfrm>
          <a:prstGeom prst="rect">
            <a:avLst/>
          </a:prstGeom>
          <a:solidFill>
            <a:srgbClr val="F1F4F9"/>
          </a:solidFill>
          <a:ln>
            <a:noFill/>
          </a:ln>
        </p:spPr>
        <p:txBody>
          <a:bodyPr rtlCol="0" anchor="ctr"/>
          <a:lstStyle/>
          <a:p/>
        </p:txBody>
      </p:sp>
      <p:sp>
        <p:nvSpPr>
          <p:cNvPr id="16" name="TextBox 15"/>
          <p:cNvSpPr txBox="1"/>
          <p:nvPr/>
        </p:nvSpPr>
        <p:spPr>
          <a:xfrm>
            <a:off x="6355080" y="3675888"/>
            <a:ext cx="2286000" cy="685800"/>
          </a:xfrm>
          <a:prstGeom prst="rect">
            <a:avLst/>
          </a:prstGeom>
          <a:noFill/>
        </p:spPr>
        <p:txBody>
          <a:bodyPr wrap="square" lIns="18288" rIns="18288" tIns="18288" bIns="18288" anchor="t">
            <a:spAutoFit/>
          </a:bodyPr>
          <a:lstStyle/>
          <a:p>
            <a:pPr algn="l">
              <a:lnSpc>
                <a:spcPct val="110000"/>
              </a:lnSpc>
              <a:spcAft>
                <a:spcPts val="0"/>
              </a:spcAft>
            </a:pPr>
            <a:r>
              <a:rPr sz="3400" b="1" i="0">
                <a:solidFill>
                  <a:srgbClr val="1F3864"/>
                </a:solidFill>
                <a:latin typeface="Calibri"/>
              </a:rPr>
              <a:t>85.5%</a:t>
            </a:r>
          </a:p>
        </p:txBody>
      </p:sp>
      <p:sp>
        <p:nvSpPr>
          <p:cNvPr id="17" name="TextBox 16"/>
          <p:cNvSpPr txBox="1"/>
          <p:nvPr/>
        </p:nvSpPr>
        <p:spPr>
          <a:xfrm>
            <a:off x="6355080" y="4370832"/>
            <a:ext cx="228600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Precision</a:t>
            </a:r>
          </a:p>
        </p:txBody>
      </p:sp>
      <p:sp>
        <p:nvSpPr>
          <p:cNvPr id="18" name="TextBox 17"/>
          <p:cNvSpPr txBox="1"/>
          <p:nvPr/>
        </p:nvSpPr>
        <p:spPr>
          <a:xfrm>
            <a:off x="6355080" y="4709160"/>
            <a:ext cx="2286000" cy="731520"/>
          </a:xfrm>
          <a:prstGeom prst="rect">
            <a:avLst/>
          </a:prstGeom>
          <a:noFill/>
        </p:spPr>
        <p:txBody>
          <a:bodyPr wrap="square" lIns="18288" rIns="18288" tIns="18288" bIns="18288" anchor="t">
            <a:spAutoFit/>
          </a:bodyPr>
          <a:lstStyle/>
          <a:p>
            <a:pPr algn="l">
              <a:lnSpc>
                <a:spcPct val="110000"/>
              </a:lnSpc>
              <a:spcAft>
                <a:spcPts val="0"/>
              </a:spcAft>
            </a:pPr>
            <a:r>
              <a:rPr sz="1300" b="0" i="0">
                <a:solidFill>
                  <a:srgbClr val="5F636B"/>
                </a:solidFill>
                <a:latin typeface="Calibri"/>
              </a:rPr>
              <a:t>Share of predicted tags that were correct</a:t>
            </a:r>
          </a:p>
        </p:txBody>
      </p:sp>
      <p:sp>
        <p:nvSpPr>
          <p:cNvPr id="19" name="Rectangle 18"/>
          <p:cNvSpPr/>
          <p:nvPr/>
        </p:nvSpPr>
        <p:spPr>
          <a:xfrm>
            <a:off x="9006840" y="3566160"/>
            <a:ext cx="2651760" cy="1920240"/>
          </a:xfrm>
          <a:prstGeom prst="rect">
            <a:avLst/>
          </a:prstGeom>
          <a:solidFill>
            <a:srgbClr val="F1F4F9"/>
          </a:solidFill>
          <a:ln>
            <a:noFill/>
          </a:ln>
        </p:spPr>
        <p:txBody>
          <a:bodyPr rtlCol="0" anchor="ctr"/>
          <a:lstStyle/>
          <a:p/>
        </p:txBody>
      </p:sp>
      <p:sp>
        <p:nvSpPr>
          <p:cNvPr id="20" name="TextBox 19"/>
          <p:cNvSpPr txBox="1"/>
          <p:nvPr/>
        </p:nvSpPr>
        <p:spPr>
          <a:xfrm>
            <a:off x="9189719" y="3675888"/>
            <a:ext cx="2286000" cy="685800"/>
          </a:xfrm>
          <a:prstGeom prst="rect">
            <a:avLst/>
          </a:prstGeom>
          <a:noFill/>
        </p:spPr>
        <p:txBody>
          <a:bodyPr wrap="square" lIns="18288" rIns="18288" tIns="18288" bIns="18288" anchor="t">
            <a:spAutoFit/>
          </a:bodyPr>
          <a:lstStyle/>
          <a:p>
            <a:pPr algn="l">
              <a:lnSpc>
                <a:spcPct val="110000"/>
              </a:lnSpc>
              <a:spcAft>
                <a:spcPts val="0"/>
              </a:spcAft>
            </a:pPr>
            <a:r>
              <a:rPr sz="3400" b="1" i="0">
                <a:solidFill>
                  <a:srgbClr val="1F3864"/>
                </a:solidFill>
                <a:latin typeface="Calibri"/>
              </a:rPr>
              <a:t>46.0%</a:t>
            </a:r>
          </a:p>
        </p:txBody>
      </p:sp>
      <p:sp>
        <p:nvSpPr>
          <p:cNvPr id="21" name="TextBox 20"/>
          <p:cNvSpPr txBox="1"/>
          <p:nvPr/>
        </p:nvSpPr>
        <p:spPr>
          <a:xfrm>
            <a:off x="9189719" y="4370832"/>
            <a:ext cx="2286000" cy="365760"/>
          </a:xfrm>
          <a:prstGeom prst="rect">
            <a:avLst/>
          </a:prstGeom>
          <a:noFill/>
        </p:spPr>
        <p:txBody>
          <a:bodyPr wrap="square" lIns="18288" rIns="18288" tIns="18288" bIns="18288" anchor="t">
            <a:spAutoFit/>
          </a:bodyPr>
          <a:lstStyle/>
          <a:p>
            <a:pPr algn="l">
              <a:lnSpc>
                <a:spcPct val="110000"/>
              </a:lnSpc>
              <a:spcAft>
                <a:spcPts val="0"/>
              </a:spcAft>
            </a:pPr>
            <a:r>
              <a:rPr sz="1500" b="1" i="0">
                <a:solidFill>
                  <a:srgbClr val="222222"/>
                </a:solidFill>
                <a:latin typeface="Calibri"/>
              </a:rPr>
              <a:t>Recall</a:t>
            </a:r>
          </a:p>
        </p:txBody>
      </p:sp>
      <p:sp>
        <p:nvSpPr>
          <p:cNvPr id="22" name="TextBox 21"/>
          <p:cNvSpPr txBox="1"/>
          <p:nvPr/>
        </p:nvSpPr>
        <p:spPr>
          <a:xfrm>
            <a:off x="9189719" y="4709160"/>
            <a:ext cx="2286000" cy="731520"/>
          </a:xfrm>
          <a:prstGeom prst="rect">
            <a:avLst/>
          </a:prstGeom>
          <a:noFill/>
        </p:spPr>
        <p:txBody>
          <a:bodyPr wrap="square" lIns="18288" rIns="18288" tIns="18288" bIns="18288" anchor="t">
            <a:spAutoFit/>
          </a:bodyPr>
          <a:lstStyle/>
          <a:p>
            <a:pPr algn="l">
              <a:lnSpc>
                <a:spcPct val="110000"/>
              </a:lnSpc>
              <a:spcAft>
                <a:spcPts val="0"/>
              </a:spcAft>
            </a:pPr>
            <a:r>
              <a:rPr sz="1300" b="0" i="0">
                <a:solidFill>
                  <a:srgbClr val="5F636B"/>
                </a:solidFill>
                <a:latin typeface="Calibri"/>
              </a:rPr>
              <a:t>Share of actual tags the model found</a:t>
            </a:r>
          </a:p>
        </p:txBody>
      </p:sp>
      <p:sp>
        <p:nvSpPr>
          <p:cNvPr id="23" name="TextBox 22"/>
          <p:cNvSpPr txBox="1"/>
          <p:nvPr/>
        </p:nvSpPr>
        <p:spPr>
          <a:xfrm>
            <a:off x="548640" y="5760720"/>
            <a:ext cx="11064240" cy="548640"/>
          </a:xfrm>
          <a:prstGeom prst="rect">
            <a:avLst/>
          </a:prstGeom>
          <a:noFill/>
        </p:spPr>
        <p:txBody>
          <a:bodyPr wrap="square" lIns="18288" rIns="18288" tIns="18288" bIns="18288" anchor="t">
            <a:spAutoFit/>
          </a:bodyPr>
          <a:lstStyle/>
          <a:p>
            <a:pPr algn="l">
              <a:lnSpc>
                <a:spcPct val="110000"/>
              </a:lnSpc>
              <a:spcAft>
                <a:spcPts val="0"/>
              </a:spcAft>
            </a:pPr>
            <a:r>
              <a:rPr sz="1200" b="0" i="0">
                <a:solidFill>
                  <a:srgbClr val="5F636B"/>
                </a:solidFill>
                <a:latin typeface="Calibri"/>
              </a:rPr>
              <a:t>Precision and recall were added in 2026, from the notebook’s 100 per-tag confusion matrices: 3,842 tags found, 652 predicted wrongly, 4,508 missed.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Where it worked and where it didn’t</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Predicting Stack Overflow tags from titles  |  Metis, February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7</a:t>
            </a:r>
          </a:p>
        </p:txBody>
      </p:sp>
      <p:sp>
        <p:nvSpPr>
          <p:cNvPr id="6" name="TextBox 5"/>
          <p:cNvSpPr txBox="1"/>
          <p:nvPr/>
        </p:nvSpPr>
        <p:spPr>
          <a:xfrm>
            <a:off x="548640" y="1325880"/>
            <a:ext cx="5257800" cy="365760"/>
          </a:xfrm>
          <a:prstGeom prst="rect">
            <a:avLst/>
          </a:prstGeom>
          <a:noFill/>
        </p:spPr>
        <p:txBody>
          <a:bodyPr wrap="square" lIns="18288" rIns="18288" tIns="18288" bIns="18288" anchor="t">
            <a:spAutoFit/>
          </a:bodyPr>
          <a:lstStyle/>
          <a:p>
            <a:pPr algn="l">
              <a:lnSpc>
                <a:spcPct val="110000"/>
              </a:lnSpc>
              <a:spcAft>
                <a:spcPts val="0"/>
              </a:spcAft>
            </a:pPr>
            <a:r>
              <a:rPr sz="1600" b="1" i="0">
                <a:solidFill>
                  <a:srgbClr val="1F3864"/>
                </a:solidFill>
                <a:latin typeface="Calibri"/>
              </a:rPr>
              <a:t>Highest recall (tags with 25 or more test questions)</a:t>
            </a:r>
          </a:p>
        </p:txBody>
      </p:sp>
      <p:graphicFrame>
        <p:nvGraphicFramePr>
          <p:cNvPr id="7" name="Table 6"/>
          <p:cNvGraphicFramePr>
            <a:graphicFrameLocks noGrp="1"/>
          </p:cNvGraphicFramePr>
          <p:nvPr/>
        </p:nvGraphicFramePr>
        <p:xfrm>
          <a:off x="548640" y="1737360"/>
          <a:ext cx="5257800" cy="3209544"/>
        </p:xfrm>
        <a:graphic>
          <a:graphicData uri="http://schemas.openxmlformats.org/drawingml/2006/table">
            <a:tbl>
              <a:tblPr firstRow="1" bandRow="0">
                <a:tableStyleId>{5940675A-B579-460E-94D1-54222C63F5DA}</a:tableStyleId>
              </a:tblPr>
              <a:tblGrid>
                <a:gridCol w="2331720"/>
                <a:gridCol w="1737360"/>
                <a:gridCol w="1188720"/>
              </a:tblGrid>
              <a:tr h="356616">
                <a:tc>
                  <a:txBody>
                    <a:bodyPr wrap="square"/>
                    <a:lstStyle/>
                    <a:p>
                      <a:r>
                        <a:rPr sz="1400" b="1" i="0">
                          <a:solidFill>
                            <a:srgbClr val="FFFFFF"/>
                          </a:solidFill>
                          <a:latin typeface="Calibri"/>
                        </a:rPr>
                        <a:t>Tag</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Found</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Recall</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json</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39 of 44</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89%</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git</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148 of 170</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87%</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eclipse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54 of 65</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83%</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django</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55 of 69</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80%</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svn</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39 of 49</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80%</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sqlite</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23 of 29</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79%</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ruby-on-rails</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77 of 99</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78%</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vim</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45 of 59</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76%</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bl>
          </a:graphicData>
        </a:graphic>
      </p:graphicFrame>
      <p:sp>
        <p:nvSpPr>
          <p:cNvPr id="8" name="TextBox 7"/>
          <p:cNvSpPr txBox="1"/>
          <p:nvPr/>
        </p:nvSpPr>
        <p:spPr>
          <a:xfrm>
            <a:off x="6400800" y="1325880"/>
            <a:ext cx="5257800" cy="365760"/>
          </a:xfrm>
          <a:prstGeom prst="rect">
            <a:avLst/>
          </a:prstGeom>
          <a:noFill/>
        </p:spPr>
        <p:txBody>
          <a:bodyPr wrap="square" lIns="18288" rIns="18288" tIns="18288" bIns="18288" anchor="t">
            <a:spAutoFit/>
          </a:bodyPr>
          <a:lstStyle/>
          <a:p>
            <a:pPr algn="l">
              <a:lnSpc>
                <a:spcPct val="110000"/>
              </a:lnSpc>
              <a:spcAft>
                <a:spcPts val="0"/>
              </a:spcAft>
            </a:pPr>
            <a:r>
              <a:rPr sz="1600" b="1" i="0">
                <a:solidFill>
                  <a:srgbClr val="1F3864"/>
                </a:solidFill>
                <a:latin typeface="Calibri"/>
              </a:rPr>
              <a:t>The eight most common tags</a:t>
            </a:r>
          </a:p>
        </p:txBody>
      </p:sp>
      <p:graphicFrame>
        <p:nvGraphicFramePr>
          <p:cNvPr id="9" name="Table 8"/>
          <p:cNvGraphicFramePr>
            <a:graphicFrameLocks noGrp="1"/>
          </p:cNvGraphicFramePr>
          <p:nvPr/>
        </p:nvGraphicFramePr>
        <p:xfrm>
          <a:off x="6400800" y="1737360"/>
          <a:ext cx="5257800" cy="3209544"/>
        </p:xfrm>
        <a:graphic>
          <a:graphicData uri="http://schemas.openxmlformats.org/drawingml/2006/table">
            <a:tbl>
              <a:tblPr firstRow="1" bandRow="0">
                <a:tableStyleId>{5940675A-B579-460E-94D1-54222C63F5DA}</a:tableStyleId>
              </a:tblPr>
              <a:tblGrid>
                <a:gridCol w="2331720"/>
                <a:gridCol w="1737360"/>
                <a:gridCol w="1188720"/>
              </a:tblGrid>
              <a:tr h="356616">
                <a:tc>
                  <a:txBody>
                    <a:bodyPr wrap="square"/>
                    <a:lstStyle/>
                    <a:p>
                      <a:r>
                        <a:rPr sz="1400" b="1" i="0">
                          <a:solidFill>
                            <a:srgbClr val="FFFFFF"/>
                          </a:solidFill>
                          <a:latin typeface="Calibri"/>
                        </a:rPr>
                        <a:t>Tag</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Found</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Recall</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c#</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183 of 597</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31%</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java</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342 of 595</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57%</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javascript</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258 of 466</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55%</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python</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309 of 450</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69%</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.net</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77 of 302</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25%</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c++</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66 of 282</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23%</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jquery</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151 of 218</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69%</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56616">
                <a:tc>
                  <a:txBody>
                    <a:bodyPr wrap="square"/>
                    <a:lstStyle/>
                    <a:p>
                      <a:r>
                        <a:rPr sz="1400" b="0" i="0">
                          <a:solidFill>
                            <a:srgbClr val="222222"/>
                          </a:solidFill>
                          <a:latin typeface="Calibri"/>
                        </a:rPr>
                        <a:t>php</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148 of 236</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63%</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bl>
          </a:graphicData>
        </a:graphic>
      </p:graphicFrame>
      <p:sp>
        <p:nvSpPr>
          <p:cNvPr id="10" name="TextBox 9"/>
          <p:cNvSpPr txBox="1"/>
          <p:nvPr/>
        </p:nvSpPr>
        <p:spPr>
          <a:xfrm>
            <a:off x="548640" y="5120640"/>
            <a:ext cx="11064240" cy="1097280"/>
          </a:xfrm>
          <a:prstGeom prst="rect">
            <a:avLst/>
          </a:prstGeom>
          <a:noFill/>
        </p:spPr>
        <p:txBody>
          <a:bodyPr wrap="square" lIns="18288" rIns="18288" tIns="18288" bIns="18288" anchor="t">
            <a:spAutoFit/>
          </a:bodyPr>
          <a:lstStyle/>
          <a:p>
            <a:pPr algn="l">
              <a:lnSpc>
                <a:spcPct val="110000"/>
              </a:lnSpc>
              <a:spcAft>
                <a:spcPts val="0"/>
              </a:spcAft>
            </a:pPr>
            <a:r>
              <a:rPr sz="1700" b="0" i="0">
                <a:solidFill>
                  <a:srgbClr val="222222"/>
                </a:solidFill>
                <a:latin typeface="Calibri"/>
              </a:rPr>
              <a:t>The best tags are names of specific tools, which often appear in titles. Most of the 11 tags that were never predicted correctly are broad topics, such as oop, class, file, math and coding-style.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What the model learned</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1115568"/>
            <a:ext cx="11064240" cy="411480"/>
          </a:xfrm>
          <a:prstGeom prst="rect">
            <a:avLst/>
          </a:prstGeom>
          <a:noFill/>
        </p:spPr>
        <p:txBody>
          <a:bodyPr wrap="square" lIns="18288" rIns="18288" tIns="18288" bIns="18288" anchor="t">
            <a:spAutoFit/>
          </a:bodyPr>
          <a:lstStyle/>
          <a:p>
            <a:pPr algn="l">
              <a:lnSpc>
                <a:spcPct val="110000"/>
              </a:lnSpc>
              <a:spcAft>
                <a:spcPts val="0"/>
              </a:spcAft>
            </a:pPr>
            <a:r>
              <a:rPr sz="1600" b="0" i="0">
                <a:solidFill>
                  <a:srgbClr val="5F636B"/>
                </a:solidFill>
                <a:latin typeface="Calibri"/>
              </a:rPr>
              <a:t>The eight title words with the most weight for each tag in the final model, strongest first</a:t>
            </a:r>
          </a:p>
        </p:txBody>
      </p:sp>
      <p:sp>
        <p:nvSpPr>
          <p:cNvPr id="5" name="TextBox 4"/>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Predicting Stack Overflow tags from titles  |  Metis, February 2021</a:t>
            </a:r>
          </a:p>
        </p:txBody>
      </p:sp>
      <p:sp>
        <p:nvSpPr>
          <p:cNvPr id="6" name="TextBox 5"/>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8</a:t>
            </a:r>
          </a:p>
        </p:txBody>
      </p:sp>
      <p:graphicFrame>
        <p:nvGraphicFramePr>
          <p:cNvPr id="7" name="Table 6"/>
          <p:cNvGraphicFramePr>
            <a:graphicFrameLocks noGrp="1"/>
          </p:cNvGraphicFramePr>
          <p:nvPr/>
        </p:nvGraphicFramePr>
        <p:xfrm>
          <a:off x="548640" y="1645920"/>
          <a:ext cx="11064240" cy="3538728"/>
        </p:xfrm>
        <a:graphic>
          <a:graphicData uri="http://schemas.openxmlformats.org/drawingml/2006/table">
            <a:tbl>
              <a:tblPr firstRow="1" bandRow="0">
                <a:tableStyleId>{5940675A-B579-460E-94D1-54222C63F5DA}</a:tableStyleId>
              </a:tblPr>
              <a:tblGrid>
                <a:gridCol w="1600200"/>
                <a:gridCol w="9464040"/>
              </a:tblGrid>
              <a:tr h="393192">
                <a:tc>
                  <a:txBody>
                    <a:bodyPr wrap="square"/>
                    <a:lstStyle/>
                    <a:p>
                      <a:r>
                        <a:rPr sz="1500" b="1" i="0">
                          <a:solidFill>
                            <a:srgbClr val="FFFFFF"/>
                          </a:solidFill>
                          <a:latin typeface="Calibri"/>
                        </a:rPr>
                        <a:t>Tag</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500" b="1" i="0">
                          <a:solidFill>
                            <a:srgbClr val="FFFFFF"/>
                          </a:solidFill>
                          <a:latin typeface="Calibri"/>
                        </a:rPr>
                        <a:t>Words</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500" b="1" i="0">
                          <a:solidFill>
                            <a:srgbClr val="222222"/>
                          </a:solidFill>
                          <a:latin typeface="Calibri"/>
                        </a:rPr>
                        <a:t>git</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500" b="0" i="0">
                          <a:solidFill>
                            <a:srgbClr val="222222"/>
                          </a:solidFill>
                          <a:latin typeface="Calibri"/>
                        </a:rPr>
                        <a:t>git, github, commit, branch, repo, repository, remote, master</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500" b="1" i="0">
                          <a:solidFill>
                            <a:srgbClr val="222222"/>
                          </a:solidFill>
                          <a:latin typeface="Calibri"/>
                        </a:rPr>
                        <a:t>android</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500" b="0" i="0">
                          <a:solidFill>
                            <a:srgbClr val="222222"/>
                          </a:solidFill>
                          <a:latin typeface="Calibri"/>
                        </a:rPr>
                        <a:t>android, activity, webview, edittext, textview, intent, listview, emulator</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500" b="1" i="0">
                          <a:solidFill>
                            <a:srgbClr val="222222"/>
                          </a:solidFill>
                          <a:latin typeface="Calibri"/>
                        </a:rPr>
                        <a:t>python</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500" b="0" i="0">
                          <a:solidFill>
                            <a:srgbClr val="222222"/>
                          </a:solidFill>
                          <a:latin typeface="Calibri"/>
                        </a:rPr>
                        <a:t>python, matplotlib, numpy, dict, django, module, none, modules</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500" b="1" i="0">
                          <a:solidFill>
                            <a:srgbClr val="222222"/>
                          </a:solidFill>
                          <a:latin typeface="Calibri"/>
                        </a:rPr>
                        <a:t>java</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500" b="0" i="0">
                          <a:solidFill>
                            <a:srgbClr val="222222"/>
                          </a:solidFill>
                          <a:latin typeface="Calibri"/>
                        </a:rPr>
                        <a:t>java, jpa, spring, junit, jvm, hibernate, servlet, arraylist</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500" b="1" i="0">
                          <a:solidFill>
                            <a:srgbClr val="222222"/>
                          </a:solidFill>
                          <a:latin typeface="Calibri"/>
                        </a:rPr>
                        <a:t>css</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500" b="0" i="0">
                          <a:solidFill>
                            <a:srgbClr val="222222"/>
                          </a:solidFill>
                          <a:latin typeface="Calibri"/>
                        </a:rPr>
                        <a:t>css, border, divs, div, font, span, align, overflow</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500" b="1" i="0">
                          <a:solidFill>
                            <a:srgbClr val="222222"/>
                          </a:solidFill>
                          <a:latin typeface="Calibri"/>
                        </a:rPr>
                        <a:t>sql</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500" b="0" i="0">
                          <a:solidFill>
                            <a:srgbClr val="222222"/>
                          </a:solidFill>
                          <a:latin typeface="Calibri"/>
                        </a:rPr>
                        <a:t>sql, procedure, oracle, inner, query, t-sql, on, by</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500" b="1" i="0">
                          <a:solidFill>
                            <a:srgbClr val="222222"/>
                          </a:solidFill>
                          <a:latin typeface="Calibri"/>
                        </a:rPr>
                        <a:t>iphone</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500" b="0" i="0">
                          <a:solidFill>
                            <a:srgbClr val="222222"/>
                          </a:solidFill>
                          <a:latin typeface="Calibri"/>
                        </a:rPr>
                        <a:t>iphone, uiscrollview, uitableview, uiview, uibutton, uiimage, uilabel, ios</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93192">
                <a:tc>
                  <a:txBody>
                    <a:bodyPr wrap="square"/>
                    <a:lstStyle/>
                    <a:p>
                      <a:r>
                        <a:rPr sz="1500" b="1" i="0">
                          <a:solidFill>
                            <a:srgbClr val="222222"/>
                          </a:solidFill>
                          <a:latin typeface="Calibri"/>
                        </a:rPr>
                        <a:t>c++</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r>
                        <a:rPr sz="1500" b="0" i="0">
                          <a:solidFill>
                            <a:srgbClr val="222222"/>
                          </a:solidFill>
                          <a:latin typeface="Calibri"/>
                        </a:rPr>
                        <a:t>std, cc, boost, c++, stl, virtual, qt, template</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bl>
          </a:graphicData>
        </a:graphic>
      </p:graphicFrame>
      <p:sp>
        <p:nvSpPr>
          <p:cNvPr id="8" name="TextBox 7"/>
          <p:cNvSpPr txBox="1"/>
          <p:nvPr/>
        </p:nvSpPr>
        <p:spPr>
          <a:xfrm>
            <a:off x="548640" y="5349240"/>
            <a:ext cx="11064240" cy="822960"/>
          </a:xfrm>
          <a:prstGeom prst="rect">
            <a:avLst/>
          </a:prstGeom>
          <a:noFill/>
        </p:spPr>
        <p:txBody>
          <a:bodyPr wrap="square" lIns="18288" rIns="18288" tIns="18288" bIns="18288" anchor="t">
            <a:spAutoFit/>
          </a:bodyPr>
          <a:lstStyle/>
          <a:p>
            <a:pPr algn="l">
              <a:lnSpc>
                <a:spcPct val="110000"/>
              </a:lnSpc>
              <a:spcAft>
                <a:spcPts val="0"/>
              </a:spcAft>
            </a:pPr>
            <a:r>
              <a:rPr sz="1700" b="0" i="0">
                <a:solidFill>
                  <a:srgbClr val="222222"/>
                </a:solidFill>
                <a:latin typeface="Calibri"/>
              </a:rPr>
              <a:t>For most tags the strongest word is the tag’s own name. The exception here is c++, where it is “std”; the next slide shows why.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What the cleanup did to C# and C++</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Predicting Stack Overflow tags from titles  |  Metis, February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9</a:t>
            </a:r>
          </a:p>
        </p:txBody>
      </p:sp>
      <p:sp>
        <p:nvSpPr>
          <p:cNvPr id="6" name="TextBox 5"/>
          <p:cNvSpPr txBox="1"/>
          <p:nvPr/>
        </p:nvSpPr>
        <p:spPr>
          <a:xfrm>
            <a:off x="548640" y="1463040"/>
            <a:ext cx="6309360" cy="4572000"/>
          </a:xfrm>
          <a:prstGeom prst="rect">
            <a:avLst/>
          </a:prstGeom>
          <a:noFill/>
        </p:spPr>
        <p:txBody>
          <a:bodyPr wrap="square" lIns="18288" rIns="18288" tIns="18288" bIns="18288" anchor="t">
            <a:spAutoFit/>
          </a:bodyPr>
          <a:lstStyle/>
          <a:p>
            <a:pPr algn="l">
              <a:lnSpc>
                <a:spcPct val="110000"/>
              </a:lnSpc>
              <a:spcAft>
                <a:spcPts val="1400"/>
              </a:spcAft>
            </a:pPr>
            <a:r>
              <a:rPr sz="1700" b="0" i="0">
                <a:solidFill>
                  <a:srgbClr val="222222"/>
                </a:solidFill>
                <a:latin typeface="Calibri"/>
              </a:rPr>
              <a:t>The punctuation cleanup kept a tag name only when it matched exactly, in lower case. When a title said “C#” or “C++”, the symbols were stripped and only “C” was left.</a:t>
            </a:r>
          </a:p>
          <a:p>
            <a:pPr algn="l">
              <a:lnSpc>
                <a:spcPct val="110000"/>
              </a:lnSpc>
              <a:spcAft>
                <a:spcPts val="1400"/>
              </a:spcAft>
            </a:pPr>
            <a:r>
              <a:rPr sz="1700" b="0" i="0">
                <a:solidFill>
                  <a:srgbClr val="222222"/>
                </a:solidFill>
                <a:latin typeface="Calibri"/>
              </a:rPr>
              <a:t>The TF-IDF step ignored one-letter words, so the “C” was dropped too, and for those titles the model never saw the language name. The same cleanup turned “C/C++” into “cc”, the strongest word for the c tag.</a:t>
            </a:r>
          </a:p>
          <a:p>
            <a:pPr algn="l">
              <a:lnSpc>
                <a:spcPct val="110000"/>
              </a:lnSpc>
              <a:spcAft>
                <a:spcPts val="1400"/>
              </a:spcAft>
            </a:pPr>
            <a:r>
              <a:rPr sz="1700" b="0" i="0">
                <a:solidFill>
                  <a:srgbClr val="222222"/>
                </a:solidFill>
                <a:latin typeface="Calibri"/>
              </a:rPr>
              <a:t>This is probably part of why these three tags scored so low.</a:t>
            </a:r>
          </a:p>
          <a:p>
            <a:pPr algn="l">
              <a:lnSpc>
                <a:spcPct val="110000"/>
              </a:lnSpc>
              <a:spcAft>
                <a:spcPts val="0"/>
              </a:spcAft>
            </a:pPr>
            <a:r>
              <a:rPr sz="1700" b="0" i="0">
                <a:solidFill>
                  <a:srgbClr val="222222"/>
                </a:solidFill>
                <a:latin typeface="Calibri"/>
              </a:rPr>
              <a:t>The fix is to match tag names in any case before removing punctuation, and to let TF-IDF keep one-letter words such as “c”.</a:t>
            </a:r>
          </a:p>
        </p:txBody>
      </p:sp>
      <p:sp>
        <p:nvSpPr>
          <p:cNvPr id="7" name="Rectangle 6"/>
          <p:cNvSpPr/>
          <p:nvPr/>
        </p:nvSpPr>
        <p:spPr>
          <a:xfrm>
            <a:off x="7269480" y="1463040"/>
            <a:ext cx="4389120" cy="2057400"/>
          </a:xfrm>
          <a:prstGeom prst="rect">
            <a:avLst/>
          </a:prstGeom>
          <a:solidFill>
            <a:srgbClr val="F1F4F9"/>
          </a:solidFill>
          <a:ln>
            <a:noFill/>
          </a:ln>
        </p:spPr>
        <p:txBody>
          <a:bodyPr rtlCol="0" anchor="ctr"/>
          <a:lstStyle/>
          <a:p/>
        </p:txBody>
      </p:sp>
      <p:sp>
        <p:nvSpPr>
          <p:cNvPr id="8" name="TextBox 7"/>
          <p:cNvSpPr txBox="1"/>
          <p:nvPr/>
        </p:nvSpPr>
        <p:spPr>
          <a:xfrm>
            <a:off x="7498079" y="1600200"/>
            <a:ext cx="3977639" cy="2103120"/>
          </a:xfrm>
          <a:prstGeom prst="rect">
            <a:avLst/>
          </a:prstGeom>
          <a:noFill/>
        </p:spPr>
        <p:txBody>
          <a:bodyPr wrap="square" lIns="18288" rIns="18288" tIns="18288" bIns="18288" anchor="t">
            <a:spAutoFit/>
          </a:bodyPr>
          <a:lstStyle/>
          <a:p>
            <a:pPr algn="l">
              <a:lnSpc>
                <a:spcPct val="110000"/>
              </a:lnSpc>
              <a:spcAft>
                <a:spcPts val="200"/>
              </a:spcAft>
            </a:pPr>
            <a:r>
              <a:rPr sz="1300" b="0" i="0">
                <a:solidFill>
                  <a:srgbClr val="5F636B"/>
                </a:solidFill>
                <a:latin typeface="Calibri"/>
              </a:rPr>
              <a:t>Title in the data</a:t>
            </a:r>
          </a:p>
          <a:p>
            <a:pPr algn="l">
              <a:lnSpc>
                <a:spcPct val="110000"/>
              </a:lnSpc>
              <a:spcAft>
                <a:spcPts val="1400"/>
              </a:spcAft>
            </a:pPr>
            <a:r>
              <a:rPr sz="1700" b="1" i="0">
                <a:solidFill>
                  <a:srgbClr val="222222"/>
                </a:solidFill>
                <a:latin typeface="Calibri"/>
              </a:rPr>
              <a:t>How do I calculate someone’s age in C#?</a:t>
            </a:r>
          </a:p>
          <a:p>
            <a:pPr algn="l">
              <a:lnSpc>
                <a:spcPct val="110000"/>
              </a:lnSpc>
              <a:spcAft>
                <a:spcPts val="200"/>
              </a:spcAft>
            </a:pPr>
            <a:r>
              <a:rPr sz="1300" b="0" i="0">
                <a:solidFill>
                  <a:srgbClr val="5F636B"/>
                </a:solidFill>
                <a:latin typeface="Calibri"/>
              </a:rPr>
              <a:t>After cleanup (notebook output)</a:t>
            </a:r>
          </a:p>
          <a:p>
            <a:pPr algn="l">
              <a:lnSpc>
                <a:spcPct val="110000"/>
              </a:lnSpc>
              <a:spcAft>
                <a:spcPts val="0"/>
              </a:spcAft>
            </a:pPr>
            <a:r>
              <a:rPr sz="1700" b="1" i="0">
                <a:solidFill>
                  <a:srgbClr val="222222"/>
                </a:solidFill>
                <a:latin typeface="Calibri"/>
              </a:rPr>
              <a:t>How do I calculate someone s age in C</a:t>
            </a:r>
          </a:p>
        </p:txBody>
      </p:sp>
      <p:graphicFrame>
        <p:nvGraphicFramePr>
          <p:cNvPr id="9" name="Table 8"/>
          <p:cNvGraphicFramePr>
            <a:graphicFrameLocks noGrp="1"/>
          </p:cNvGraphicFramePr>
          <p:nvPr/>
        </p:nvGraphicFramePr>
        <p:xfrm>
          <a:off x="7269480" y="3794760"/>
          <a:ext cx="4389120" cy="1463040"/>
        </p:xfrm>
        <a:graphic>
          <a:graphicData uri="http://schemas.openxmlformats.org/drawingml/2006/table">
            <a:tbl>
              <a:tblPr firstRow="1" bandRow="0">
                <a:tableStyleId>{5940675A-B579-460E-94D1-54222C63F5DA}</a:tableStyleId>
              </a:tblPr>
              <a:tblGrid>
                <a:gridCol w="1371600"/>
                <a:gridCol w="1737360"/>
                <a:gridCol w="1280160"/>
              </a:tblGrid>
              <a:tr h="365760">
                <a:tc>
                  <a:txBody>
                    <a:bodyPr wrap="square"/>
                    <a:lstStyle/>
                    <a:p>
                      <a:r>
                        <a:rPr sz="1400" b="1" i="0">
                          <a:solidFill>
                            <a:srgbClr val="FFFFFF"/>
                          </a:solidFill>
                          <a:latin typeface="Calibri"/>
                        </a:rPr>
                        <a:t>Tag</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Test questions</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1" i="0">
                          <a:solidFill>
                            <a:srgbClr val="FFFFFF"/>
                          </a:solidFill>
                          <a:latin typeface="Calibri"/>
                        </a:rPr>
                        <a:t>Recall</a:t>
                      </a:r>
                    </a:p>
                  </a:txBody>
                  <a:tcPr marL="82296" marR="82296" marT="27432" marB="27432" anchor="ctr">
                    <a:solidFill>
                      <a:srgbClr val="1F3864"/>
                    </a:solidFill>
                    <a:lnL w="6350">
                      <a:solidFill>
                        <a:srgbClr val="D5DBE5"/>
                      </a:solidFill>
                    </a:lnL>
                    <a:lnR w="6350">
                      <a:solidFill>
                        <a:srgbClr val="D5DBE5"/>
                      </a:solidFill>
                    </a:lnR>
                    <a:lnT w="6350">
                      <a:solidFill>
                        <a:srgbClr val="D5DBE5"/>
                      </a:solidFill>
                    </a:lnT>
                    <a:lnB w="6350">
                      <a:solidFill>
                        <a:srgbClr val="D5DBE5"/>
                      </a:solidFill>
                    </a:lnB>
                  </a:tcPr>
                </a:tc>
              </a:tr>
              <a:tr h="365760">
                <a:tc>
                  <a:txBody>
                    <a:bodyPr wrap="square"/>
                    <a:lstStyle/>
                    <a:p>
                      <a:r>
                        <a:rPr sz="1400" b="0" i="0">
                          <a:solidFill>
                            <a:srgbClr val="222222"/>
                          </a:solidFill>
                          <a:latin typeface="Calibri"/>
                        </a:rPr>
                        <a:t>c#</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597</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31%</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r h="365760">
                <a:tc>
                  <a:txBody>
                    <a:bodyPr wrap="square"/>
                    <a:lstStyle/>
                    <a:p>
                      <a:r>
                        <a:rPr sz="1400" b="0" i="0">
                          <a:solidFill>
                            <a:srgbClr val="222222"/>
                          </a:solidFill>
                          <a:latin typeface="Calibri"/>
                        </a:rPr>
                        <a:t>c++</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282</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23%</a:t>
                      </a:r>
                    </a:p>
                  </a:txBody>
                  <a:tcPr marL="82296" marR="82296" marT="27432" marB="27432" anchor="ctr">
                    <a:solidFill>
                      <a:srgbClr val="F1F4F9"/>
                    </a:solidFill>
                    <a:lnL w="6350">
                      <a:solidFill>
                        <a:srgbClr val="D5DBE5"/>
                      </a:solidFill>
                    </a:lnL>
                    <a:lnR w="6350">
                      <a:solidFill>
                        <a:srgbClr val="D5DBE5"/>
                      </a:solidFill>
                    </a:lnR>
                    <a:lnT w="6350">
                      <a:solidFill>
                        <a:srgbClr val="D5DBE5"/>
                      </a:solidFill>
                    </a:lnT>
                    <a:lnB w="6350">
                      <a:solidFill>
                        <a:srgbClr val="D5DBE5"/>
                      </a:solidFill>
                    </a:lnB>
                  </a:tcPr>
                </a:tc>
              </a:tr>
              <a:tr h="365760">
                <a:tc>
                  <a:txBody>
                    <a:bodyPr wrap="square"/>
                    <a:lstStyle/>
                    <a:p>
                      <a:r>
                        <a:rPr sz="1400" b="0" i="0">
                          <a:solidFill>
                            <a:srgbClr val="222222"/>
                          </a:solidFill>
                          <a:latin typeface="Calibri"/>
                        </a:rPr>
                        <a:t>c</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151</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c>
                  <a:txBody>
                    <a:bodyPr wrap="square"/>
                    <a:lstStyle/>
                    <a:p>
                      <a:pPr algn="r"/>
                      <a:r>
                        <a:rPr sz="1400" b="0" i="0">
                          <a:solidFill>
                            <a:srgbClr val="222222"/>
                          </a:solidFill>
                          <a:latin typeface="Calibri"/>
                        </a:rPr>
                        <a:t>10%</a:t>
                      </a:r>
                    </a:p>
                  </a:txBody>
                  <a:tcPr marL="82296" marR="82296" marT="27432" marB="27432" anchor="ctr">
                    <a:solidFill>
                      <a:srgbClr val="FFFFFF"/>
                    </a:solidFill>
                    <a:lnL w="6350">
                      <a:solidFill>
                        <a:srgbClr val="D5DBE5"/>
                      </a:solidFill>
                    </a:lnL>
                    <a:lnR w="6350">
                      <a:solidFill>
                        <a:srgbClr val="D5DBE5"/>
                      </a:solidFill>
                    </a:lnR>
                    <a:lnT w="6350">
                      <a:solidFill>
                        <a:srgbClr val="D5DBE5"/>
                      </a:solidFill>
                    </a:lnT>
                    <a:lnB w="6350">
                      <a:solidFill>
                        <a:srgbClr val="D5DBE5"/>
                      </a:solidFill>
                    </a:lnB>
                  </a:tcPr>
                </a:tc>
              </a:tr>
            </a:tbl>
          </a:graphicData>
        </a:graphic>
      </p:graphicFrame>
      <p:sp>
        <p:nvSpPr>
          <p:cNvPr id="10" name="TextBox 9"/>
          <p:cNvSpPr txBox="1"/>
          <p:nvPr/>
        </p:nvSpPr>
        <p:spPr>
          <a:xfrm>
            <a:off x="548640" y="5852160"/>
            <a:ext cx="11064240" cy="365760"/>
          </a:xfrm>
          <a:prstGeom prst="rect">
            <a:avLst/>
          </a:prstGeom>
          <a:noFill/>
        </p:spPr>
        <p:txBody>
          <a:bodyPr wrap="square" lIns="18288" rIns="18288" tIns="18288" bIns="18288" anchor="t">
            <a:spAutoFit/>
          </a:bodyPr>
          <a:lstStyle/>
          <a:p>
            <a:pPr algn="l">
              <a:lnSpc>
                <a:spcPct val="110000"/>
              </a:lnSpc>
              <a:spcAft>
                <a:spcPts val="0"/>
              </a:spcAft>
            </a:pPr>
            <a:r>
              <a:rPr sz="1200" b="0" i="0">
                <a:solidFill>
                  <a:srgbClr val="5F636B"/>
                </a:solidFill>
                <a:latin typeface="Calibri"/>
              </a:rPr>
              <a:t>Found in 2026 while reviewing the 2021 code.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64240" cy="640080"/>
          </a:xfrm>
          <a:prstGeom prst="rect">
            <a:avLst/>
          </a:prstGeom>
          <a:noFill/>
        </p:spPr>
        <p:txBody>
          <a:bodyPr wrap="square" lIns="18288" rIns="18288" tIns="18288" bIns="18288" anchor="t">
            <a:spAutoFit/>
          </a:bodyPr>
          <a:lstStyle/>
          <a:p>
            <a:pPr algn="l">
              <a:lnSpc>
                <a:spcPct val="110000"/>
              </a:lnSpc>
              <a:spcAft>
                <a:spcPts val="0"/>
              </a:spcAft>
            </a:pPr>
            <a:r>
              <a:rPr sz="3000" b="1" i="0">
                <a:solidFill>
                  <a:srgbClr val="1F3864"/>
                </a:solidFill>
                <a:latin typeface="Calibri"/>
              </a:rPr>
              <a:t>Limitations and what I would change</a:t>
            </a:r>
          </a:p>
        </p:txBody>
      </p:sp>
      <p:sp>
        <p:nvSpPr>
          <p:cNvPr id="3" name="Rectangle 2"/>
          <p:cNvSpPr/>
          <p:nvPr/>
        </p:nvSpPr>
        <p:spPr>
          <a:xfrm>
            <a:off x="548640" y="987552"/>
            <a:ext cx="822960" cy="45720"/>
          </a:xfrm>
          <a:prstGeom prst="rect">
            <a:avLst/>
          </a:prstGeom>
          <a:solidFill>
            <a:srgbClr val="BF9000"/>
          </a:solidFill>
          <a:ln>
            <a:noFill/>
          </a:ln>
        </p:spPr>
        <p:txBody>
          <a:bodyPr rtlCol="0" anchor="ctr"/>
          <a:lstStyle/>
          <a:p/>
        </p:txBody>
      </p:sp>
      <p:sp>
        <p:nvSpPr>
          <p:cNvPr id="4" name="TextBox 3"/>
          <p:cNvSpPr txBox="1"/>
          <p:nvPr/>
        </p:nvSpPr>
        <p:spPr>
          <a:xfrm>
            <a:off x="548640" y="6419088"/>
            <a:ext cx="9144000" cy="274320"/>
          </a:xfrm>
          <a:prstGeom prst="rect">
            <a:avLst/>
          </a:prstGeom>
          <a:noFill/>
        </p:spPr>
        <p:txBody>
          <a:bodyPr wrap="square" lIns="18288" rIns="18288" tIns="18288" bIns="18288" anchor="t">
            <a:spAutoFit/>
          </a:bodyPr>
          <a:lstStyle/>
          <a:p>
            <a:pPr algn="l">
              <a:lnSpc>
                <a:spcPct val="110000"/>
              </a:lnSpc>
              <a:spcAft>
                <a:spcPts val="0"/>
              </a:spcAft>
            </a:pPr>
            <a:r>
              <a:rPr sz="1000" b="0" i="0">
                <a:solidFill>
                  <a:srgbClr val="5F636B"/>
                </a:solidFill>
                <a:latin typeface="Calibri"/>
              </a:rPr>
              <a:t>Garreth Cline  |  Predicting Stack Overflow tags from titles  |  Metis, February 2021</a:t>
            </a:r>
          </a:p>
        </p:txBody>
      </p:sp>
      <p:sp>
        <p:nvSpPr>
          <p:cNvPr id="5" name="TextBox 4"/>
          <p:cNvSpPr txBox="1"/>
          <p:nvPr/>
        </p:nvSpPr>
        <p:spPr>
          <a:xfrm>
            <a:off x="10698480" y="6419088"/>
            <a:ext cx="914400" cy="274320"/>
          </a:xfrm>
          <a:prstGeom prst="rect">
            <a:avLst/>
          </a:prstGeom>
          <a:noFill/>
        </p:spPr>
        <p:txBody>
          <a:bodyPr wrap="square" lIns="18288" rIns="18288" tIns="18288" bIns="18288" anchor="t">
            <a:spAutoFit/>
          </a:bodyPr>
          <a:lstStyle/>
          <a:p>
            <a:pPr algn="r">
              <a:lnSpc>
                <a:spcPct val="110000"/>
              </a:lnSpc>
              <a:spcAft>
                <a:spcPts val="0"/>
              </a:spcAft>
            </a:pPr>
            <a:r>
              <a:rPr sz="1000" b="0" i="0">
                <a:solidFill>
                  <a:srgbClr val="5F636B"/>
                </a:solidFill>
                <a:latin typeface="Calibri"/>
              </a:rPr>
              <a:t>10</a:t>
            </a:r>
          </a:p>
        </p:txBody>
      </p:sp>
      <p:sp>
        <p:nvSpPr>
          <p:cNvPr id="6" name="TextBox 5"/>
          <p:cNvSpPr txBox="1"/>
          <p:nvPr/>
        </p:nvSpPr>
        <p:spPr>
          <a:xfrm>
            <a:off x="548640" y="1463040"/>
            <a:ext cx="11064240" cy="4754880"/>
          </a:xfrm>
          <a:prstGeom prst="rect">
            <a:avLst/>
          </a:prstGeom>
          <a:noFill/>
        </p:spPr>
        <p:txBody>
          <a:bodyPr wrap="square" lIns="18288" rIns="18288" tIns="18288" bIns="18288">
            <a:spAutoFit/>
          </a:bodyPr>
          <a:lstStyle/>
          <a:p>
            <a:pPr marL="256032" indent="-256032">
              <a:lnSpc>
                <a:spcPct val="108000"/>
              </a:lnSpc>
              <a:spcAft>
                <a:spcPts val="1400"/>
              </a:spcAft>
              <a:buChar char="•"/>
            </a:pPr>
            <a:r>
              <a:rPr sz="1900" b="0" i="0">
                <a:solidFill>
                  <a:srgbClr val="222222"/>
                </a:solidFill>
                <a:latin typeface="Calibri"/>
              </a:rPr>
              <a:t>Add the question body, since titles often don’t name the tool. I left it out in 2021 because it needed much more memory and I wanted more rows.</a:t>
            </a:r>
          </a:p>
          <a:p>
            <a:pPr marL="256032" indent="-256032">
              <a:lnSpc>
                <a:spcPct val="108000"/>
              </a:lnSpc>
              <a:spcAft>
                <a:spcPts val="1400"/>
              </a:spcAft>
              <a:buChar char="•"/>
            </a:pPr>
            <a:r>
              <a:rPr sz="1900" b="0" i="0">
                <a:solidFill>
                  <a:srgbClr val="222222"/>
                </a:solidFill>
                <a:latin typeface="Calibri"/>
              </a:rPr>
              <a:t>Fix the cleanup so C# and C++ survive in any case and “c” isn’t dropped, and make the common-word filter ignore case (capitalized words like “How” got through).</a:t>
            </a:r>
          </a:p>
          <a:p>
            <a:pPr marL="256032" indent="-256032">
              <a:lnSpc>
                <a:spcPct val="108000"/>
              </a:lnSpc>
              <a:spcAft>
                <a:spcPts val="1400"/>
              </a:spcAft>
              <a:buChar char="•"/>
            </a:pPr>
            <a:r>
              <a:rPr sz="1900" b="0" i="0">
                <a:solidFill>
                  <a:srgbClr val="222222"/>
                </a:solidFill>
                <a:latin typeface="Calibri"/>
              </a:rPr>
              <a:t>Tune a separate cutoff for each tag, trading some precision (85.5%) for more recall (46.0%).</a:t>
            </a:r>
          </a:p>
          <a:p>
            <a:pPr marL="256032" indent="-256032">
              <a:lnSpc>
                <a:spcPct val="108000"/>
              </a:lnSpc>
              <a:spcAft>
                <a:spcPts val="1400"/>
              </a:spcAft>
              <a:buChar char="•"/>
            </a:pPr>
            <a:r>
              <a:rPr sz="1900" b="0" i="0">
                <a:solidFill>
                  <a:srgbClr val="222222"/>
                </a:solidFill>
                <a:latin typeface="Calibri"/>
              </a:rPr>
              <a:t>The data ends in 2010 and covers only popular questions (score above 50, over 10,000 views), so results may differ on typical questions.</a:t>
            </a:r>
          </a:p>
          <a:p>
            <a:pPr marL="256032" indent="-256032">
              <a:lnSpc>
                <a:spcPct val="108000"/>
              </a:lnSpc>
              <a:spcAft>
                <a:spcPts val="1400"/>
              </a:spcAft>
              <a:buChar char="•"/>
            </a:pPr>
            <a:r>
              <a:rPr sz="1900" b="0" i="0">
                <a:solidFill>
                  <a:srgbClr val="222222"/>
                </a:solidFill>
                <a:latin typeface="Calibri"/>
              </a:rPr>
              <a:t>Only the 100 most common tags were modeled; the other 6,784 were left 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