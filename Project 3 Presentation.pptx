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5.xml" ContentType="application/vnd.openxmlformats-officedocument.drawingml.chart+xml"/>
  <Override PartName="/ppt/charts/chart6.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7.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c05733db-4c10-fd71-50a3-5cb6f4a2d1b4}">
          <p14:sldIdLst>
            <p14:sldId id="256"/>
            <p14:sldId id="257"/>
          </p14:sldIdLst>
        </p14:section>
        <p14:section name="Data" id="{6b797207-517d-49f6-1487-6ea770a63bbb}">
          <p14:sldIdLst>
            <p14:sldId id="258"/>
            <p14:sldId id="259"/>
            <p14:sldId id="260"/>
          </p14:sldIdLst>
        </p14:section>
        <p14:section name="Method" id="{6771bbeb-6c4d-0708-7255-e223bde6a87f}">
          <p14:sldIdLst>
            <p14:sldId id="261"/>
            <p14:sldId id="262"/>
          </p14:sldIdLst>
        </p14:section>
        <p14:section name="Results" id="{ff505cab-a91b-491e-ab0c-335db3f85f54}">
          <p14:sldIdLst>
            <p14:sldId id="263"/>
            <p14:sldId id="264"/>
            <p14:sldId id="265"/>
            <p14:sldId id="266"/>
            <p14:sldId id="267"/>
            <p14:sldId id="268"/>
          </p14:sldIdLst>
        </p14:section>
        <p14:section name="Lessons" id="{513c3f98-b450-8652-9697-65e05a24591e}">
          <p14:sldIdLst>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value</c:v>
                </c:pt>
              </c:strCache>
            </c:strRef>
          </c:tx>
          <c:spPr>
            <a:solidFill>
              <a:srgbClr val="2A78D6"/>
            </a:solidFill>
            <a:effectLst/>
          </c:spPr>
          <c:invertIfNegative val="0"/>
          <c:dLbls>
            <c:numFmt formatCode="#,##0" sourceLinked="0"/>
            <c:txPr>
              <a:bodyPr/>
              <a:lstStyle/>
              <a:p>
                <a:pPr>
                  <a:defRPr b="0" i="0" strike="noStrike" sz="1100" u="none">
                    <a:solidFill>
                      <a:srgbClr val="1F2328"/>
                    </a:solidFill>
                    <a:latin typeface="+mn-lt"/>
                  </a:defRPr>
                </a:pPr>
              </a:p>
            </c:txPr>
            <c:showLegendKey val="0"/>
            <c:showVal val="1"/>
            <c:showCatName val="0"/>
            <c:showSerName val="0"/>
            <c:showPercent val="0"/>
            <c:showBubbleSize val="0"/>
            <c:showLeaderLines val="0"/>
          </c:dLbls>
          <c:dPt>
            <c:idx val="0"/>
            <c:invertIfNegative val="0"/>
            <c:bubble3D val="0"/>
            <c:spPr>
              <a:solidFill>
                <a:srgbClr val="2A78D6"/>
              </a:solidFill>
              <a:effectLst/>
            </c:spPr>
          </c:dPt>
          <c:dPt>
            <c:idx val="1"/>
            <c:invertIfNegative val="0"/>
            <c:bubble3D val="0"/>
            <c:spPr>
              <a:solidFill>
                <a:srgbClr val="2A78D6"/>
              </a:solidFill>
              <a:effectLst/>
            </c:spPr>
          </c:dPt>
          <c:dPt>
            <c:idx val="2"/>
            <c:invertIfNegative val="0"/>
            <c:bubble3D val="0"/>
            <c:spPr>
              <a:solidFill>
                <a:srgbClr val="2A78D6"/>
              </a:solidFill>
              <a:effectLst/>
            </c:spPr>
          </c:dPt>
          <c:dPt>
            <c:idx val="3"/>
            <c:invertIfNegative val="0"/>
            <c:bubble3D val="0"/>
            <c:spPr>
              <a:solidFill>
                <a:srgbClr val="2A78D6"/>
              </a:solidFill>
              <a:effectLst/>
            </c:spPr>
          </c:dPt>
          <c:dPt>
            <c:idx val="4"/>
            <c:invertIfNegative val="0"/>
            <c:bubble3D val="0"/>
            <c:spPr>
              <a:solidFill>
                <a:srgbClr val="2A78D6"/>
              </a:solidFill>
              <a:effectLst/>
            </c:spPr>
          </c:dPt>
          <c:dPt>
            <c:idx val="5"/>
            <c:invertIfNegative val="0"/>
            <c:bubble3D val="0"/>
            <c:spPr>
              <a:solidFill>
                <a:srgbClr val="2A78D6"/>
              </a:solidFill>
              <a:effectLst/>
            </c:spPr>
          </c:dPt>
          <c:dPt>
            <c:idx val="6"/>
            <c:invertIfNegative val="0"/>
            <c:bubble3D val="0"/>
            <c:spPr>
              <a:solidFill>
                <a:srgbClr val="2A78D6"/>
              </a:solidFill>
              <a:effectLst/>
            </c:spPr>
          </c:dPt>
          <c:dPt>
            <c:idx val="7"/>
            <c:invertIfNegative val="0"/>
            <c:bubble3D val="0"/>
            <c:spPr>
              <a:solidFill>
                <a:srgbClr val="2A78D6"/>
              </a:solidFill>
              <a:effectLst/>
            </c:spPr>
          </c:dPt>
          <c:dPt>
            <c:idx val="8"/>
            <c:invertIfNegative val="0"/>
            <c:bubble3D val="0"/>
            <c:spPr>
              <a:solidFill>
                <a:srgbClr val="2A78D6"/>
              </a:solidFill>
              <a:effectLst/>
            </c:spPr>
          </c:dPt>
          <c:dPt>
            <c:idx val="9"/>
            <c:invertIfNegative val="0"/>
            <c:bubble3D val="0"/>
            <c:spPr>
              <a:solidFill>
                <a:srgbClr val="2A78D6"/>
              </a:solidFill>
              <a:effectLst/>
            </c:spPr>
          </c:dPt>
          <c:dPt>
            <c:idx val="10"/>
            <c:invertIfNegative val="0"/>
            <c:bubble3D val="0"/>
            <c:spPr>
              <a:solidFill>
                <a:srgbClr val="2A78D6"/>
              </a:solidFill>
              <a:effectLst/>
            </c:spPr>
          </c:dPt>
          <c:dPt>
            <c:idx val="11"/>
            <c:invertIfNegative val="0"/>
            <c:bubble3D val="0"/>
            <c:spPr>
              <a:solidFill>
                <a:srgbClr val="2A78D6"/>
              </a:solidFill>
              <a:effectLst/>
            </c:spPr>
          </c:dPt>
          <c:dPt>
            <c:idx val="12"/>
            <c:invertIfNegative val="0"/>
            <c:bubble3D val="0"/>
            <c:spPr>
              <a:solidFill>
                <a:srgbClr val="2A78D6"/>
              </a:solidFill>
              <a:effectLst/>
            </c:spPr>
          </c:dPt>
          <c:dPt>
            <c:idx val="13"/>
            <c:invertIfNegative val="0"/>
            <c:bubble3D val="0"/>
            <c:spPr>
              <a:solidFill>
                <a:srgbClr val="2A78D6"/>
              </a:solidFill>
              <a:effectLst/>
            </c:spPr>
          </c:dPt>
          <c:dPt>
            <c:idx val="14"/>
            <c:invertIfNegative val="0"/>
            <c:bubble3D val="0"/>
            <c:spPr>
              <a:solidFill>
                <a:srgbClr val="2A78D6"/>
              </a:solidFill>
              <a:effectLst/>
            </c:spPr>
          </c:dPt>
          <c:dPt>
            <c:idx val="15"/>
            <c:invertIfNegative val="0"/>
            <c:bubble3D val="0"/>
            <c:spPr>
              <a:solidFill>
                <a:srgbClr val="2A78D6"/>
              </a:solidFill>
              <a:effectLst/>
            </c:spPr>
          </c:dPt>
          <c:dPt>
            <c:idx val="16"/>
            <c:invertIfNegative val="0"/>
            <c:bubble3D val="0"/>
            <c:spPr>
              <a:solidFill>
                <a:srgbClr val="2A78D6"/>
              </a:solidFill>
              <a:effectLst/>
            </c:spPr>
          </c:dPt>
          <c:dPt>
            <c:idx val="17"/>
            <c:invertIfNegative val="0"/>
            <c:bubble3D val="0"/>
            <c:spPr>
              <a:solidFill>
                <a:srgbClr val="2A78D6"/>
              </a:solidFill>
              <a:effectLst/>
            </c:spPr>
          </c:dPt>
          <c:dPt>
            <c:idx val="18"/>
            <c:invertIfNegative val="0"/>
            <c:bubble3D val="0"/>
            <c:spPr>
              <a:solidFill>
                <a:srgbClr val="2A78D6"/>
              </a:solidFill>
              <a:effectLst/>
            </c:spPr>
          </c:dPt>
          <c:dPt>
            <c:idx val="19"/>
            <c:invertIfNegative val="0"/>
            <c:bubble3D val="0"/>
            <c:spPr>
              <a:solidFill>
                <a:srgbClr val="2A78D6"/>
              </a:solidFill>
              <a:effectLst/>
            </c:spPr>
          </c:dPt>
          <c:cat>
            <c:multiLvlStrRef>
              <c:f>Sheet1!$A$2:$A$21</c:f>
              <c:multiLvlStrCache>
                <c:ptCount val="20"/>
                <c:lvl>
                  <c:pt idx="0">
                    <c:v>c#</c:v>
                  </c:pt>
                  <c:pt idx="1">
                    <c:v>java</c:v>
                  </c:pt>
                  <c:pt idx="2">
                    <c:v>javascript</c:v>
                  </c:pt>
                  <c:pt idx="3">
                    <c:v>python</c:v>
                  </c:pt>
                  <c:pt idx="4">
                    <c:v>.net</c:v>
                  </c:pt>
                  <c:pt idx="5">
                    <c:v>c++</c:v>
                  </c:pt>
                  <c:pt idx="6">
                    <c:v>php</c:v>
                  </c:pt>
                  <c:pt idx="7">
                    <c:v>android</c:v>
                  </c:pt>
                  <c:pt idx="8">
                    <c:v>jquery</c:v>
                  </c:pt>
                  <c:pt idx="9">
                    <c:v>html</c:v>
                  </c:pt>
                  <c:pt idx="10">
                    <c:v>css</c:v>
                  </c:pt>
                  <c:pt idx="11">
                    <c:v>git</c:v>
                  </c:pt>
                  <c:pt idx="12">
                    <c:v>string</c:v>
                  </c:pt>
                  <c:pt idx="13">
                    <c:v>sql</c:v>
                  </c:pt>
                  <c:pt idx="14">
                    <c:v>c</c:v>
                  </c:pt>
                  <c:pt idx="15">
                    <c:v>mysql</c:v>
                  </c:pt>
                  <c:pt idx="16">
                    <c:v>iphone</c:v>
                  </c:pt>
                  <c:pt idx="17">
                    <c:v>sql-server</c:v>
                  </c:pt>
                  <c:pt idx="18">
                    <c:v>objective-c</c:v>
                  </c:pt>
                  <c:pt idx="19">
                    <c:v>ruby</c:v>
                  </c:pt>
                </c:lvl>
              </c:multiLvlStrCache>
            </c:multiLvlStrRef>
          </c:cat>
          <c:val>
            <c:numRef>
              <c:f>Sheet1!$B$2:$B$21</c:f>
              <c:numCache>
                <c:formatCode>General</c:formatCode>
                <c:ptCount val="20"/>
                <c:pt idx="0">
                  <c:v>597</c:v>
                </c:pt>
                <c:pt idx="1">
                  <c:v>595</c:v>
                </c:pt>
                <c:pt idx="2">
                  <c:v>466</c:v>
                </c:pt>
                <c:pt idx="3">
                  <c:v>450</c:v>
                </c:pt>
                <c:pt idx="4">
                  <c:v>302</c:v>
                </c:pt>
                <c:pt idx="5">
                  <c:v>282</c:v>
                </c:pt>
                <c:pt idx="6">
                  <c:v>236</c:v>
                </c:pt>
                <c:pt idx="7">
                  <c:v>234</c:v>
                </c:pt>
                <c:pt idx="8">
                  <c:v>218</c:v>
                </c:pt>
                <c:pt idx="9">
                  <c:v>204</c:v>
                </c:pt>
                <c:pt idx="10">
                  <c:v>178</c:v>
                </c:pt>
                <c:pt idx="11">
                  <c:v>170</c:v>
                </c:pt>
                <c:pt idx="12">
                  <c:v>158</c:v>
                </c:pt>
                <c:pt idx="13">
                  <c:v>152</c:v>
                </c:pt>
                <c:pt idx="14">
                  <c:v>151</c:v>
                </c:pt>
                <c:pt idx="15">
                  <c:v>151</c:v>
                </c:pt>
                <c:pt idx="16">
                  <c:v>145</c:v>
                </c:pt>
                <c:pt idx="17">
                  <c:v>141</c:v>
                </c:pt>
                <c:pt idx="18">
                  <c:v>114</c:v>
                </c:pt>
                <c:pt idx="19">
                  <c:v>104</c:v>
                </c:pt>
              </c:numCache>
            </c:numRef>
          </c:val>
        </c:ser>
        <c:dLbls>
          <c:numFmt formatCode="#,##0" sourceLinked="0"/>
          <c:txPr>
            <a:bodyPr/>
            <a:lstStyle/>
            <a:p>
              <a:pPr>
                <a:defRPr b="0" i="0" strike="noStrike" sz="1100" u="none">
                  <a:solidFill>
                    <a:srgbClr val="1F2328"/>
                  </a:solidFill>
                  <a:latin typeface="+mn-lt"/>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1F2328"/>
                </a:solidFill>
                <a:latin typeface="+mn-lt"/>
              </a:defRPr>
            </a:pPr>
            <a:endParaRPr lang="en-US"/>
          </a:p>
        </c:txPr>
        <c:crossAx val="2094734552"/>
        <c:crosses val="autoZero"/>
        <c:auto val="1"/>
        <c:lblAlgn val="ctr"/>
        <c:noMultiLvlLbl val="1"/>
      </c:catAx>
      <c:valAx>
        <c:axId val="2094734552"/>
        <c:scaling>
          <c:orientation val="minMax"/>
          <c:max val="68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Jaccard score, out of 100 (higher is better)</a:t>
            </a:r>
          </a:p>
        </c:rich>
      </c:tx>
      <c:layout/>
      <c:overlay val="0"/>
    </c:title>
    <c:autoTitleDeleted val="0"/>
    <c:plotArea>
      <c:layout/>
      <c:barChart>
        <c:barDir val="bar"/>
        <c:grouping val="clustered"/>
        <c:varyColors val="0"/>
        <c:ser>
          <c:idx val="0"/>
          <c:order val="0"/>
          <c:tx>
            <c:strRef>
              <c:f>Sheet1!$B$1</c:f>
              <c:strCache>
                <c:ptCount val="1"/>
                <c:pt idx="0">
                  <c:v>value</c:v>
                </c:pt>
              </c:strCache>
            </c:strRef>
          </c:tx>
          <c:spPr>
            <a:solidFill>
              <a:srgbClr val="C3C2B7"/>
            </a:solidFill>
            <a:effectLst/>
          </c:spPr>
          <c:invertIfNegative val="0"/>
          <c:dLbls>
            <c:numFmt formatCode="0.0" sourceLinked="0"/>
            <c:txPr>
              <a:bodyPr/>
              <a:lstStyle/>
              <a:p>
                <a:pPr>
                  <a:defRPr b="0" i="0" strike="noStrike" sz="1200" u="none">
                    <a:solidFill>
                      <a:srgbClr val="1F2328"/>
                    </a:solidFill>
                    <a:latin typeface="+mn-lt"/>
                  </a:defRPr>
                </a:pPr>
              </a:p>
            </c:txPr>
            <c:showLegendKey val="0"/>
            <c:showVal val="1"/>
            <c:showCatName val="0"/>
            <c:showSerName val="0"/>
            <c:showPercent val="0"/>
            <c:showBubbleSize val="0"/>
            <c:showLeaderLines val="0"/>
          </c:dLbls>
          <c:dPt>
            <c:idx val="0"/>
            <c:invertIfNegative val="0"/>
            <c:bubble3D val="0"/>
            <c:spPr>
              <a:solidFill>
                <a:srgbClr val="C3C2B7"/>
              </a:solidFill>
              <a:effectLst/>
            </c:spPr>
          </c:dPt>
          <c:dPt>
            <c:idx val="1"/>
            <c:invertIfNegative val="0"/>
            <c:bubble3D val="0"/>
            <c:spPr>
              <a:solidFill>
                <a:srgbClr val="EB6834"/>
              </a:solidFill>
              <a:effectLst/>
            </c:spPr>
          </c:dPt>
          <c:dPt>
            <c:idx val="2"/>
            <c:invertIfNegative val="0"/>
            <c:bubble3D val="0"/>
            <c:spPr>
              <a:solidFill>
                <a:srgbClr val="C3C2B7"/>
              </a:solidFill>
              <a:effectLst/>
            </c:spPr>
          </c:dPt>
          <c:dPt>
            <c:idx val="3"/>
            <c:invertIfNegative val="0"/>
            <c:bubble3D val="0"/>
            <c:spPr>
              <a:solidFill>
                <a:srgbClr val="C3C2B7"/>
              </a:solidFill>
              <a:effectLst/>
            </c:spPr>
          </c:dPt>
          <c:dPt>
            <c:idx val="4"/>
            <c:invertIfNegative val="0"/>
            <c:bubble3D val="0"/>
            <c:spPr>
              <a:solidFill>
                <a:srgbClr val="C3C2B7"/>
              </a:solidFill>
              <a:effectLst/>
            </c:spPr>
          </c:dPt>
          <c:dPt>
            <c:idx val="5"/>
            <c:invertIfNegative val="0"/>
            <c:bubble3D val="0"/>
            <c:spPr>
              <a:solidFill>
                <a:srgbClr val="C3C2B7"/>
              </a:solidFill>
              <a:effectLst/>
            </c:spPr>
          </c:dPt>
          <c:dPt>
            <c:idx val="6"/>
            <c:invertIfNegative val="0"/>
            <c:bubble3D val="0"/>
            <c:spPr>
              <a:solidFill>
                <a:srgbClr val="C3C2B7"/>
              </a:solidFill>
              <a:effectLst/>
            </c:spPr>
          </c:dPt>
          <c:dPt>
            <c:idx val="7"/>
            <c:invertIfNegative val="0"/>
            <c:bubble3D val="0"/>
            <c:spPr>
              <a:solidFill>
                <a:srgbClr val="C3C2B7"/>
              </a:solidFill>
              <a:effectLst/>
            </c:spPr>
          </c:dPt>
          <c:dPt>
            <c:idx val="8"/>
            <c:invertIfNegative val="0"/>
            <c:bubble3D val="0"/>
            <c:spPr>
              <a:solidFill>
                <a:srgbClr val="C3C2B7"/>
              </a:solidFill>
              <a:effectLst/>
            </c:spPr>
          </c:dPt>
          <c:dPt>
            <c:idx val="9"/>
            <c:invertIfNegative val="0"/>
            <c:bubble3D val="0"/>
            <c:spPr>
              <a:solidFill>
                <a:srgbClr val="C3C2B7"/>
              </a:solidFill>
              <a:effectLst/>
            </c:spPr>
          </c:dPt>
          <c:dPt>
            <c:idx val="10"/>
            <c:invertIfNegative val="0"/>
            <c:bubble3D val="0"/>
            <c:spPr>
              <a:solidFill>
                <a:srgbClr val="C3C2B7"/>
              </a:solidFill>
              <a:effectLst/>
            </c:spPr>
          </c:dPt>
          <c:dPt>
            <c:idx val="11"/>
            <c:invertIfNegative val="0"/>
            <c:bubble3D val="0"/>
            <c:spPr>
              <a:solidFill>
                <a:srgbClr val="C3C2B7"/>
              </a:solidFill>
              <a:effectLst/>
            </c:spPr>
          </c:dPt>
          <c:cat>
            <c:multiLvlStrRef>
              <c:f>Sheet1!$A$2:$A$13</c:f>
              <c:multiLvlStrCache>
                <c:ptCount val="12"/>
                <c:lvl>
                  <c:pt idx="0">
                    <c:v>PassiveAggressive</c:v>
                  </c:pt>
                  <c:pt idx="1">
                    <c:v>LinearSVC</c:v>
                  </c:pt>
                  <c:pt idx="2">
                    <c:v>Random forest, run 1</c:v>
                  </c:pt>
                  <c:pt idx="3">
                    <c:v>Random forest, run 2</c:v>
                  </c:pt>
                  <c:pt idx="4">
                    <c:v>Random forest, run 3</c:v>
                  </c:pt>
                  <c:pt idx="5">
                    <c:v>SGD</c:v>
                  </c:pt>
                  <c:pt idx="6">
                    <c:v>Decision tree</c:v>
                  </c:pt>
                  <c:pt idx="7">
                    <c:v>Perceptron</c:v>
                  </c:pt>
                  <c:pt idx="8">
                    <c:v>Logistic regression</c:v>
                  </c:pt>
                  <c:pt idx="9">
                    <c:v>k-nearest neighbors</c:v>
                  </c:pt>
                  <c:pt idx="10">
                    <c:v>Multinomial naive Bayes</c:v>
                  </c:pt>
                  <c:pt idx="11">
                    <c:v>Dummy (random guesses)</c:v>
                  </c:pt>
                </c:lvl>
              </c:multiLvlStrCache>
            </c:multiLvlStrRef>
          </c:cat>
          <c:val>
            <c:numRef>
              <c:f>Sheet1!$B$2:$B$13</c:f>
              <c:numCache>
                <c:formatCode>General</c:formatCode>
                <c:ptCount val="12"/>
                <c:pt idx="0">
                  <c:v>48.49621094740401</c:v>
                </c:pt>
                <c:pt idx="1">
                  <c:v>47.7634260172221</c:v>
                </c:pt>
                <c:pt idx="2">
                  <c:v>45.93669887596135</c:v>
                </c:pt>
                <c:pt idx="3">
                  <c:v>45.897258923289286</c:v>
                </c:pt>
                <c:pt idx="4">
                  <c:v>45.77959639781765</c:v>
                </c:pt>
                <c:pt idx="5">
                  <c:v>45.72832445934398</c:v>
                </c:pt>
                <c:pt idx="6">
                  <c:v>43.10631884384596</c:v>
                </c:pt>
                <c:pt idx="7">
                  <c:v>42.677479787024254</c:v>
                </c:pt>
                <c:pt idx="8">
                  <c:v>41.08558469729836</c:v>
                </c:pt>
                <c:pt idx="9">
                  <c:v>24.218431604548744</c:v>
                </c:pt>
                <c:pt idx="10">
                  <c:v>23.167356865838425</c:v>
                </c:pt>
                <c:pt idx="11">
                  <c:v>2.5727761031448666</c:v>
                </c:pt>
              </c:numCache>
            </c:numRef>
          </c:val>
        </c:ser>
        <c:dLbls>
          <c:numFmt formatCode="0.0" sourceLinked="0"/>
          <c:txPr>
            <a:bodyPr/>
            <a:lstStyle/>
            <a:p>
              <a:pPr>
                <a:defRPr b="0" i="0" strike="noStrike" sz="1200" u="none">
                  <a:solidFill>
                    <a:srgbClr val="1F2328"/>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1F2328"/>
                </a:solidFill>
                <a:latin typeface="+mn-lt"/>
              </a:defRPr>
            </a:pPr>
            <a:endParaRPr lang="en-US"/>
          </a:p>
        </c:txPr>
        <c:crossAx val="2094734552"/>
        <c:crosses val="autoZero"/>
        <c:auto val="1"/>
        <c:lblAlgn val="ctr"/>
        <c:noMultiLvlLbl val="1"/>
      </c:catAx>
      <c:valAx>
        <c:axId val="2094734552"/>
        <c:scaling>
          <c:orientation val="minMax"/>
          <c:max val="58"/>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Hamming loss (lower is better), same order</a:t>
            </a:r>
          </a:p>
        </c:rich>
      </c:tx>
      <c:layout/>
      <c:overlay val="0"/>
    </c:title>
    <c:autoTitleDeleted val="0"/>
    <c:plotArea>
      <c:layout/>
      <c:barChart>
        <c:barDir val="bar"/>
        <c:grouping val="clustered"/>
        <c:varyColors val="0"/>
        <c:ser>
          <c:idx val="0"/>
          <c:order val="0"/>
          <c:tx>
            <c:strRef>
              <c:f>Sheet1!$B$1</c:f>
              <c:strCache>
                <c:ptCount val="1"/>
                <c:pt idx="0">
                  <c:v>value</c:v>
                </c:pt>
              </c:strCache>
            </c:strRef>
          </c:tx>
          <c:spPr>
            <a:solidFill>
              <a:srgbClr val="C3C2B7"/>
            </a:solidFill>
            <a:effectLst/>
          </c:spPr>
          <c:invertIfNegative val="0"/>
          <c:dLbls>
            <c:numFmt formatCode="0.000%" sourceLinked="0"/>
            <c:txPr>
              <a:bodyPr/>
              <a:lstStyle/>
              <a:p>
                <a:pPr>
                  <a:defRPr b="0" i="0" strike="noStrike" sz="1200" u="none">
                    <a:solidFill>
                      <a:srgbClr val="1F2328"/>
                    </a:solidFill>
                    <a:latin typeface="+mn-lt"/>
                  </a:defRPr>
                </a:pPr>
              </a:p>
            </c:txPr>
            <c:showLegendKey val="0"/>
            <c:showVal val="1"/>
            <c:showCatName val="0"/>
            <c:showSerName val="0"/>
            <c:showPercent val="0"/>
            <c:showBubbleSize val="0"/>
            <c:showLeaderLines val="0"/>
          </c:dLbls>
          <c:dPt>
            <c:idx val="0"/>
            <c:invertIfNegative val="0"/>
            <c:bubble3D val="0"/>
            <c:spPr>
              <a:solidFill>
                <a:srgbClr val="C3C2B7"/>
              </a:solidFill>
              <a:effectLst/>
            </c:spPr>
          </c:dPt>
          <c:dPt>
            <c:idx val="1"/>
            <c:invertIfNegative val="0"/>
            <c:bubble3D val="0"/>
            <c:spPr>
              <a:solidFill>
                <a:srgbClr val="EB6834"/>
              </a:solidFill>
              <a:effectLst/>
            </c:spPr>
          </c:dPt>
          <c:dPt>
            <c:idx val="2"/>
            <c:invertIfNegative val="0"/>
            <c:bubble3D val="0"/>
            <c:spPr>
              <a:solidFill>
                <a:srgbClr val="C3C2B7"/>
              </a:solidFill>
              <a:effectLst/>
            </c:spPr>
          </c:dPt>
          <c:dPt>
            <c:idx val="3"/>
            <c:invertIfNegative val="0"/>
            <c:bubble3D val="0"/>
            <c:spPr>
              <a:solidFill>
                <a:srgbClr val="C3C2B7"/>
              </a:solidFill>
              <a:effectLst/>
            </c:spPr>
          </c:dPt>
          <c:dPt>
            <c:idx val="4"/>
            <c:invertIfNegative val="0"/>
            <c:bubble3D val="0"/>
            <c:spPr>
              <a:solidFill>
                <a:srgbClr val="C3C2B7"/>
              </a:solidFill>
              <a:effectLst/>
            </c:spPr>
          </c:dPt>
          <c:dPt>
            <c:idx val="5"/>
            <c:invertIfNegative val="0"/>
            <c:bubble3D val="0"/>
            <c:spPr>
              <a:solidFill>
                <a:srgbClr val="C3C2B7"/>
              </a:solidFill>
              <a:effectLst/>
            </c:spPr>
          </c:dPt>
          <c:dPt>
            <c:idx val="6"/>
            <c:invertIfNegative val="0"/>
            <c:bubble3D val="0"/>
            <c:spPr>
              <a:solidFill>
                <a:srgbClr val="C3C2B7"/>
              </a:solidFill>
              <a:effectLst/>
            </c:spPr>
          </c:dPt>
          <c:dPt>
            <c:idx val="7"/>
            <c:invertIfNegative val="0"/>
            <c:bubble3D val="0"/>
            <c:spPr>
              <a:solidFill>
                <a:srgbClr val="C3C2B7"/>
              </a:solidFill>
              <a:effectLst/>
            </c:spPr>
          </c:dPt>
          <c:dPt>
            <c:idx val="8"/>
            <c:invertIfNegative val="0"/>
            <c:bubble3D val="0"/>
            <c:spPr>
              <a:solidFill>
                <a:srgbClr val="C3C2B7"/>
              </a:solidFill>
              <a:effectLst/>
            </c:spPr>
          </c:dPt>
          <c:dPt>
            <c:idx val="9"/>
            <c:invertIfNegative val="0"/>
            <c:bubble3D val="0"/>
            <c:spPr>
              <a:solidFill>
                <a:srgbClr val="C3C2B7"/>
              </a:solidFill>
              <a:effectLst/>
            </c:spPr>
          </c:dPt>
          <c:dPt>
            <c:idx val="10"/>
            <c:invertIfNegative val="0"/>
            <c:bubble3D val="0"/>
            <c:spPr>
              <a:solidFill>
                <a:srgbClr val="C3C2B7"/>
              </a:solidFill>
              <a:effectLst/>
            </c:spPr>
          </c:dPt>
          <c:dPt>
            <c:idx val="11"/>
            <c:invertIfNegative val="0"/>
            <c:bubble3D val="0"/>
            <c:spPr>
              <a:solidFill>
                <a:srgbClr val="C3C2B7"/>
              </a:solidFill>
              <a:effectLst/>
            </c:spPr>
          </c:dPt>
          <c:cat>
            <c:multiLvlStrRef>
              <c:f>Sheet1!$A$2:$A$13</c:f>
              <c:multiLvlStrCache>
                <c:ptCount val="12"/>
                <c:lvl>
                  <c:pt idx="0">
                    <c:v>PassiveAggressive</c:v>
                  </c:pt>
                  <c:pt idx="1">
                    <c:v>LinearSVC</c:v>
                  </c:pt>
                  <c:pt idx="2">
                    <c:v>Random forest, run 1</c:v>
                  </c:pt>
                  <c:pt idx="3">
                    <c:v>Random forest, run 2</c:v>
                  </c:pt>
                  <c:pt idx="4">
                    <c:v>Random forest, run 3</c:v>
                  </c:pt>
                  <c:pt idx="5">
                    <c:v>SGD</c:v>
                  </c:pt>
                  <c:pt idx="6">
                    <c:v>Decision tree</c:v>
                  </c:pt>
                  <c:pt idx="7">
                    <c:v>Perceptron</c:v>
                  </c:pt>
                  <c:pt idx="8">
                    <c:v>Logistic regression</c:v>
                  </c:pt>
                  <c:pt idx="9">
                    <c:v>k-nearest neighbors</c:v>
                  </c:pt>
                  <c:pt idx="10">
                    <c:v>Multinomial naive Bayes</c:v>
                  </c:pt>
                  <c:pt idx="11">
                    <c:v>Dummy (random guesses)</c:v>
                  </c:pt>
                </c:lvl>
              </c:multiLvlStrCache>
            </c:multiLvlStrRef>
          </c:cat>
          <c:val>
            <c:numRef>
              <c:f>Sheet1!$B$2:$B$13</c:f>
              <c:numCache>
                <c:formatCode>General</c:formatCode>
                <c:ptCount val="12"/>
                <c:pt idx="0">
                  <c:v>0.011855649773220272</c:v>
                </c:pt>
                <c:pt idx="1">
                  <c:v>0.010175507789390652</c:v>
                </c:pt>
                <c:pt idx="2">
                  <c:v>0.010733583119700256</c:v>
                </c:pt>
                <c:pt idx="3">
                  <c:v>0.010755275093669888</c:v>
                </c:pt>
                <c:pt idx="4">
                  <c:v>0.010755275093669888</c:v>
                </c:pt>
                <c:pt idx="5">
                  <c:v>0.010228751725497929</c:v>
                </c:pt>
                <c:pt idx="6">
                  <c:v>0.014109643068428318</c:v>
                </c:pt>
                <c:pt idx="7">
                  <c:v>0.01699270360875567</c:v>
                </c:pt>
                <c:pt idx="8">
                  <c:v>0.010932754880694144</c:v>
                </c:pt>
                <c:pt idx="9">
                  <c:v>0.0142358509169789</c:v>
                </c:pt>
                <c:pt idx="10">
                  <c:v>0.013512127785446658</c:v>
                </c:pt>
                <c:pt idx="11">
                  <c:v>0.03140800631039243</c:v>
                </c:pt>
              </c:numCache>
            </c:numRef>
          </c:val>
        </c:ser>
        <c:dLbls>
          <c:numFmt formatCode="0.000%" sourceLinked="0"/>
          <c:txPr>
            <a:bodyPr/>
            <a:lstStyle/>
            <a:p>
              <a:pPr>
                <a:defRPr b="0" i="0" strike="noStrike" sz="1200" u="none">
                  <a:solidFill>
                    <a:srgbClr val="1F2328"/>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1"/>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1F2328"/>
                </a:solidFill>
                <a:latin typeface="+mn-lt"/>
              </a:defRPr>
            </a:pPr>
            <a:endParaRPr lang="en-US"/>
          </a:p>
        </c:txPr>
        <c:crossAx val="2094734552"/>
        <c:crosses val="autoZero"/>
        <c:auto val="1"/>
        <c:lblAlgn val="ctr"/>
        <c:noMultiLvlLbl val="1"/>
      </c:catAx>
      <c:valAx>
        <c:axId val="2094734552"/>
        <c:scaling>
          <c:orientation val="minMax"/>
          <c:max val="0.04"/>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Found / right</c:v>
                </c:pt>
              </c:strCache>
            </c:strRef>
          </c:tx>
          <c:spPr>
            <a:solidFill>
              <a:srgbClr val="2A78D6"/>
            </a:solidFill>
            <a:effectLst/>
          </c:spPr>
          <c:invertIfNegative val="0"/>
          <c:dLbls>
            <c:numFmt formatCode="#,##0;;;" sourceLinked="0"/>
            <c:txPr>
              <a:bodyPr/>
              <a:lstStyle/>
              <a:p>
                <a:pPr>
                  <a:defRPr b="1" i="0" strike="noStrike" sz="1400" u="none">
                    <a:solidFill>
                      <a:srgbClr val="1F2328"/>
                    </a:solidFill>
                    <a:latin typeface="+mn-lt"/>
                  </a:defRPr>
                </a:pPr>
              </a:p>
            </c:txPr>
            <c:dLblPos val="ctr"/>
            <c:showLegendKey val="0"/>
            <c:showVal val="1"/>
            <c:showCatName val="0"/>
            <c:showSerName val="0"/>
            <c:showPercent val="0"/>
            <c:showBubbleSize val="0"/>
            <c:showLeaderLines val="0"/>
          </c:dLbls>
          <c:cat>
            <c:multiLvlStrRef>
              <c:f>Sheet1!$A$2:$A$3</c:f>
              <c:multiLvlStrCache>
                <c:ptCount val="2"/>
                <c:lvl>
                  <c:pt idx="0">
                    <c:v>Tags the questions had (8,350)</c:v>
                  </c:pt>
                  <c:pt idx="1">
                    <c:v>Tags the model predicted (4,494)</c:v>
                  </c:pt>
                </c:lvl>
              </c:multiLvlStrCache>
            </c:multiLvlStrRef>
          </c:cat>
          <c:val>
            <c:numRef>
              <c:f>Sheet1!$B$2:$B$3</c:f>
              <c:numCache>
                <c:formatCode>General</c:formatCode>
                <c:ptCount val="2"/>
                <c:pt idx="0">
                  <c:v>3842</c:v>
                </c:pt>
                <c:pt idx="1">
                  <c:v>3842</c:v>
                </c:pt>
              </c:numCache>
            </c:numRef>
          </c:val>
        </c:ser>
        <c:ser>
          <c:idx val="1"/>
          <c:order val="1"/>
          <c:tx>
            <c:strRef>
              <c:f>Sheet1!$C$1</c:f>
              <c:strCache>
                <c:ptCount val="1"/>
                <c:pt idx="0">
                  <c:v>Missed</c:v>
                </c:pt>
              </c:strCache>
            </c:strRef>
          </c:tx>
          <c:spPr>
            <a:solidFill>
              <a:srgbClr val="C3C2B7"/>
            </a:solidFill>
            <a:effectLst/>
          </c:spPr>
          <c:invertIfNegative val="0"/>
          <c:dLbls>
            <c:numFmt formatCode="#,##0;;;" sourceLinked="0"/>
            <c:txPr>
              <a:bodyPr/>
              <a:lstStyle/>
              <a:p>
                <a:pPr>
                  <a:defRPr b="1" i="0" strike="noStrike" sz="1400" u="none">
                    <a:solidFill>
                      <a:srgbClr val="1F2328"/>
                    </a:solidFill>
                    <a:latin typeface="+mn-lt"/>
                  </a:defRPr>
                </a:pPr>
              </a:p>
            </c:txPr>
            <c:dLblPos val="ctr"/>
            <c:showLegendKey val="0"/>
            <c:showVal val="1"/>
            <c:showCatName val="0"/>
            <c:showSerName val="0"/>
            <c:showPercent val="0"/>
            <c:showBubbleSize val="0"/>
            <c:showLeaderLines val="0"/>
          </c:dLbls>
          <c:cat>
            <c:multiLvlStrRef>
              <c:f>Sheet1!$A$2:$A$3</c:f>
              <c:multiLvlStrCache>
                <c:ptCount val="2"/>
                <c:lvl>
                  <c:pt idx="0">
                    <c:v>Tags the questions had (8,350)</c:v>
                  </c:pt>
                  <c:pt idx="1">
                    <c:v>Tags the model predicted (4,494)</c:v>
                  </c:pt>
                </c:lvl>
              </c:multiLvlStrCache>
            </c:multiLvlStrRef>
          </c:cat>
          <c:val>
            <c:numRef>
              <c:f>Sheet1!$C$2:$C$3</c:f>
              <c:numCache>
                <c:formatCode>General</c:formatCode>
                <c:ptCount val="2"/>
                <c:pt idx="0">
                  <c:v>4508</c:v>
                </c:pt>
                <c:pt idx="1">
                  <c:v>0</c:v>
                </c:pt>
              </c:numCache>
            </c:numRef>
          </c:val>
        </c:ser>
        <c:ser>
          <c:idx val="2"/>
          <c:order val="2"/>
          <c:tx>
            <c:strRef>
              <c:f>Sheet1!$D$1</c:f>
              <c:strCache>
                <c:ptCount val="1"/>
                <c:pt idx="0">
                  <c:v>Wrong</c:v>
                </c:pt>
              </c:strCache>
            </c:strRef>
          </c:tx>
          <c:spPr>
            <a:solidFill>
              <a:srgbClr val="EB6834"/>
            </a:solidFill>
            <a:effectLst/>
          </c:spPr>
          <c:invertIfNegative val="0"/>
          <c:dLbls>
            <c:numFmt formatCode="#,##0;;;" sourceLinked="0"/>
            <c:txPr>
              <a:bodyPr/>
              <a:lstStyle/>
              <a:p>
                <a:pPr>
                  <a:defRPr b="1" i="0" strike="noStrike" sz="1400" u="none">
                    <a:solidFill>
                      <a:srgbClr val="1F2328"/>
                    </a:solidFill>
                    <a:latin typeface="+mn-lt"/>
                  </a:defRPr>
                </a:pPr>
              </a:p>
            </c:txPr>
            <c:dLblPos val="ctr"/>
            <c:showLegendKey val="0"/>
            <c:showVal val="1"/>
            <c:showCatName val="0"/>
            <c:showSerName val="0"/>
            <c:showPercent val="0"/>
            <c:showBubbleSize val="0"/>
            <c:showLeaderLines val="0"/>
          </c:dLbls>
          <c:cat>
            <c:multiLvlStrRef>
              <c:f>Sheet1!$A$2:$A$3</c:f>
              <c:multiLvlStrCache>
                <c:ptCount val="2"/>
                <c:lvl>
                  <c:pt idx="0">
                    <c:v>Tags the questions had (8,350)</c:v>
                  </c:pt>
                  <c:pt idx="1">
                    <c:v>Tags the model predicted (4,494)</c:v>
                  </c:pt>
                </c:lvl>
              </c:multiLvlStrCache>
            </c:multiLvlStrRef>
          </c:cat>
          <c:val>
            <c:numRef>
              <c:f>Sheet1!$D$2:$D$3</c:f>
              <c:numCache>
                <c:formatCode>General</c:formatCode>
                <c:ptCount val="2"/>
                <c:pt idx="0">
                  <c:v>0</c:v>
                </c:pt>
                <c:pt idx="1">
                  <c:v>652</c:v>
                </c:pt>
              </c:numCache>
            </c:numRef>
          </c:val>
        </c:ser>
        <c:dLbls>
          <c:numFmt formatCode="#,##0;;;" sourceLinked="0"/>
          <c:txPr>
            <a:bodyPr/>
            <a:lstStyle/>
            <a:p>
              <a:pPr>
                <a:defRPr b="1" i="0" strike="noStrike" sz="1400" u="none">
                  <a:solidFill>
                    <a:srgbClr val="1F2328"/>
                  </a:solidFill>
                  <a:latin typeface="+mn-lt"/>
                </a:defRPr>
              </a:pPr>
            </a:p>
          </c:txPr>
          <c:dLblPos val="ct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300" b="0" i="0" u="none" strike="noStrike">
                <a:solidFill>
                  <a:srgbClr val="1F2328"/>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300">
              <a:solidFill>
                <a:srgbClr val="1F2328"/>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Highest recall (tags with 25 or more test questions)</a:t>
            </a:r>
          </a:p>
        </c:rich>
      </c:tx>
      <c:layout/>
      <c:overlay val="0"/>
    </c:title>
    <c:autoTitleDeleted val="0"/>
    <c:plotArea>
      <c:layout/>
      <c:barChart>
        <c:barDir val="bar"/>
        <c:grouping val="clustered"/>
        <c:varyColors val="0"/>
        <c:ser>
          <c:idx val="0"/>
          <c:order val="0"/>
          <c:tx>
            <c:strRef>
              <c:f>Sheet1!$B$1</c:f>
              <c:strCache>
                <c:ptCount val="1"/>
                <c:pt idx="0">
                  <c:v>value</c:v>
                </c:pt>
              </c:strCache>
            </c:strRef>
          </c:tx>
          <c:spPr>
            <a:solidFill>
              <a:srgbClr val="2A78D6"/>
            </a:solidFill>
            <a:effectLst/>
          </c:spPr>
          <c:invertIfNegative val="0"/>
          <c:dLbls>
            <c:numFmt formatCode="0%" sourceLinked="0"/>
            <c:txPr>
              <a:bodyPr/>
              <a:lstStyle/>
              <a:p>
                <a:pPr>
                  <a:defRPr b="0" i="0" strike="noStrike" sz="1200" u="none">
                    <a:solidFill>
                      <a:srgbClr val="1F2328"/>
                    </a:solidFill>
                    <a:latin typeface="+mn-lt"/>
                  </a:defRPr>
                </a:pPr>
              </a:p>
            </c:txPr>
            <c:showLegendKey val="0"/>
            <c:showVal val="1"/>
            <c:showCatName val="0"/>
            <c:showSerName val="0"/>
            <c:showPercent val="0"/>
            <c:showBubbleSize val="0"/>
            <c:showLeaderLines val="0"/>
          </c:dLbls>
          <c:dPt>
            <c:idx val="0"/>
            <c:invertIfNegative val="0"/>
            <c:bubble3D val="0"/>
            <c:spPr>
              <a:solidFill>
                <a:srgbClr val="2A78D6"/>
              </a:solidFill>
              <a:effectLst/>
            </c:spPr>
          </c:dPt>
          <c:dPt>
            <c:idx val="1"/>
            <c:invertIfNegative val="0"/>
            <c:bubble3D val="0"/>
            <c:spPr>
              <a:solidFill>
                <a:srgbClr val="2A78D6"/>
              </a:solidFill>
              <a:effectLst/>
            </c:spPr>
          </c:dPt>
          <c:dPt>
            <c:idx val="2"/>
            <c:invertIfNegative val="0"/>
            <c:bubble3D val="0"/>
            <c:spPr>
              <a:solidFill>
                <a:srgbClr val="2A78D6"/>
              </a:solidFill>
              <a:effectLst/>
            </c:spPr>
          </c:dPt>
          <c:dPt>
            <c:idx val="3"/>
            <c:invertIfNegative val="0"/>
            <c:bubble3D val="0"/>
            <c:spPr>
              <a:solidFill>
                <a:srgbClr val="2A78D6"/>
              </a:solidFill>
              <a:effectLst/>
            </c:spPr>
          </c:dPt>
          <c:dPt>
            <c:idx val="4"/>
            <c:invertIfNegative val="0"/>
            <c:bubble3D val="0"/>
            <c:spPr>
              <a:solidFill>
                <a:srgbClr val="2A78D6"/>
              </a:solidFill>
              <a:effectLst/>
            </c:spPr>
          </c:dPt>
          <c:dPt>
            <c:idx val="5"/>
            <c:invertIfNegative val="0"/>
            <c:bubble3D val="0"/>
            <c:spPr>
              <a:solidFill>
                <a:srgbClr val="2A78D6"/>
              </a:solidFill>
              <a:effectLst/>
            </c:spPr>
          </c:dPt>
          <c:dPt>
            <c:idx val="6"/>
            <c:invertIfNegative val="0"/>
            <c:bubble3D val="0"/>
            <c:spPr>
              <a:solidFill>
                <a:srgbClr val="2A78D6"/>
              </a:solidFill>
              <a:effectLst/>
            </c:spPr>
          </c:dPt>
          <c:dPt>
            <c:idx val="7"/>
            <c:invertIfNegative val="0"/>
            <c:bubble3D val="0"/>
            <c:spPr>
              <a:solidFill>
                <a:srgbClr val="2A78D6"/>
              </a:solidFill>
              <a:effectLst/>
            </c:spPr>
          </c:dPt>
          <c:cat>
            <c:multiLvlStrRef>
              <c:f>Sheet1!$A$2:$A$9</c:f>
              <c:multiLvlStrCache>
                <c:ptCount val="8"/>
                <c:lvl>
                  <c:pt idx="0">
                    <c:v>json</c:v>
                  </c:pt>
                  <c:pt idx="1">
                    <c:v>git</c:v>
                  </c:pt>
                  <c:pt idx="2">
                    <c:v>eclipse</c:v>
                  </c:pt>
                  <c:pt idx="3">
                    <c:v>django</c:v>
                  </c:pt>
                  <c:pt idx="4">
                    <c:v>svn</c:v>
                  </c:pt>
                  <c:pt idx="5">
                    <c:v>sqlite</c:v>
                  </c:pt>
                  <c:pt idx="6">
                    <c:v>ruby-on-rails</c:v>
                  </c:pt>
                  <c:pt idx="7">
                    <c:v>vim</c:v>
                  </c:pt>
                </c:lvl>
              </c:multiLvlStrCache>
            </c:multiLvlStrRef>
          </c:cat>
          <c:val>
            <c:numRef>
              <c:f>Sheet1!$B$2:$B$9</c:f>
              <c:numCache>
                <c:formatCode>General</c:formatCode>
                <c:ptCount val="8"/>
                <c:pt idx="0">
                  <c:v>0.8863636363636364</c:v>
                </c:pt>
                <c:pt idx="1">
                  <c:v>0.8705882352941177</c:v>
                </c:pt>
                <c:pt idx="2">
                  <c:v>0.8307692307692308</c:v>
                </c:pt>
                <c:pt idx="3">
                  <c:v>0.7971014492753623</c:v>
                </c:pt>
                <c:pt idx="4">
                  <c:v>0.7959183673469388</c:v>
                </c:pt>
                <c:pt idx="5">
                  <c:v>0.7931034482758621</c:v>
                </c:pt>
                <c:pt idx="6">
                  <c:v>0.7777777777777778</c:v>
                </c:pt>
                <c:pt idx="7">
                  <c:v>0.7627118644067796</c:v>
                </c:pt>
              </c:numCache>
            </c:numRef>
          </c:val>
        </c:ser>
        <c:dLbls>
          <c:numFmt formatCode="0%" sourceLinked="0"/>
          <c:txPr>
            <a:bodyPr/>
            <a:lstStyle/>
            <a:p>
              <a:pPr>
                <a:defRPr b="0" i="0" strike="noStrike" sz="1200" u="none">
                  <a:solidFill>
                    <a:srgbClr val="1F2328"/>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1F2328"/>
                </a:solidFill>
                <a:latin typeface="+mn-lt"/>
              </a:defRPr>
            </a:pPr>
            <a:endParaRPr lang="en-US"/>
          </a:p>
        </c:txPr>
        <c:crossAx val="2094734552"/>
        <c:crosses val="autoZero"/>
        <c:auto val="1"/>
        <c:lblAlgn val="ctr"/>
        <c:noMultiLvlLbl val="1"/>
      </c:catAx>
      <c:valAx>
        <c:axId val="2094734552"/>
        <c:scaling>
          <c:orientation val="minMax"/>
          <c:max val="1.08"/>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The eight most common tags overall</a:t>
            </a:r>
          </a:p>
        </c:rich>
      </c:tx>
      <c:layout/>
      <c:overlay val="0"/>
    </c:title>
    <c:autoTitleDeleted val="0"/>
    <c:plotArea>
      <c:layout/>
      <c:barChart>
        <c:barDir val="bar"/>
        <c:grouping val="clustered"/>
        <c:varyColors val="0"/>
        <c:ser>
          <c:idx val="0"/>
          <c:order val="0"/>
          <c:tx>
            <c:strRef>
              <c:f>Sheet1!$B$1</c:f>
              <c:strCache>
                <c:ptCount val="1"/>
                <c:pt idx="0">
                  <c:v>value</c:v>
                </c:pt>
              </c:strCache>
            </c:strRef>
          </c:tx>
          <c:spPr>
            <a:solidFill>
              <a:srgbClr val="EB6834"/>
            </a:solidFill>
            <a:effectLst/>
          </c:spPr>
          <c:invertIfNegative val="0"/>
          <c:dLbls>
            <c:numFmt formatCode="0%" sourceLinked="0"/>
            <c:txPr>
              <a:bodyPr/>
              <a:lstStyle/>
              <a:p>
                <a:pPr>
                  <a:defRPr b="0" i="0" strike="noStrike" sz="1200" u="none">
                    <a:solidFill>
                      <a:srgbClr val="1F2328"/>
                    </a:solidFill>
                    <a:latin typeface="+mn-lt"/>
                  </a:defRPr>
                </a:pPr>
              </a:p>
            </c:txPr>
            <c:showLegendKey val="0"/>
            <c:showVal val="1"/>
            <c:showCatName val="0"/>
            <c:showSerName val="0"/>
            <c:showPercent val="0"/>
            <c:showBubbleSize val="0"/>
            <c:showLeaderLines val="0"/>
          </c:dLbls>
          <c:dPt>
            <c:idx val="0"/>
            <c:invertIfNegative val="0"/>
            <c:bubble3D val="0"/>
            <c:spPr>
              <a:solidFill>
                <a:srgbClr val="EB6834"/>
              </a:solidFill>
              <a:effectLst/>
            </c:spPr>
          </c:dPt>
          <c:dPt>
            <c:idx val="1"/>
            <c:invertIfNegative val="0"/>
            <c:bubble3D val="0"/>
            <c:spPr>
              <a:solidFill>
                <a:srgbClr val="C3C2B7"/>
              </a:solidFill>
              <a:effectLst/>
            </c:spPr>
          </c:dPt>
          <c:dPt>
            <c:idx val="2"/>
            <c:invertIfNegative val="0"/>
            <c:bubble3D val="0"/>
            <c:spPr>
              <a:solidFill>
                <a:srgbClr val="C3C2B7"/>
              </a:solidFill>
              <a:effectLst/>
            </c:spPr>
          </c:dPt>
          <c:dPt>
            <c:idx val="3"/>
            <c:invertIfNegative val="0"/>
            <c:bubble3D val="0"/>
            <c:spPr>
              <a:solidFill>
                <a:srgbClr val="C3C2B7"/>
              </a:solidFill>
              <a:effectLst/>
            </c:spPr>
          </c:dPt>
          <c:dPt>
            <c:idx val="4"/>
            <c:invertIfNegative val="0"/>
            <c:bubble3D val="0"/>
            <c:spPr>
              <a:solidFill>
                <a:srgbClr val="EB6834"/>
              </a:solidFill>
              <a:effectLst/>
            </c:spPr>
          </c:dPt>
          <c:dPt>
            <c:idx val="5"/>
            <c:invertIfNegative val="0"/>
            <c:bubble3D val="0"/>
            <c:spPr>
              <a:solidFill>
                <a:srgbClr val="EB6834"/>
              </a:solidFill>
              <a:effectLst/>
            </c:spPr>
          </c:dPt>
          <c:dPt>
            <c:idx val="6"/>
            <c:invertIfNegative val="0"/>
            <c:bubble3D val="0"/>
            <c:spPr>
              <a:solidFill>
                <a:srgbClr val="C3C2B7"/>
              </a:solidFill>
              <a:effectLst/>
            </c:spPr>
          </c:dPt>
          <c:dPt>
            <c:idx val="7"/>
            <c:invertIfNegative val="0"/>
            <c:bubble3D val="0"/>
            <c:spPr>
              <a:solidFill>
                <a:srgbClr val="C3C2B7"/>
              </a:solidFill>
              <a:effectLst/>
            </c:spPr>
          </c:dPt>
          <c:cat>
            <c:multiLvlStrRef>
              <c:f>Sheet1!$A$2:$A$9</c:f>
              <c:multiLvlStrCache>
                <c:ptCount val="8"/>
                <c:lvl>
                  <c:pt idx="0">
                    <c:v>c#</c:v>
                  </c:pt>
                  <c:pt idx="1">
                    <c:v>java</c:v>
                  </c:pt>
                  <c:pt idx="2">
                    <c:v>javascript</c:v>
                  </c:pt>
                  <c:pt idx="3">
                    <c:v>python</c:v>
                  </c:pt>
                  <c:pt idx="4">
                    <c:v>.net</c:v>
                  </c:pt>
                  <c:pt idx="5">
                    <c:v>c++</c:v>
                  </c:pt>
                  <c:pt idx="6">
                    <c:v>jquery</c:v>
                  </c:pt>
                  <c:pt idx="7">
                    <c:v>php</c:v>
                  </c:pt>
                </c:lvl>
              </c:multiLvlStrCache>
            </c:multiLvlStrRef>
          </c:cat>
          <c:val>
            <c:numRef>
              <c:f>Sheet1!$B$2:$B$9</c:f>
              <c:numCache>
                <c:formatCode>General</c:formatCode>
                <c:ptCount val="8"/>
                <c:pt idx="0">
                  <c:v>0.3065326633165829</c:v>
                </c:pt>
                <c:pt idx="1">
                  <c:v>0.5747899159663865</c:v>
                </c:pt>
                <c:pt idx="2">
                  <c:v>0.5536480686695279</c:v>
                </c:pt>
                <c:pt idx="3">
                  <c:v>0.6866666666666666</c:v>
                </c:pt>
                <c:pt idx="4">
                  <c:v>0.25496688741721857</c:v>
                </c:pt>
                <c:pt idx="5">
                  <c:v>0.23404255319148937</c:v>
                </c:pt>
                <c:pt idx="6">
                  <c:v>0.6926605504587156</c:v>
                </c:pt>
                <c:pt idx="7">
                  <c:v>0.6271186440677966</c:v>
                </c:pt>
              </c:numCache>
            </c:numRef>
          </c:val>
        </c:ser>
        <c:dLbls>
          <c:numFmt formatCode="0%" sourceLinked="0"/>
          <c:txPr>
            <a:bodyPr/>
            <a:lstStyle/>
            <a:p>
              <a:pPr>
                <a:defRPr b="0" i="0" strike="noStrike" sz="1200" u="none">
                  <a:solidFill>
                    <a:srgbClr val="1F2328"/>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1F2328"/>
                </a:solidFill>
                <a:latin typeface="+mn-lt"/>
              </a:defRPr>
            </a:pPr>
            <a:endParaRPr lang="en-US"/>
          </a:p>
        </c:txPr>
        <c:crossAx val="2094734552"/>
        <c:crosses val="autoZero"/>
        <c:auto val="1"/>
        <c:lblAlgn val="ctr"/>
        <c:noMultiLvlLbl val="1"/>
      </c:catAx>
      <c:valAx>
        <c:axId val="2094734552"/>
        <c:scaling>
          <c:orientation val="minMax"/>
          <c:max val="1.08"/>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Recall for language tags</a:t>
            </a:r>
          </a:p>
        </c:rich>
      </c:tx>
      <c:layout/>
      <c:overlay val="0"/>
    </c:title>
    <c:autoTitleDeleted val="0"/>
    <c:plotArea>
      <c:layout/>
      <c:barChart>
        <c:barDir val="bar"/>
        <c:grouping val="clustered"/>
        <c:varyColors val="0"/>
        <c:ser>
          <c:idx val="0"/>
          <c:order val="0"/>
          <c:tx>
            <c:strRef>
              <c:f>Sheet1!$B$1</c:f>
              <c:strCache>
                <c:ptCount val="1"/>
                <c:pt idx="0">
                  <c:v>value</c:v>
                </c:pt>
              </c:strCache>
            </c:strRef>
          </c:tx>
          <c:spPr>
            <a:solidFill>
              <a:srgbClr val="C3C2B7"/>
            </a:solidFill>
            <a:effectLst/>
          </c:spPr>
          <c:invertIfNegative val="0"/>
          <c:dLbls>
            <c:numFmt formatCode="0%" sourceLinked="0"/>
            <c:txPr>
              <a:bodyPr/>
              <a:lstStyle/>
              <a:p>
                <a:pPr>
                  <a:defRPr b="0" i="0" strike="noStrike" sz="1200" u="none">
                    <a:solidFill>
                      <a:srgbClr val="1F2328"/>
                    </a:solidFill>
                    <a:latin typeface="+mn-lt"/>
                  </a:defRPr>
                </a:pPr>
              </a:p>
            </c:txPr>
            <c:showLegendKey val="0"/>
            <c:showVal val="1"/>
            <c:showCatName val="0"/>
            <c:showSerName val="0"/>
            <c:showPercent val="0"/>
            <c:showBubbleSize val="0"/>
            <c:showLeaderLines val="0"/>
          </c:dLbls>
          <c:dPt>
            <c:idx val="0"/>
            <c:invertIfNegative val="0"/>
            <c:bubble3D val="0"/>
            <c:spPr>
              <a:solidFill>
                <a:srgbClr val="C3C2B7"/>
              </a:solidFill>
              <a:effectLst/>
            </c:spPr>
          </c:dPt>
          <c:dPt>
            <c:idx val="1"/>
            <c:invertIfNegative val="0"/>
            <c:bubble3D val="0"/>
            <c:spPr>
              <a:solidFill>
                <a:srgbClr val="C3C2B7"/>
              </a:solidFill>
              <a:effectLst/>
            </c:spPr>
          </c:dPt>
          <c:dPt>
            <c:idx val="2"/>
            <c:invertIfNegative val="0"/>
            <c:bubble3D val="0"/>
            <c:spPr>
              <a:solidFill>
                <a:srgbClr val="C3C2B7"/>
              </a:solidFill>
              <a:effectLst/>
            </c:spPr>
          </c:dPt>
          <c:dPt>
            <c:idx val="3"/>
            <c:invertIfNegative val="0"/>
            <c:bubble3D val="0"/>
            <c:spPr>
              <a:solidFill>
                <a:srgbClr val="C3C2B7"/>
              </a:solidFill>
              <a:effectLst/>
            </c:spPr>
          </c:dPt>
          <c:dPt>
            <c:idx val="4"/>
            <c:invertIfNegative val="0"/>
            <c:bubble3D val="0"/>
            <c:spPr>
              <a:solidFill>
                <a:srgbClr val="EB6834"/>
              </a:solidFill>
              <a:effectLst/>
            </c:spPr>
          </c:dPt>
          <c:dPt>
            <c:idx val="5"/>
            <c:invertIfNegative val="0"/>
            <c:bubble3D val="0"/>
            <c:spPr>
              <a:solidFill>
                <a:srgbClr val="EB6834"/>
              </a:solidFill>
              <a:effectLst/>
            </c:spPr>
          </c:dPt>
          <c:dPt>
            <c:idx val="6"/>
            <c:invertIfNegative val="0"/>
            <c:bubble3D val="0"/>
            <c:spPr>
              <a:solidFill>
                <a:srgbClr val="EB6834"/>
              </a:solidFill>
              <a:effectLst/>
            </c:spPr>
          </c:dPt>
          <c:cat>
            <c:multiLvlStrRef>
              <c:f>Sheet1!$A$2:$A$8</c:f>
              <c:multiLvlStrCache>
                <c:ptCount val="7"/>
                <c:lvl>
                  <c:pt idx="0">
                    <c:v>python</c:v>
                  </c:pt>
                  <c:pt idx="1">
                    <c:v>php</c:v>
                  </c:pt>
                  <c:pt idx="2">
                    <c:v>java</c:v>
                  </c:pt>
                  <c:pt idx="3">
                    <c:v>javascript</c:v>
                  </c:pt>
                  <c:pt idx="4">
                    <c:v>c#</c:v>
                  </c:pt>
                  <c:pt idx="5">
                    <c:v>c++</c:v>
                  </c:pt>
                  <c:pt idx="6">
                    <c:v>c</c:v>
                  </c:pt>
                </c:lvl>
              </c:multiLvlStrCache>
            </c:multiLvlStrRef>
          </c:cat>
          <c:val>
            <c:numRef>
              <c:f>Sheet1!$B$2:$B$8</c:f>
              <c:numCache>
                <c:formatCode>General</c:formatCode>
                <c:ptCount val="7"/>
                <c:pt idx="0">
                  <c:v>0.6866666666666666</c:v>
                </c:pt>
                <c:pt idx="1">
                  <c:v>0.6271186440677966</c:v>
                </c:pt>
                <c:pt idx="2">
                  <c:v>0.5747899159663865</c:v>
                </c:pt>
                <c:pt idx="3">
                  <c:v>0.5536480686695279</c:v>
                </c:pt>
                <c:pt idx="4">
                  <c:v>0.3065326633165829</c:v>
                </c:pt>
                <c:pt idx="5">
                  <c:v>0.23404255319148937</c:v>
                </c:pt>
                <c:pt idx="6">
                  <c:v>0.09933774834437085</c:v>
                </c:pt>
              </c:numCache>
            </c:numRef>
          </c:val>
        </c:ser>
        <c:dLbls>
          <c:numFmt formatCode="0%" sourceLinked="0"/>
          <c:txPr>
            <a:bodyPr/>
            <a:lstStyle/>
            <a:p>
              <a:pPr>
                <a:defRPr b="0" i="0" strike="noStrike" sz="1200" u="none">
                  <a:solidFill>
                    <a:srgbClr val="1F2328"/>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300" b="0" i="0" u="none" strike="noStrike">
                <a:solidFill>
                  <a:srgbClr val="1F2328"/>
                </a:solidFill>
                <a:latin typeface="+mn-lt"/>
              </a:defRPr>
            </a:pPr>
            <a:endParaRPr lang="en-US"/>
          </a:p>
        </c:txPr>
        <c:crossAx val="2094734552"/>
        <c:crosses val="autoZero"/>
        <c:auto val="1"/>
        <c:lblAlgn val="ctr"/>
        <c:noMultiLvlLbl val="1"/>
      </c:catAx>
      <c:valAx>
        <c:axId val="2094734552"/>
        <c:scaling>
          <c:orientation val="minMax"/>
          <c:max val="0.82"/>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143000"/>
            <a:ext cx="6035040" cy="210312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640080" y="3429000"/>
            <a:ext cx="6035040" cy="457200"/>
          </a:xfrm>
          <a:prstGeom prst="rect">
            <a:avLst/>
          </a:prstGeom>
          <a:noFill/>
          <a:ln/>
        </p:spPr>
        <p:txBody>
          <a:bodyPr wrap="square" rtlCol="0"/>
          <a:lstStyle>
            <a:lvl1pPr algn="l" indent="0" marL="0">
              <a:buNone/>
              <a:defRPr lang="en-US" sz="1800" dirty="0">
                <a:solidFill>
                  <a:schemeClr val="bg2"/>
                </a:solidFill>
              </a:defRPr>
            </a:lvl1pPr>
          </a:lstStyle>
          <a:p>
            <a:pPr algn="l" indent="0" marL="0">
              <a:buNone/>
            </a:pPr>
            <a:endParaRPr lang="en-US" sz="1800" dirty="0"/>
          </a:p>
        </p:txBody>
      </p:sp>
      <p:sp>
        <p:nvSpPr>
          <p:cNvPr id="4" name="Text 0"/>
          <p:cNvSpPr/>
          <p:nvPr>
            <p:ph idx="102" type="body" hasCustomPrompt="1"/>
          </p:nvPr>
        </p:nvSpPr>
        <p:spPr>
          <a:xfrm>
            <a:off x="640080" y="3931920"/>
            <a:ext cx="6035040" cy="457200"/>
          </a:xfrm>
          <a:prstGeom prst="rect">
            <a:avLst/>
          </a:prstGeom>
          <a:noFill/>
          <a:ln/>
        </p:spPr>
        <p:txBody>
          <a:bodyPr wrap="square" rtlCol="0"/>
          <a:lstStyle>
            <a:lvl1pPr algn="l" indent="0" marL="0">
              <a:buNone/>
              <a:defRPr lang="en-US" sz="1800" b="1" dirty="0">
                <a:solidFill>
                  <a:schemeClr val="bg1"/>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endParaRPr lang="en-US" sz="3000" dirty="0"/>
          </a:p>
        </p:txBody>
      </p:sp>
      <p:sp>
        <p:nvSpPr>
          <p:cNvPr id="3" name="Text 0"/>
          <p:cNvSpPr/>
          <p:nvPr>
            <p:ph idx="101" type="body" hasCustomPrompt="1"/>
          </p:nvPr>
        </p:nvSpPr>
        <p:spPr>
          <a:xfrm>
            <a:off x="548640" y="987552"/>
            <a:ext cx="11064240" cy="411480"/>
          </a:xfrm>
          <a:prstGeom prst="rect">
            <a:avLst/>
          </a:prstGeom>
          <a:noFill/>
          <a:ln/>
        </p:spPr>
        <p:txBody>
          <a:bodyPr wrap="square" rtlCol="0"/>
          <a:lstStyle>
            <a:lvl1pPr algn="l" indent="0" marL="0">
              <a:buNone/>
              <a:defRPr lang="en-US" sz="1600" dirty="0">
                <a:solidFill>
                  <a:schemeClr val="accent6"/>
                </a:solidFill>
              </a:defRPr>
            </a:lvl1pPr>
          </a:lstStyle>
          <a:p>
            <a:pPr algn="l" indent="0" marL="0">
              <a:buNone/>
            </a:pPr>
            <a:endParaRPr lang="en-US" sz="1600" dirty="0"/>
          </a:p>
        </p:txBody>
      </p:sp>
      <p:sp>
        <p:nvSpPr>
          <p:cNvPr id="4"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chemeClr val="accent6"/>
                </a:solidFill>
              </a:rPr>
              <a:t>Garreth Cline  |  Predicting Stack Overflow tags from titles  |  Metis, February 2021</a:t>
            </a:r>
            <a:endParaRPr lang="en-US" sz="10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3" name="Text 0"/>
          <p:cNvSpPr/>
          <p:nvPr>
            <p:ph idx="101" type="body" hasCustomPrompt="1"/>
          </p:nvPr>
        </p:nvSpPr>
        <p:spPr>
          <a:xfrm>
            <a:off x="548640" y="987552"/>
            <a:ext cx="11064240" cy="411480"/>
          </a:xfrm>
          <a:prstGeom prst="rect">
            <a:avLst/>
          </a:prstGeom>
          <a:noFill/>
          <a:ln/>
        </p:spPr>
        <p:txBody>
          <a:bodyPr wrap="square" rtlCol="0"/>
          <a:lstStyle>
            <a:lvl1pPr algn="l" indent="0" marL="0">
              <a:buNone/>
              <a:defRPr lang="en-US" sz="1600" dirty="0">
                <a:solidFill>
                  <a:schemeClr val="bg2"/>
                </a:solidFill>
              </a:defRPr>
            </a:lvl1pPr>
          </a:lstStyle>
          <a:p>
            <a:pPr algn="l" indent="0" marL="0">
              <a:buNone/>
            </a:pPr>
            <a:endParaRPr lang="en-US" sz="16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chart" Target="/ppt/charts/chart6.xml"/><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4.xml"/><Relationship Id="rId7"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1143000"/>
            <a:ext cx="6035040" cy="2103120"/>
          </a:xfrm>
          <a:prstGeom prst="rect">
            <a:avLst/>
          </a:prstGeom>
          <a:noFill/>
          <a:ln/>
        </p:spPr>
        <p:txBody>
          <a:bodyPr wrap="square" lIns="0" tIns="0" rIns="0" bIns="0" rtlCol="0" anchor="b"/>
          <a:lstStyle/>
          <a:p>
            <a:pPr algn="l" indent="0" marL="0">
              <a:buNone/>
            </a:pPr>
            <a:r>
              <a:rPr lang="en-US" sz="4000" b="1" dirty="0">
                <a:solidFill>
                  <a:schemeClr val="bg1"/>
                </a:solidFill>
              </a:rPr>
              <a:t>Predicting Stack Overflow Tags from Question Titles</a:t>
            </a:r>
            <a:endParaRPr lang="en-US" sz="4000" dirty="0"/>
          </a:p>
        </p:txBody>
      </p:sp>
      <p:sp>
        <p:nvSpPr>
          <p:cNvPr id="3" name="Text 0"/>
          <p:cNvSpPr/>
          <p:nvPr>
            <p:ph idx="101" type="body" hasCustomPrompt="1"/>
          </p:nvPr>
        </p:nvSpPr>
        <p:spPr>
          <a:xfrm>
            <a:off x="640080" y="3429000"/>
            <a:ext cx="6035040" cy="457200"/>
          </a:xfrm>
          <a:prstGeom prst="rect">
            <a:avLst/>
          </a:prstGeom>
          <a:noFill/>
          <a:ln/>
        </p:spPr>
        <p:txBody>
          <a:bodyPr wrap="square" lIns="0" tIns="0" rIns="0" bIns="0" rtlCol="0"/>
          <a:lstStyle/>
          <a:p>
            <a:pPr algn="l" indent="0" marL="0">
              <a:buNone/>
            </a:pPr>
            <a:r>
              <a:rPr lang="en-US" sz="1800" dirty="0">
                <a:solidFill>
                  <a:schemeClr val="bg2"/>
                </a:solidFill>
              </a:rPr>
              <a:t>Metis Data Science Bootcamp, Project 3, February 2021</a:t>
            </a:r>
            <a:endParaRPr lang="en-US" sz="1800" dirty="0"/>
          </a:p>
        </p:txBody>
      </p:sp>
      <p:sp>
        <p:nvSpPr>
          <p:cNvPr id="4" name="Text 0"/>
          <p:cNvSpPr/>
          <p:nvPr>
            <p:ph idx="102" type="body" hasCustomPrompt="1"/>
          </p:nvPr>
        </p:nvSpPr>
        <p:spPr>
          <a:xfrm>
            <a:off x="640080" y="3931920"/>
            <a:ext cx="6035040" cy="457200"/>
          </a:xfrm>
          <a:prstGeom prst="rect">
            <a:avLst/>
          </a:prstGeom>
          <a:noFill/>
          <a:ln/>
        </p:spPr>
        <p:txBody>
          <a:bodyPr wrap="square" lIns="0" tIns="0" rIns="0" bIns="0" rtlCol="0"/>
          <a:lstStyle/>
          <a:p>
            <a:pPr algn="l" indent="0" marL="0">
              <a:buNone/>
            </a:pPr>
            <a:r>
              <a:rPr lang="en-US" sz="1800" b="1" dirty="0">
                <a:solidFill>
                  <a:schemeClr val="bg1"/>
                </a:solidFill>
              </a:rPr>
              <a:t>Garreth Cline</a:t>
            </a:r>
            <a:endParaRPr lang="en-US" sz="1800" dirty="0"/>
          </a:p>
        </p:txBody>
      </p:sp>
      <p:sp>
        <p:nvSpPr>
          <p:cNvPr id="5" name="question card"/>
          <p:cNvSpPr/>
          <p:nvPr/>
        </p:nvSpPr>
        <p:spPr>
          <a:xfrm>
            <a:off x="7223760" y="1234440"/>
            <a:ext cx="4434840" cy="2240280"/>
          </a:xfrm>
          <a:prstGeom prst="roundRect">
            <a:avLst>
              <a:gd name="adj" fmla="val 4082"/>
            </a:avLst>
          </a:prstGeom>
          <a:solidFill>
            <a:schemeClr val="bg1">
              <a:alpha val="9000"/>
            </a:schemeClr>
          </a:solidFill>
          <a:ln/>
        </p:spPr>
      </p:sp>
      <p:sp>
        <p:nvSpPr>
          <p:cNvPr id="6" name="Text 4"/>
          <p:cNvSpPr txBox="1"/>
          <p:nvPr/>
        </p:nvSpPr>
        <p:spPr>
          <a:xfrm>
            <a:off x="7498080" y="1417320"/>
            <a:ext cx="3931920" cy="274320"/>
          </a:xfrm>
          <a:prstGeom prst="rect">
            <a:avLst/>
          </a:prstGeom>
          <a:noFill/>
          <a:ln/>
        </p:spPr>
        <p:txBody>
          <a:bodyPr wrap="square" lIns="0" tIns="0" rIns="0" bIns="0" rtlCol="0" anchor="t"/>
          <a:lstStyle/>
          <a:p>
            <a:pPr indent="0" marL="0">
              <a:buNone/>
            </a:pPr>
            <a:r>
              <a:rPr lang="en-US" sz="1200" dirty="0">
                <a:solidFill>
                  <a:schemeClr val="bg2"/>
                </a:solidFill>
              </a:rPr>
              <a:t>A question from the data, with its tags</a:t>
            </a:r>
            <a:endParaRPr lang="en-US" sz="1200" dirty="0"/>
          </a:p>
        </p:txBody>
      </p:sp>
      <p:sp>
        <p:nvSpPr>
          <p:cNvPr id="7" name="Text 5"/>
          <p:cNvSpPr txBox="1"/>
          <p:nvPr/>
        </p:nvSpPr>
        <p:spPr>
          <a:xfrm>
            <a:off x="7498080" y="1783080"/>
            <a:ext cx="3931920" cy="868680"/>
          </a:xfrm>
          <a:prstGeom prst="rect">
            <a:avLst/>
          </a:prstGeom>
          <a:noFill/>
          <a:ln/>
        </p:spPr>
        <p:txBody>
          <a:bodyPr wrap="square" lIns="0" tIns="0" rIns="0" bIns="0" rtlCol="0" anchor="t"/>
          <a:lstStyle/>
          <a:p>
            <a:pPr indent="0" marL="0">
              <a:buNone/>
            </a:pPr>
            <a:r>
              <a:rPr lang="en-US" sz="2200" b="1" dirty="0">
                <a:solidFill>
                  <a:schemeClr val="bg1"/>
                </a:solidFill>
              </a:rPr>
              <a:t>How do I calculate someone’s age in C#?</a:t>
            </a:r>
            <a:endParaRPr lang="en-US" sz="2200" dirty="0"/>
          </a:p>
        </p:txBody>
      </p:sp>
      <p:sp>
        <p:nvSpPr>
          <p:cNvPr id="8" name="chip c#"/>
          <p:cNvSpPr/>
          <p:nvPr/>
        </p:nvSpPr>
        <p:spPr>
          <a:xfrm>
            <a:off x="7498080" y="2834640"/>
            <a:ext cx="438180" cy="329184"/>
          </a:xfrm>
          <a:prstGeom prst="roundRect">
            <a:avLst>
              <a:gd name="adj" fmla="val 16667"/>
            </a:avLst>
          </a:prstGeom>
          <a:solidFill>
            <a:schemeClr val="accent4"/>
          </a:solidFill>
          <a:ln/>
        </p:spPr>
        <p:txBody>
          <a:bodyPr wrap="square" lIns="0" tIns="0" rIns="0" bIns="0" rtlCol="0" anchor="ctr"/>
          <a:lstStyle/>
          <a:p>
            <a:pPr algn="ctr" indent="0" marL="0">
              <a:buNone/>
            </a:pPr>
            <a:r>
              <a:rPr lang="en-US" sz="1400" dirty="0">
                <a:solidFill>
                  <a:schemeClr val="accent5"/>
                </a:solidFill>
              </a:rPr>
              <a:t>c#</a:t>
            </a:r>
            <a:endParaRPr lang="en-US" sz="1400" dirty="0"/>
          </a:p>
        </p:txBody>
      </p:sp>
      <p:sp>
        <p:nvSpPr>
          <p:cNvPr id="9" name="chip .net"/>
          <p:cNvSpPr/>
          <p:nvPr/>
        </p:nvSpPr>
        <p:spPr>
          <a:xfrm>
            <a:off x="8045988" y="2834640"/>
            <a:ext cx="602041" cy="329184"/>
          </a:xfrm>
          <a:prstGeom prst="roundRect">
            <a:avLst>
              <a:gd name="adj" fmla="val 16667"/>
            </a:avLst>
          </a:prstGeom>
          <a:solidFill>
            <a:schemeClr val="accent4"/>
          </a:solidFill>
          <a:ln/>
        </p:spPr>
        <p:txBody>
          <a:bodyPr wrap="square" lIns="0" tIns="0" rIns="0" bIns="0" rtlCol="0" anchor="ctr"/>
          <a:lstStyle/>
          <a:p>
            <a:pPr algn="ctr" indent="0" marL="0">
              <a:buNone/>
            </a:pPr>
            <a:r>
              <a:rPr lang="en-US" sz="1400" dirty="0">
                <a:solidFill>
                  <a:schemeClr val="accent5"/>
                </a:solidFill>
              </a:rPr>
              <a:t>.net</a:t>
            </a:r>
            <a:endParaRPr lang="en-US" sz="1400" dirty="0"/>
          </a:p>
        </p:txBody>
      </p:sp>
      <p:sp>
        <p:nvSpPr>
          <p:cNvPr id="10" name="chip datetime"/>
          <p:cNvSpPr/>
          <p:nvPr/>
        </p:nvSpPr>
        <p:spPr>
          <a:xfrm>
            <a:off x="8757757" y="2834640"/>
            <a:ext cx="929762" cy="329184"/>
          </a:xfrm>
          <a:prstGeom prst="roundRect">
            <a:avLst>
              <a:gd name="adj" fmla="val 16667"/>
            </a:avLst>
          </a:prstGeom>
          <a:solidFill>
            <a:schemeClr val="accent4"/>
          </a:solidFill>
          <a:ln/>
        </p:spPr>
        <p:txBody>
          <a:bodyPr wrap="square" lIns="0" tIns="0" rIns="0" bIns="0" rtlCol="0" anchor="ctr"/>
          <a:lstStyle/>
          <a:p>
            <a:pPr algn="ctr" indent="0" marL="0">
              <a:buNone/>
            </a:pPr>
            <a:r>
              <a:rPr lang="en-US" sz="1400" dirty="0">
                <a:solidFill>
                  <a:schemeClr val="accent5"/>
                </a:solidFill>
              </a:rPr>
              <a:t>datetime</a:t>
            </a:r>
            <a:endParaRPr lang="en-US" sz="1400" dirty="0"/>
          </a:p>
        </p:txBody>
      </p:sp>
      <p:sp>
        <p:nvSpPr>
          <p:cNvPr id="11" name="Text 9"/>
          <p:cNvSpPr txBox="1"/>
          <p:nvPr/>
        </p:nvSpPr>
        <p:spPr>
          <a:xfrm>
            <a:off x="7223760" y="3886200"/>
            <a:ext cx="4434840" cy="274320"/>
          </a:xfrm>
          <a:prstGeom prst="rect">
            <a:avLst/>
          </a:prstGeom>
          <a:noFill/>
          <a:ln/>
        </p:spPr>
        <p:txBody>
          <a:bodyPr wrap="square" lIns="0" tIns="0" rIns="0" bIns="0" rtlCol="0" anchor="t"/>
          <a:lstStyle/>
          <a:p>
            <a:pPr indent="0" marL="0">
              <a:buNone/>
            </a:pPr>
            <a:r>
              <a:rPr lang="en-US" sz="1200" dirty="0">
                <a:solidFill>
                  <a:schemeClr val="bg2"/>
                </a:solidFill>
              </a:rPr>
              <a:t>The 10 most common tags</a:t>
            </a:r>
            <a:endParaRPr lang="en-US" sz="1200" dirty="0"/>
          </a:p>
        </p:txBody>
      </p:sp>
      <p:sp>
        <p:nvSpPr>
          <p:cNvPr id="12" name="chip c#"/>
          <p:cNvSpPr/>
          <p:nvPr/>
        </p:nvSpPr>
        <p:spPr>
          <a:xfrm>
            <a:off x="7223760" y="4251960"/>
            <a:ext cx="438180" cy="329184"/>
          </a:xfrm>
          <a:prstGeom prst="roundRect">
            <a:avLst>
              <a:gd name="adj" fmla="val 16667"/>
            </a:avLst>
          </a:prstGeom>
          <a:solidFill>
            <a:schemeClr val="accent4"/>
          </a:solidFill>
          <a:ln/>
        </p:spPr>
        <p:txBody>
          <a:bodyPr wrap="square" lIns="0" tIns="0" rIns="0" bIns="0" rtlCol="0" anchor="ctr"/>
          <a:lstStyle/>
          <a:p>
            <a:pPr algn="ctr" indent="0" marL="0">
              <a:buNone/>
            </a:pPr>
            <a:r>
              <a:rPr lang="en-US" sz="1400" dirty="0">
                <a:solidFill>
                  <a:schemeClr val="accent5"/>
                </a:solidFill>
              </a:rPr>
              <a:t>c#</a:t>
            </a:r>
            <a:endParaRPr lang="en-US" sz="1400" dirty="0"/>
          </a:p>
        </p:txBody>
      </p:sp>
      <p:sp>
        <p:nvSpPr>
          <p:cNvPr id="13" name="chip java"/>
          <p:cNvSpPr/>
          <p:nvPr/>
        </p:nvSpPr>
        <p:spPr>
          <a:xfrm>
            <a:off x="7771668" y="4251960"/>
            <a:ext cx="602041" cy="329184"/>
          </a:xfrm>
          <a:prstGeom prst="roundRect">
            <a:avLst>
              <a:gd name="adj" fmla="val 16667"/>
            </a:avLst>
          </a:prstGeom>
          <a:solidFill>
            <a:schemeClr val="accent4"/>
          </a:solidFill>
          <a:ln/>
        </p:spPr>
        <p:txBody>
          <a:bodyPr wrap="square" lIns="0" tIns="0" rIns="0" bIns="0" rtlCol="0" anchor="ctr"/>
          <a:lstStyle/>
          <a:p>
            <a:pPr algn="ctr" indent="0" marL="0">
              <a:buNone/>
            </a:pPr>
            <a:r>
              <a:rPr lang="en-US" sz="1400" dirty="0">
                <a:solidFill>
                  <a:schemeClr val="accent5"/>
                </a:solidFill>
              </a:rPr>
              <a:t>java</a:t>
            </a:r>
            <a:endParaRPr lang="en-US" sz="1400" dirty="0"/>
          </a:p>
        </p:txBody>
      </p:sp>
      <p:sp>
        <p:nvSpPr>
          <p:cNvPr id="14" name="chip javascript"/>
          <p:cNvSpPr/>
          <p:nvPr/>
        </p:nvSpPr>
        <p:spPr>
          <a:xfrm>
            <a:off x="8483437" y="4251960"/>
            <a:ext cx="1093622" cy="329184"/>
          </a:xfrm>
          <a:prstGeom prst="roundRect">
            <a:avLst>
              <a:gd name="adj" fmla="val 16667"/>
            </a:avLst>
          </a:prstGeom>
          <a:solidFill>
            <a:schemeClr val="accent4"/>
          </a:solidFill>
          <a:ln/>
        </p:spPr>
        <p:txBody>
          <a:bodyPr wrap="square" lIns="0" tIns="0" rIns="0" bIns="0" rtlCol="0" anchor="ctr"/>
          <a:lstStyle/>
          <a:p>
            <a:pPr algn="ctr" indent="0" marL="0">
              <a:buNone/>
            </a:pPr>
            <a:r>
              <a:rPr lang="en-US" sz="1400" dirty="0">
                <a:solidFill>
                  <a:schemeClr val="accent5"/>
                </a:solidFill>
              </a:rPr>
              <a:t>javascript</a:t>
            </a:r>
            <a:endParaRPr lang="en-US" sz="1400" dirty="0"/>
          </a:p>
        </p:txBody>
      </p:sp>
      <p:sp>
        <p:nvSpPr>
          <p:cNvPr id="15" name="chip python"/>
          <p:cNvSpPr/>
          <p:nvPr/>
        </p:nvSpPr>
        <p:spPr>
          <a:xfrm>
            <a:off x="9686788" y="4251960"/>
            <a:ext cx="765901" cy="329184"/>
          </a:xfrm>
          <a:prstGeom prst="roundRect">
            <a:avLst>
              <a:gd name="adj" fmla="val 16667"/>
            </a:avLst>
          </a:prstGeom>
          <a:solidFill>
            <a:schemeClr val="accent4"/>
          </a:solidFill>
          <a:ln/>
        </p:spPr>
        <p:txBody>
          <a:bodyPr wrap="square" lIns="0" tIns="0" rIns="0" bIns="0" rtlCol="0" anchor="ctr"/>
          <a:lstStyle/>
          <a:p>
            <a:pPr algn="ctr" indent="0" marL="0">
              <a:buNone/>
            </a:pPr>
            <a:r>
              <a:rPr lang="en-US" sz="1400" dirty="0">
                <a:solidFill>
                  <a:schemeClr val="accent5"/>
                </a:solidFill>
              </a:rPr>
              <a:t>python</a:t>
            </a:r>
            <a:endParaRPr lang="en-US" sz="1400" dirty="0"/>
          </a:p>
        </p:txBody>
      </p:sp>
      <p:sp>
        <p:nvSpPr>
          <p:cNvPr id="16" name="chip .net"/>
          <p:cNvSpPr/>
          <p:nvPr/>
        </p:nvSpPr>
        <p:spPr>
          <a:xfrm>
            <a:off x="10562417" y="4251960"/>
            <a:ext cx="602041" cy="329184"/>
          </a:xfrm>
          <a:prstGeom prst="roundRect">
            <a:avLst>
              <a:gd name="adj" fmla="val 16667"/>
            </a:avLst>
          </a:prstGeom>
          <a:solidFill>
            <a:schemeClr val="accent4"/>
          </a:solidFill>
          <a:ln/>
        </p:spPr>
        <p:txBody>
          <a:bodyPr wrap="square" lIns="0" tIns="0" rIns="0" bIns="0" rtlCol="0" anchor="ctr"/>
          <a:lstStyle/>
          <a:p>
            <a:pPr algn="ctr" indent="0" marL="0">
              <a:buNone/>
            </a:pPr>
            <a:r>
              <a:rPr lang="en-US" sz="1400" dirty="0">
                <a:solidFill>
                  <a:schemeClr val="accent5"/>
                </a:solidFill>
              </a:rPr>
              <a:t>.net</a:t>
            </a:r>
            <a:endParaRPr lang="en-US" sz="1400" dirty="0"/>
          </a:p>
        </p:txBody>
      </p:sp>
      <p:sp>
        <p:nvSpPr>
          <p:cNvPr id="17" name="chip c++"/>
          <p:cNvSpPr/>
          <p:nvPr/>
        </p:nvSpPr>
        <p:spPr>
          <a:xfrm>
            <a:off x="7223760" y="4690872"/>
            <a:ext cx="520111" cy="329184"/>
          </a:xfrm>
          <a:prstGeom prst="roundRect">
            <a:avLst>
              <a:gd name="adj" fmla="val 16667"/>
            </a:avLst>
          </a:prstGeom>
          <a:solidFill>
            <a:schemeClr val="accent4"/>
          </a:solidFill>
          <a:ln/>
        </p:spPr>
        <p:txBody>
          <a:bodyPr wrap="square" lIns="0" tIns="0" rIns="0" bIns="0" rtlCol="0" anchor="ctr"/>
          <a:lstStyle/>
          <a:p>
            <a:pPr algn="ctr" indent="0" marL="0">
              <a:buNone/>
            </a:pPr>
            <a:r>
              <a:rPr lang="en-US" sz="1400" dirty="0">
                <a:solidFill>
                  <a:schemeClr val="accent5"/>
                </a:solidFill>
              </a:rPr>
              <a:t>c++</a:t>
            </a:r>
            <a:endParaRPr lang="en-US" sz="1400" dirty="0"/>
          </a:p>
        </p:txBody>
      </p:sp>
      <p:sp>
        <p:nvSpPr>
          <p:cNvPr id="18" name="chip jquery"/>
          <p:cNvSpPr/>
          <p:nvPr/>
        </p:nvSpPr>
        <p:spPr>
          <a:xfrm>
            <a:off x="7853599" y="4690872"/>
            <a:ext cx="765901" cy="329184"/>
          </a:xfrm>
          <a:prstGeom prst="roundRect">
            <a:avLst>
              <a:gd name="adj" fmla="val 16667"/>
            </a:avLst>
          </a:prstGeom>
          <a:solidFill>
            <a:schemeClr val="accent4"/>
          </a:solidFill>
          <a:ln/>
        </p:spPr>
        <p:txBody>
          <a:bodyPr wrap="square" lIns="0" tIns="0" rIns="0" bIns="0" rtlCol="0" anchor="ctr"/>
          <a:lstStyle/>
          <a:p>
            <a:pPr algn="ctr" indent="0" marL="0">
              <a:buNone/>
            </a:pPr>
            <a:r>
              <a:rPr lang="en-US" sz="1400" dirty="0">
                <a:solidFill>
                  <a:schemeClr val="accent5"/>
                </a:solidFill>
              </a:rPr>
              <a:t>jquery</a:t>
            </a:r>
            <a:endParaRPr lang="en-US" sz="1400" dirty="0"/>
          </a:p>
        </p:txBody>
      </p:sp>
      <p:sp>
        <p:nvSpPr>
          <p:cNvPr id="19" name="chip php"/>
          <p:cNvSpPr/>
          <p:nvPr/>
        </p:nvSpPr>
        <p:spPr>
          <a:xfrm>
            <a:off x="8729228" y="4690872"/>
            <a:ext cx="520111" cy="329184"/>
          </a:xfrm>
          <a:prstGeom prst="roundRect">
            <a:avLst>
              <a:gd name="adj" fmla="val 16667"/>
            </a:avLst>
          </a:prstGeom>
          <a:solidFill>
            <a:schemeClr val="accent4"/>
          </a:solidFill>
          <a:ln/>
        </p:spPr>
        <p:txBody>
          <a:bodyPr wrap="square" lIns="0" tIns="0" rIns="0" bIns="0" rtlCol="0" anchor="ctr"/>
          <a:lstStyle/>
          <a:p>
            <a:pPr algn="ctr" indent="0" marL="0">
              <a:buNone/>
            </a:pPr>
            <a:r>
              <a:rPr lang="en-US" sz="1400" dirty="0">
                <a:solidFill>
                  <a:schemeClr val="accent5"/>
                </a:solidFill>
              </a:rPr>
              <a:t>php</a:t>
            </a:r>
            <a:endParaRPr lang="en-US" sz="1400" dirty="0"/>
          </a:p>
        </p:txBody>
      </p:sp>
      <p:sp>
        <p:nvSpPr>
          <p:cNvPr id="20" name="chip android"/>
          <p:cNvSpPr/>
          <p:nvPr/>
        </p:nvSpPr>
        <p:spPr>
          <a:xfrm>
            <a:off x="9359067" y="4690872"/>
            <a:ext cx="847832" cy="329184"/>
          </a:xfrm>
          <a:prstGeom prst="roundRect">
            <a:avLst>
              <a:gd name="adj" fmla="val 16667"/>
            </a:avLst>
          </a:prstGeom>
          <a:solidFill>
            <a:schemeClr val="accent4"/>
          </a:solidFill>
          <a:ln/>
        </p:spPr>
        <p:txBody>
          <a:bodyPr wrap="square" lIns="0" tIns="0" rIns="0" bIns="0" rtlCol="0" anchor="ctr"/>
          <a:lstStyle/>
          <a:p>
            <a:pPr algn="ctr" indent="0" marL="0">
              <a:buNone/>
            </a:pPr>
            <a:r>
              <a:rPr lang="en-US" sz="1400" dirty="0">
                <a:solidFill>
                  <a:schemeClr val="accent5"/>
                </a:solidFill>
              </a:rPr>
              <a:t>android</a:t>
            </a:r>
            <a:endParaRPr lang="en-US" sz="1400" dirty="0"/>
          </a:p>
        </p:txBody>
      </p:sp>
      <p:sp>
        <p:nvSpPr>
          <p:cNvPr id="21" name="chip html"/>
          <p:cNvSpPr/>
          <p:nvPr/>
        </p:nvSpPr>
        <p:spPr>
          <a:xfrm>
            <a:off x="10316627" y="4690872"/>
            <a:ext cx="602041" cy="329184"/>
          </a:xfrm>
          <a:prstGeom prst="roundRect">
            <a:avLst>
              <a:gd name="adj" fmla="val 16667"/>
            </a:avLst>
          </a:prstGeom>
          <a:solidFill>
            <a:schemeClr val="accent4"/>
          </a:solidFill>
          <a:ln/>
        </p:spPr>
        <p:txBody>
          <a:bodyPr wrap="square" lIns="0" tIns="0" rIns="0" bIns="0" rtlCol="0" anchor="ctr"/>
          <a:lstStyle/>
          <a:p>
            <a:pPr algn="ctr" indent="0" marL="0">
              <a:buNone/>
            </a:pPr>
            <a:r>
              <a:rPr lang="en-US" sz="1400" dirty="0">
                <a:solidFill>
                  <a:schemeClr val="accent5"/>
                </a:solidFill>
              </a:rPr>
              <a:t>html</a:t>
            </a:r>
            <a:endParaRPr lang="en-US" sz="1400" dirty="0"/>
          </a:p>
        </p:txBody>
      </p:sp>
      <p:sp>
        <p:nvSpPr>
          <p:cNvPr id="22" name="Text 20"/>
          <p:cNvSpPr txBox="1"/>
          <p:nvPr/>
        </p:nvSpPr>
        <p:spPr>
          <a:xfrm>
            <a:off x="640080" y="5806440"/>
            <a:ext cx="10881360" cy="594360"/>
          </a:xfrm>
          <a:prstGeom prst="rect">
            <a:avLst/>
          </a:prstGeom>
          <a:noFill/>
          <a:ln/>
        </p:spPr>
        <p:txBody>
          <a:bodyPr wrap="square" lIns="0" tIns="0" rIns="0" bIns="0" rtlCol="0" anchor="t"/>
          <a:lstStyle/>
          <a:p>
            <a:pPr indent="0" marL="0">
              <a:spcAft>
                <a:spcPts val="400"/>
              </a:spcAft>
              <a:buNone/>
            </a:pPr>
            <a:r>
              <a:rPr lang="en-US" sz="1200" dirty="0">
                <a:solidFill>
                  <a:schemeClr val="bg2"/>
                </a:solidFill>
              </a:rPr>
              <a:t>Slides remade in October 2026 with AI help. Every result comes from the original 2021 notebook.</a:t>
            </a:r>
            <a:endParaRPr lang="en-US" sz="1200" dirty="0"/>
          </a:p>
          <a:p>
            <a:pPr indent="0" marL="0">
              <a:spcAft>
                <a:spcPts val="400"/>
              </a:spcAft>
              <a:buNone/>
            </a:pPr>
            <a:r>
              <a:rPr lang="en-US" sz="1200" dirty="0">
                <a:solidFill>
                  <a:schemeClr val="bg2"/>
                </a:solidFill>
              </a:rPr>
              <a:t>Code and notebook: github.com/garrethcline/Predicting-Tags-from-StackOverflow-Using-Title-Data-</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algn="l" indent="0" marL="0">
              <a:buNone/>
            </a:pPr>
            <a:r>
              <a:rPr lang="en-US" sz="3000" b="1" dirty="0">
                <a:solidFill>
                  <a:schemeClr val="tx1"/>
                </a:solidFill>
              </a:rPr>
              <a:t>The goal</a:t>
            </a:r>
            <a:endParaRPr lang="en-US" sz="3000" dirty="0"/>
          </a:p>
        </p:txBody>
      </p:sp>
      <p:sp>
        <p:nvSpPr>
          <p:cNvPr id="3" name="Text 0"/>
          <p:cNvSpPr/>
          <p:nvPr>
            <p:ph idx="101" type="body" hasCustomPrompt="1"/>
          </p:nvPr>
        </p:nvSpPr>
        <p:spPr>
          <a:xfrm>
            <a:off x="548640" y="987552"/>
            <a:ext cx="11064240" cy="411480"/>
          </a:xfrm>
          <a:prstGeom prst="rect">
            <a:avLst/>
          </a:prstGeom>
          <a:noFill/>
          <a:ln/>
        </p:spPr>
        <p:txBody>
          <a:bodyPr wrap="square" lIns="0" tIns="0" rIns="0" bIns="0" rtlCol="0" anchor="ctr"/>
          <a:lstStyle/>
          <a:p>
            <a:pPr algn="l" indent="0" marL="0">
              <a:buNone/>
            </a:pPr>
            <a:r>
              <a:rPr lang="en-US" sz="1600" dirty="0">
                <a:solidFill>
                  <a:schemeClr val="accent6"/>
                </a:solidFill>
              </a:rPr>
              <a:t>Recommend tags for a Stack Overflow question from its title alone</a:t>
            </a:r>
            <a:endParaRPr lang="en-US" sz="1600" dirty="0"/>
          </a:p>
        </p:txBody>
      </p:sp>
      <p:sp>
        <p:nvSpPr>
          <p:cNvPr id="4" name="icon circle pen"/>
          <p:cNvSpPr/>
          <p:nvPr/>
        </p:nvSpPr>
        <p:spPr>
          <a:xfrm>
            <a:off x="548640" y="1783080"/>
            <a:ext cx="731520" cy="731520"/>
          </a:xfrm>
          <a:prstGeom prst="ellipse">
            <a:avLst/>
          </a:prstGeom>
          <a:solidFill>
            <a:schemeClr val="accent1"/>
          </a:solidFill>
          <a:ln/>
        </p:spPr>
      </p:sp>
      <p:pic>
        <p:nvPicPr>
          <p:cNvPr id="5" name="icon pen" descr="Pencil icon">    </p:cNvPr>
          <p:cNvPicPr>
            <a:picLocks noChangeAspect="1"/>
          </p:cNvPicPr>
          <p:nvPr/>
        </p:nvPicPr>
        <p:blipFill>
          <a:blip r:embed="rId1"/>
          <a:stretch>
            <a:fillRect/>
          </a:stretch>
        </p:blipFill>
        <p:spPr>
          <a:xfrm>
            <a:off x="724205" y="1958645"/>
            <a:ext cx="380390" cy="380390"/>
          </a:xfrm>
          <a:prstGeom prst="rect">
            <a:avLst/>
          </a:prstGeom>
        </p:spPr>
      </p:pic>
      <p:sp>
        <p:nvSpPr>
          <p:cNvPr id="6" name="Text 3"/>
          <p:cNvSpPr txBox="1"/>
          <p:nvPr/>
        </p:nvSpPr>
        <p:spPr>
          <a:xfrm>
            <a:off x="1508760" y="1801368"/>
            <a:ext cx="4023360" cy="320040"/>
          </a:xfrm>
          <a:prstGeom prst="rect">
            <a:avLst/>
          </a:prstGeom>
          <a:noFill/>
          <a:ln/>
        </p:spPr>
        <p:txBody>
          <a:bodyPr wrap="square" lIns="0" tIns="0" rIns="0" bIns="0" rtlCol="0" anchor="t"/>
          <a:lstStyle/>
          <a:p>
            <a:pPr indent="0" marL="0">
              <a:buNone/>
            </a:pPr>
            <a:r>
              <a:rPr lang="en-US" sz="1600" b="1" dirty="0">
                <a:solidFill>
                  <a:schemeClr val="tx1"/>
                </a:solidFill>
              </a:rPr>
              <a:t>Suggest tags as someone writes</a:t>
            </a:r>
            <a:endParaRPr lang="en-US" sz="1600" dirty="0"/>
          </a:p>
        </p:txBody>
      </p:sp>
      <p:sp>
        <p:nvSpPr>
          <p:cNvPr id="7" name="Text 4"/>
          <p:cNvSpPr txBox="1"/>
          <p:nvPr/>
        </p:nvSpPr>
        <p:spPr>
          <a:xfrm>
            <a:off x="1508760" y="2148840"/>
            <a:ext cx="4023360" cy="868680"/>
          </a:xfrm>
          <a:prstGeom prst="rect">
            <a:avLst/>
          </a:prstGeom>
          <a:noFill/>
          <a:ln/>
        </p:spPr>
        <p:txBody>
          <a:bodyPr wrap="square" lIns="0" tIns="0" rIns="0" bIns="0" rtlCol="0" anchor="t"/>
          <a:lstStyle/>
          <a:p>
            <a:pPr indent="0" marL="0">
              <a:buNone/>
            </a:pPr>
            <a:r>
              <a:rPr lang="en-US" sz="1400" dirty="0">
                <a:solidFill>
                  <a:schemeClr val="accent6"/>
                </a:solidFill>
              </a:rPr>
              <a:t>The title is the first thing people type, so suggestions could show up before the body is started.</a:t>
            </a:r>
            <a:endParaRPr lang="en-US" sz="1400" dirty="0"/>
          </a:p>
        </p:txBody>
      </p:sp>
      <p:sp>
        <p:nvSpPr>
          <p:cNvPr id="8" name="icon circle archive"/>
          <p:cNvSpPr/>
          <p:nvPr/>
        </p:nvSpPr>
        <p:spPr>
          <a:xfrm>
            <a:off x="548640" y="3108960"/>
            <a:ext cx="731520" cy="731520"/>
          </a:xfrm>
          <a:prstGeom prst="ellipse">
            <a:avLst/>
          </a:prstGeom>
          <a:solidFill>
            <a:schemeClr val="accent1"/>
          </a:solidFill>
          <a:ln/>
        </p:spPr>
      </p:sp>
      <p:pic>
        <p:nvPicPr>
          <p:cNvPr id="9" name="icon archive" descr="Archive box icon">    </p:cNvPr>
          <p:cNvPicPr>
            <a:picLocks noChangeAspect="1"/>
          </p:cNvPicPr>
          <p:nvPr/>
        </p:nvPicPr>
        <p:blipFill>
          <a:blip r:embed="rId2"/>
          <a:stretch>
            <a:fillRect/>
          </a:stretch>
        </p:blipFill>
        <p:spPr>
          <a:xfrm>
            <a:off x="724205" y="3284525"/>
            <a:ext cx="380390" cy="380390"/>
          </a:xfrm>
          <a:prstGeom prst="rect">
            <a:avLst/>
          </a:prstGeom>
        </p:spPr>
      </p:pic>
      <p:sp>
        <p:nvSpPr>
          <p:cNvPr id="10" name="Text 6"/>
          <p:cNvSpPr txBox="1"/>
          <p:nvPr/>
        </p:nvSpPr>
        <p:spPr>
          <a:xfrm>
            <a:off x="1508760" y="3127248"/>
            <a:ext cx="4023360" cy="320040"/>
          </a:xfrm>
          <a:prstGeom prst="rect">
            <a:avLst/>
          </a:prstGeom>
          <a:noFill/>
          <a:ln/>
        </p:spPr>
        <p:txBody>
          <a:bodyPr wrap="square" lIns="0" tIns="0" rIns="0" bIns="0" rtlCol="0" anchor="t"/>
          <a:lstStyle/>
          <a:p>
            <a:pPr indent="0" marL="0">
              <a:buNone/>
            </a:pPr>
            <a:r>
              <a:rPr lang="en-US" sz="1600" b="1" dirty="0">
                <a:solidFill>
                  <a:schemeClr val="tx1"/>
                </a:solidFill>
              </a:rPr>
              <a:t>Tag old posts</a:t>
            </a:r>
            <a:endParaRPr lang="en-US" sz="1600" dirty="0"/>
          </a:p>
        </p:txBody>
      </p:sp>
      <p:sp>
        <p:nvSpPr>
          <p:cNvPr id="11" name="Text 7"/>
          <p:cNvSpPr txBox="1"/>
          <p:nvPr/>
        </p:nvSpPr>
        <p:spPr>
          <a:xfrm>
            <a:off x="1508760" y="3474720"/>
            <a:ext cx="4023360" cy="868680"/>
          </a:xfrm>
          <a:prstGeom prst="rect">
            <a:avLst/>
          </a:prstGeom>
          <a:noFill/>
          <a:ln/>
        </p:spPr>
        <p:txBody>
          <a:bodyPr wrap="square" lIns="0" tIns="0" rIns="0" bIns="0" rtlCol="0" anchor="t"/>
          <a:lstStyle/>
          <a:p>
            <a:pPr indent="0" marL="0">
              <a:buNone/>
            </a:pPr>
            <a:r>
              <a:rPr lang="en-US" sz="1400" dirty="0">
                <a:solidFill>
                  <a:schemeClr val="accent6"/>
                </a:solidFill>
              </a:rPr>
              <a:t>Run the same model over text that never had tags, like old forum posts.</a:t>
            </a:r>
            <a:endParaRPr lang="en-US" sz="1400" dirty="0"/>
          </a:p>
        </p:txBody>
      </p:sp>
      <p:sp>
        <p:nvSpPr>
          <p:cNvPr id="12" name="icon circle tags"/>
          <p:cNvSpPr/>
          <p:nvPr/>
        </p:nvSpPr>
        <p:spPr>
          <a:xfrm>
            <a:off x="548640" y="4434840"/>
            <a:ext cx="731520" cy="731520"/>
          </a:xfrm>
          <a:prstGeom prst="ellipse">
            <a:avLst/>
          </a:prstGeom>
          <a:solidFill>
            <a:schemeClr val="accent1"/>
          </a:solidFill>
          <a:ln/>
        </p:spPr>
      </p:sp>
      <p:pic>
        <p:nvPicPr>
          <p:cNvPr id="13" name="icon tags" descr="Tags icon">    </p:cNvPr>
          <p:cNvPicPr>
            <a:picLocks noChangeAspect="1"/>
          </p:cNvPicPr>
          <p:nvPr/>
        </p:nvPicPr>
        <p:blipFill>
          <a:blip r:embed="rId3"/>
          <a:stretch>
            <a:fillRect/>
          </a:stretch>
        </p:blipFill>
        <p:spPr>
          <a:xfrm>
            <a:off x="724205" y="4610405"/>
            <a:ext cx="380390" cy="380390"/>
          </a:xfrm>
          <a:prstGeom prst="rect">
            <a:avLst/>
          </a:prstGeom>
        </p:spPr>
      </p:pic>
      <p:sp>
        <p:nvSpPr>
          <p:cNvPr id="14" name="Text 9"/>
          <p:cNvSpPr txBox="1"/>
          <p:nvPr/>
        </p:nvSpPr>
        <p:spPr>
          <a:xfrm>
            <a:off x="1508760" y="4453128"/>
            <a:ext cx="4023360" cy="320040"/>
          </a:xfrm>
          <a:prstGeom prst="rect">
            <a:avLst/>
          </a:prstGeom>
          <a:noFill/>
          <a:ln/>
        </p:spPr>
        <p:txBody>
          <a:bodyPr wrap="square" lIns="0" tIns="0" rIns="0" bIns="0" rtlCol="0" anchor="t"/>
          <a:lstStyle/>
          <a:p>
            <a:pPr indent="0" marL="0">
              <a:buNone/>
            </a:pPr>
            <a:r>
              <a:rPr lang="en-US" sz="1600" b="1" dirty="0">
                <a:solidFill>
                  <a:schemeClr val="tx1"/>
                </a:solidFill>
              </a:rPr>
              <a:t>Several tags per question</a:t>
            </a:r>
            <a:endParaRPr lang="en-US" sz="1600" dirty="0"/>
          </a:p>
        </p:txBody>
      </p:sp>
      <p:sp>
        <p:nvSpPr>
          <p:cNvPr id="15" name="Text 10"/>
          <p:cNvSpPr txBox="1"/>
          <p:nvPr/>
        </p:nvSpPr>
        <p:spPr>
          <a:xfrm>
            <a:off x="1508760" y="4800600"/>
            <a:ext cx="4023360" cy="868680"/>
          </a:xfrm>
          <a:prstGeom prst="rect">
            <a:avLst/>
          </a:prstGeom>
          <a:noFill/>
          <a:ln/>
        </p:spPr>
        <p:txBody>
          <a:bodyPr wrap="square" lIns="0" tIns="0" rIns="0" bIns="0" rtlCol="0" anchor="t"/>
          <a:lstStyle/>
          <a:p>
            <a:pPr indent="0" marL="0">
              <a:buNone/>
            </a:pPr>
            <a:r>
              <a:rPr lang="en-US" sz="1400" dirty="0">
                <a:solidFill>
                  <a:schemeClr val="accent6"/>
                </a:solidFill>
              </a:rPr>
              <a:t>A question can have up to five tags, so the model makes a separate yes or no call for each of the 100 most common tags.</a:t>
            </a:r>
            <a:endParaRPr lang="en-US" sz="1400" dirty="0"/>
          </a:p>
        </p:txBody>
      </p:sp>
      <p:sp>
        <p:nvSpPr>
          <p:cNvPr id="16" name="example title"/>
          <p:cNvSpPr/>
          <p:nvPr/>
        </p:nvSpPr>
        <p:spPr>
          <a:xfrm>
            <a:off x="6035040" y="1783080"/>
            <a:ext cx="5577840" cy="566928"/>
          </a:xfrm>
          <a:prstGeom prst="roundRect">
            <a:avLst>
              <a:gd name="adj" fmla="val 12903"/>
            </a:avLst>
          </a:prstGeom>
          <a:solidFill>
            <a:schemeClr val="bg2"/>
          </a:solidFill>
          <a:ln/>
        </p:spPr>
      </p:sp>
      <p:sp>
        <p:nvSpPr>
          <p:cNvPr id="17" name="Text 12"/>
          <p:cNvSpPr txBox="1"/>
          <p:nvPr/>
        </p:nvSpPr>
        <p:spPr>
          <a:xfrm>
            <a:off x="6263640" y="1783080"/>
            <a:ext cx="5120640" cy="566928"/>
          </a:xfrm>
          <a:prstGeom prst="rect">
            <a:avLst/>
          </a:prstGeom>
          <a:noFill/>
          <a:ln/>
        </p:spPr>
        <p:txBody>
          <a:bodyPr wrap="square" lIns="0" tIns="0" rIns="0" bIns="0" rtlCol="0" anchor="ctr"/>
          <a:lstStyle/>
          <a:p>
            <a:pPr indent="0" marL="0">
              <a:buNone/>
            </a:pPr>
            <a:r>
              <a:rPr lang="en-US" sz="1600" b="1" dirty="0">
                <a:solidFill>
                  <a:schemeClr val="tx1"/>
                </a:solidFill>
              </a:rPr>
              <a:t>How do I calculate someone’s age in C#?</a:t>
            </a:r>
            <a:endParaRPr lang="en-US" sz="1600" dirty="0"/>
          </a:p>
        </p:txBody>
      </p:sp>
      <p:sp>
        <p:nvSpPr>
          <p:cNvPr id="18" name="arrow"/>
          <p:cNvSpPr/>
          <p:nvPr/>
        </p:nvSpPr>
        <p:spPr>
          <a:xfrm>
            <a:off x="8823960" y="2395728"/>
            <a:ext cx="0" cy="347472"/>
          </a:xfrm>
          <a:prstGeom prst="line">
            <a:avLst/>
          </a:prstGeom>
          <a:noFill/>
          <a:ln w="22225">
            <a:solidFill>
              <a:schemeClr val="accent6"/>
            </a:solidFill>
            <a:prstDash val="solid"/>
            <a:tailEnd type="triangle"/>
          </a:ln>
        </p:spPr>
      </p:sp>
      <p:sp>
        <p:nvSpPr>
          <p:cNvPr id="19" name="tag cell c#"/>
          <p:cNvSpPr/>
          <p:nvPr/>
        </p:nvSpPr>
        <p:spPr>
          <a:xfrm>
            <a:off x="7360920" y="2852928"/>
            <a:ext cx="237744" cy="237744"/>
          </a:xfrm>
          <a:prstGeom prst="roundRect">
            <a:avLst>
              <a:gd name="adj" fmla="val 15385"/>
            </a:avLst>
          </a:prstGeom>
          <a:solidFill>
            <a:schemeClr val="accent2"/>
          </a:solidFill>
          <a:ln/>
        </p:spPr>
      </p:sp>
      <p:sp>
        <p:nvSpPr>
          <p:cNvPr id="20" name="tag cell java"/>
          <p:cNvSpPr/>
          <p:nvPr/>
        </p:nvSpPr>
        <p:spPr>
          <a:xfrm>
            <a:off x="7653528" y="2852928"/>
            <a:ext cx="237744" cy="237744"/>
          </a:xfrm>
          <a:prstGeom prst="roundRect">
            <a:avLst>
              <a:gd name="adj" fmla="val 15385"/>
            </a:avLst>
          </a:prstGeom>
          <a:solidFill>
            <a:schemeClr val="accent3"/>
          </a:solidFill>
          <a:ln/>
        </p:spPr>
      </p:sp>
      <p:sp>
        <p:nvSpPr>
          <p:cNvPr id="21" name="tag cell javascript"/>
          <p:cNvSpPr/>
          <p:nvPr/>
        </p:nvSpPr>
        <p:spPr>
          <a:xfrm>
            <a:off x="7946136" y="2852928"/>
            <a:ext cx="237744" cy="237744"/>
          </a:xfrm>
          <a:prstGeom prst="roundRect">
            <a:avLst>
              <a:gd name="adj" fmla="val 15385"/>
            </a:avLst>
          </a:prstGeom>
          <a:solidFill>
            <a:schemeClr val="accent3"/>
          </a:solidFill>
          <a:ln/>
        </p:spPr>
      </p:sp>
      <p:sp>
        <p:nvSpPr>
          <p:cNvPr id="22" name="tag cell python"/>
          <p:cNvSpPr/>
          <p:nvPr/>
        </p:nvSpPr>
        <p:spPr>
          <a:xfrm>
            <a:off x="8238744" y="2852928"/>
            <a:ext cx="237744" cy="237744"/>
          </a:xfrm>
          <a:prstGeom prst="roundRect">
            <a:avLst>
              <a:gd name="adj" fmla="val 15385"/>
            </a:avLst>
          </a:prstGeom>
          <a:solidFill>
            <a:schemeClr val="accent3"/>
          </a:solidFill>
          <a:ln/>
        </p:spPr>
      </p:sp>
      <p:sp>
        <p:nvSpPr>
          <p:cNvPr id="23" name="tag cell .net"/>
          <p:cNvSpPr/>
          <p:nvPr/>
        </p:nvSpPr>
        <p:spPr>
          <a:xfrm>
            <a:off x="8531352" y="2852928"/>
            <a:ext cx="237744" cy="237744"/>
          </a:xfrm>
          <a:prstGeom prst="roundRect">
            <a:avLst>
              <a:gd name="adj" fmla="val 15385"/>
            </a:avLst>
          </a:prstGeom>
          <a:solidFill>
            <a:schemeClr val="accent2"/>
          </a:solidFill>
          <a:ln/>
        </p:spPr>
      </p:sp>
      <p:sp>
        <p:nvSpPr>
          <p:cNvPr id="24" name="tag cell c++"/>
          <p:cNvSpPr/>
          <p:nvPr/>
        </p:nvSpPr>
        <p:spPr>
          <a:xfrm>
            <a:off x="8823960" y="2852928"/>
            <a:ext cx="237744" cy="237744"/>
          </a:xfrm>
          <a:prstGeom prst="roundRect">
            <a:avLst>
              <a:gd name="adj" fmla="val 15385"/>
            </a:avLst>
          </a:prstGeom>
          <a:solidFill>
            <a:schemeClr val="accent3"/>
          </a:solidFill>
          <a:ln/>
        </p:spPr>
      </p:sp>
      <p:sp>
        <p:nvSpPr>
          <p:cNvPr id="25" name="tag cell jquery"/>
          <p:cNvSpPr/>
          <p:nvPr/>
        </p:nvSpPr>
        <p:spPr>
          <a:xfrm>
            <a:off x="9116568" y="2852928"/>
            <a:ext cx="237744" cy="237744"/>
          </a:xfrm>
          <a:prstGeom prst="roundRect">
            <a:avLst>
              <a:gd name="adj" fmla="val 15385"/>
            </a:avLst>
          </a:prstGeom>
          <a:solidFill>
            <a:schemeClr val="accent3"/>
          </a:solidFill>
          <a:ln/>
        </p:spPr>
      </p:sp>
      <p:sp>
        <p:nvSpPr>
          <p:cNvPr id="26" name="tag cell php"/>
          <p:cNvSpPr/>
          <p:nvPr/>
        </p:nvSpPr>
        <p:spPr>
          <a:xfrm>
            <a:off x="9409176" y="2852928"/>
            <a:ext cx="237744" cy="237744"/>
          </a:xfrm>
          <a:prstGeom prst="roundRect">
            <a:avLst>
              <a:gd name="adj" fmla="val 15385"/>
            </a:avLst>
          </a:prstGeom>
          <a:solidFill>
            <a:schemeClr val="accent3"/>
          </a:solidFill>
          <a:ln/>
        </p:spPr>
      </p:sp>
      <p:sp>
        <p:nvSpPr>
          <p:cNvPr id="27" name="tag cell android"/>
          <p:cNvSpPr/>
          <p:nvPr/>
        </p:nvSpPr>
        <p:spPr>
          <a:xfrm>
            <a:off x="9701784" y="2852928"/>
            <a:ext cx="237744" cy="237744"/>
          </a:xfrm>
          <a:prstGeom prst="roundRect">
            <a:avLst>
              <a:gd name="adj" fmla="val 15385"/>
            </a:avLst>
          </a:prstGeom>
          <a:solidFill>
            <a:schemeClr val="accent3"/>
          </a:solidFill>
          <a:ln/>
        </p:spPr>
      </p:sp>
      <p:sp>
        <p:nvSpPr>
          <p:cNvPr id="28" name="tag cell html"/>
          <p:cNvSpPr/>
          <p:nvPr/>
        </p:nvSpPr>
        <p:spPr>
          <a:xfrm>
            <a:off x="9994392" y="2852928"/>
            <a:ext cx="237744" cy="237744"/>
          </a:xfrm>
          <a:prstGeom prst="roundRect">
            <a:avLst>
              <a:gd name="adj" fmla="val 15385"/>
            </a:avLst>
          </a:prstGeom>
          <a:solidFill>
            <a:schemeClr val="accent3"/>
          </a:solidFill>
          <a:ln/>
        </p:spPr>
      </p:sp>
      <p:sp>
        <p:nvSpPr>
          <p:cNvPr id="29" name="tag cell sql"/>
          <p:cNvSpPr/>
          <p:nvPr/>
        </p:nvSpPr>
        <p:spPr>
          <a:xfrm>
            <a:off x="7360920" y="3145536"/>
            <a:ext cx="237744" cy="237744"/>
          </a:xfrm>
          <a:prstGeom prst="roundRect">
            <a:avLst>
              <a:gd name="adj" fmla="val 15385"/>
            </a:avLst>
          </a:prstGeom>
          <a:solidFill>
            <a:schemeClr val="accent3"/>
          </a:solidFill>
          <a:ln/>
        </p:spPr>
      </p:sp>
      <p:sp>
        <p:nvSpPr>
          <p:cNvPr id="30" name="tag cell git"/>
          <p:cNvSpPr/>
          <p:nvPr/>
        </p:nvSpPr>
        <p:spPr>
          <a:xfrm>
            <a:off x="7653528" y="3145536"/>
            <a:ext cx="237744" cy="237744"/>
          </a:xfrm>
          <a:prstGeom prst="roundRect">
            <a:avLst>
              <a:gd name="adj" fmla="val 15385"/>
            </a:avLst>
          </a:prstGeom>
          <a:solidFill>
            <a:schemeClr val="accent3"/>
          </a:solidFill>
          <a:ln/>
        </p:spPr>
      </p:sp>
      <p:sp>
        <p:nvSpPr>
          <p:cNvPr id="31" name="tag cell css"/>
          <p:cNvSpPr/>
          <p:nvPr/>
        </p:nvSpPr>
        <p:spPr>
          <a:xfrm>
            <a:off x="7946136" y="3145536"/>
            <a:ext cx="237744" cy="237744"/>
          </a:xfrm>
          <a:prstGeom prst="roundRect">
            <a:avLst>
              <a:gd name="adj" fmla="val 15385"/>
            </a:avLst>
          </a:prstGeom>
          <a:solidFill>
            <a:schemeClr val="accent3"/>
          </a:solidFill>
          <a:ln/>
        </p:spPr>
      </p:sp>
      <p:sp>
        <p:nvSpPr>
          <p:cNvPr id="32" name="tag cell string"/>
          <p:cNvSpPr/>
          <p:nvPr/>
        </p:nvSpPr>
        <p:spPr>
          <a:xfrm>
            <a:off x="8238744" y="3145536"/>
            <a:ext cx="237744" cy="237744"/>
          </a:xfrm>
          <a:prstGeom prst="roundRect">
            <a:avLst>
              <a:gd name="adj" fmla="val 15385"/>
            </a:avLst>
          </a:prstGeom>
          <a:solidFill>
            <a:schemeClr val="accent3"/>
          </a:solidFill>
          <a:ln/>
        </p:spPr>
      </p:sp>
      <p:sp>
        <p:nvSpPr>
          <p:cNvPr id="33" name="tag cell c"/>
          <p:cNvSpPr/>
          <p:nvPr/>
        </p:nvSpPr>
        <p:spPr>
          <a:xfrm>
            <a:off x="8531352" y="3145536"/>
            <a:ext cx="237744" cy="237744"/>
          </a:xfrm>
          <a:prstGeom prst="roundRect">
            <a:avLst>
              <a:gd name="adj" fmla="val 15385"/>
            </a:avLst>
          </a:prstGeom>
          <a:solidFill>
            <a:schemeClr val="accent3"/>
          </a:solidFill>
          <a:ln/>
        </p:spPr>
      </p:sp>
      <p:sp>
        <p:nvSpPr>
          <p:cNvPr id="34" name="tag cell mysql"/>
          <p:cNvSpPr/>
          <p:nvPr/>
        </p:nvSpPr>
        <p:spPr>
          <a:xfrm>
            <a:off x="8823960" y="3145536"/>
            <a:ext cx="237744" cy="237744"/>
          </a:xfrm>
          <a:prstGeom prst="roundRect">
            <a:avLst>
              <a:gd name="adj" fmla="val 15385"/>
            </a:avLst>
          </a:prstGeom>
          <a:solidFill>
            <a:schemeClr val="accent3"/>
          </a:solidFill>
          <a:ln/>
        </p:spPr>
      </p:sp>
      <p:sp>
        <p:nvSpPr>
          <p:cNvPr id="35" name="tag cell sql-server"/>
          <p:cNvSpPr/>
          <p:nvPr/>
        </p:nvSpPr>
        <p:spPr>
          <a:xfrm>
            <a:off x="9116568" y="3145536"/>
            <a:ext cx="237744" cy="237744"/>
          </a:xfrm>
          <a:prstGeom prst="roundRect">
            <a:avLst>
              <a:gd name="adj" fmla="val 15385"/>
            </a:avLst>
          </a:prstGeom>
          <a:solidFill>
            <a:schemeClr val="accent3"/>
          </a:solidFill>
          <a:ln/>
        </p:spPr>
      </p:sp>
      <p:sp>
        <p:nvSpPr>
          <p:cNvPr id="36" name="tag cell iphone"/>
          <p:cNvSpPr/>
          <p:nvPr/>
        </p:nvSpPr>
        <p:spPr>
          <a:xfrm>
            <a:off x="9409176" y="3145536"/>
            <a:ext cx="237744" cy="237744"/>
          </a:xfrm>
          <a:prstGeom prst="roundRect">
            <a:avLst>
              <a:gd name="adj" fmla="val 15385"/>
            </a:avLst>
          </a:prstGeom>
          <a:solidFill>
            <a:schemeClr val="accent3"/>
          </a:solidFill>
          <a:ln/>
        </p:spPr>
      </p:sp>
      <p:sp>
        <p:nvSpPr>
          <p:cNvPr id="37" name="tag cell ruby"/>
          <p:cNvSpPr/>
          <p:nvPr/>
        </p:nvSpPr>
        <p:spPr>
          <a:xfrm>
            <a:off x="9701784" y="3145536"/>
            <a:ext cx="237744" cy="237744"/>
          </a:xfrm>
          <a:prstGeom prst="roundRect">
            <a:avLst>
              <a:gd name="adj" fmla="val 15385"/>
            </a:avLst>
          </a:prstGeom>
          <a:solidFill>
            <a:schemeClr val="accent3"/>
          </a:solidFill>
          <a:ln/>
        </p:spPr>
      </p:sp>
      <p:sp>
        <p:nvSpPr>
          <p:cNvPr id="38" name="tag cell objective-c"/>
          <p:cNvSpPr/>
          <p:nvPr/>
        </p:nvSpPr>
        <p:spPr>
          <a:xfrm>
            <a:off x="9994392" y="3145536"/>
            <a:ext cx="237744" cy="237744"/>
          </a:xfrm>
          <a:prstGeom prst="roundRect">
            <a:avLst>
              <a:gd name="adj" fmla="val 15385"/>
            </a:avLst>
          </a:prstGeom>
          <a:solidFill>
            <a:schemeClr val="accent3"/>
          </a:solidFill>
          <a:ln/>
        </p:spPr>
      </p:sp>
      <p:sp>
        <p:nvSpPr>
          <p:cNvPr id="39" name="tag cell linux"/>
          <p:cNvSpPr/>
          <p:nvPr/>
        </p:nvSpPr>
        <p:spPr>
          <a:xfrm>
            <a:off x="7360920" y="3438144"/>
            <a:ext cx="237744" cy="237744"/>
          </a:xfrm>
          <a:prstGeom prst="roundRect">
            <a:avLst>
              <a:gd name="adj" fmla="val 15385"/>
            </a:avLst>
          </a:prstGeom>
          <a:solidFill>
            <a:schemeClr val="accent3"/>
          </a:solidFill>
          <a:ln/>
        </p:spPr>
      </p:sp>
      <p:sp>
        <p:nvSpPr>
          <p:cNvPr id="40" name="tag cell arrays"/>
          <p:cNvSpPr/>
          <p:nvPr/>
        </p:nvSpPr>
        <p:spPr>
          <a:xfrm>
            <a:off x="7653528" y="3438144"/>
            <a:ext cx="237744" cy="237744"/>
          </a:xfrm>
          <a:prstGeom prst="roundRect">
            <a:avLst>
              <a:gd name="adj" fmla="val 15385"/>
            </a:avLst>
          </a:prstGeom>
          <a:solidFill>
            <a:schemeClr val="accent3"/>
          </a:solidFill>
          <a:ln/>
        </p:spPr>
      </p:sp>
      <p:sp>
        <p:nvSpPr>
          <p:cNvPr id="41" name="tag cell asp.net"/>
          <p:cNvSpPr/>
          <p:nvPr/>
        </p:nvSpPr>
        <p:spPr>
          <a:xfrm>
            <a:off x="7946136" y="3438144"/>
            <a:ext cx="237744" cy="237744"/>
          </a:xfrm>
          <a:prstGeom prst="roundRect">
            <a:avLst>
              <a:gd name="adj" fmla="val 15385"/>
            </a:avLst>
          </a:prstGeom>
          <a:solidFill>
            <a:schemeClr val="accent3"/>
          </a:solidFill>
          <a:ln/>
        </p:spPr>
      </p:sp>
      <p:sp>
        <p:nvSpPr>
          <p:cNvPr id="42" name="tag cell ruby-on-rails"/>
          <p:cNvSpPr/>
          <p:nvPr/>
        </p:nvSpPr>
        <p:spPr>
          <a:xfrm>
            <a:off x="8238744" y="3438144"/>
            <a:ext cx="237744" cy="237744"/>
          </a:xfrm>
          <a:prstGeom prst="roundRect">
            <a:avLst>
              <a:gd name="adj" fmla="val 15385"/>
            </a:avLst>
          </a:prstGeom>
          <a:solidFill>
            <a:schemeClr val="accent3"/>
          </a:solidFill>
          <a:ln/>
        </p:spPr>
      </p:sp>
      <p:sp>
        <p:nvSpPr>
          <p:cNvPr id="43" name="tag cell bash"/>
          <p:cNvSpPr/>
          <p:nvPr/>
        </p:nvSpPr>
        <p:spPr>
          <a:xfrm>
            <a:off x="8531352" y="3438144"/>
            <a:ext cx="237744" cy="237744"/>
          </a:xfrm>
          <a:prstGeom prst="roundRect">
            <a:avLst>
              <a:gd name="adj" fmla="val 15385"/>
            </a:avLst>
          </a:prstGeom>
          <a:solidFill>
            <a:schemeClr val="accent3"/>
          </a:solidFill>
          <a:ln/>
        </p:spPr>
      </p:sp>
      <p:sp>
        <p:nvSpPr>
          <p:cNvPr id="44" name="tag cell windows"/>
          <p:cNvSpPr/>
          <p:nvPr/>
        </p:nvSpPr>
        <p:spPr>
          <a:xfrm>
            <a:off x="8823960" y="3438144"/>
            <a:ext cx="237744" cy="237744"/>
          </a:xfrm>
          <a:prstGeom prst="roundRect">
            <a:avLst>
              <a:gd name="adj" fmla="val 15385"/>
            </a:avLst>
          </a:prstGeom>
          <a:solidFill>
            <a:schemeClr val="accent3"/>
          </a:solidFill>
          <a:ln/>
        </p:spPr>
      </p:sp>
      <p:sp>
        <p:nvSpPr>
          <p:cNvPr id="45" name="tag cell database"/>
          <p:cNvSpPr/>
          <p:nvPr/>
        </p:nvSpPr>
        <p:spPr>
          <a:xfrm>
            <a:off x="9116568" y="3438144"/>
            <a:ext cx="237744" cy="237744"/>
          </a:xfrm>
          <a:prstGeom prst="roundRect">
            <a:avLst>
              <a:gd name="adj" fmla="val 15385"/>
            </a:avLst>
          </a:prstGeom>
          <a:solidFill>
            <a:schemeClr val="accent3"/>
          </a:solidFill>
          <a:ln/>
        </p:spPr>
      </p:sp>
      <p:sp>
        <p:nvSpPr>
          <p:cNvPr id="46" name="tag cell visual-studio"/>
          <p:cNvSpPr/>
          <p:nvPr/>
        </p:nvSpPr>
        <p:spPr>
          <a:xfrm>
            <a:off x="9409176" y="3438144"/>
            <a:ext cx="237744" cy="237744"/>
          </a:xfrm>
          <a:prstGeom prst="roundRect">
            <a:avLst>
              <a:gd name="adj" fmla="val 15385"/>
            </a:avLst>
          </a:prstGeom>
          <a:solidFill>
            <a:schemeClr val="accent3"/>
          </a:solidFill>
          <a:ln/>
        </p:spPr>
      </p:sp>
      <p:sp>
        <p:nvSpPr>
          <p:cNvPr id="47" name="tag cell performance"/>
          <p:cNvSpPr/>
          <p:nvPr/>
        </p:nvSpPr>
        <p:spPr>
          <a:xfrm>
            <a:off x="9701784" y="3438144"/>
            <a:ext cx="237744" cy="237744"/>
          </a:xfrm>
          <a:prstGeom prst="roundRect">
            <a:avLst>
              <a:gd name="adj" fmla="val 15385"/>
            </a:avLst>
          </a:prstGeom>
          <a:solidFill>
            <a:schemeClr val="accent3"/>
          </a:solidFill>
          <a:ln/>
        </p:spPr>
      </p:sp>
      <p:sp>
        <p:nvSpPr>
          <p:cNvPr id="48" name="tag cell ios"/>
          <p:cNvSpPr/>
          <p:nvPr/>
        </p:nvSpPr>
        <p:spPr>
          <a:xfrm>
            <a:off x="9994392" y="3438144"/>
            <a:ext cx="237744" cy="237744"/>
          </a:xfrm>
          <a:prstGeom prst="roundRect">
            <a:avLst>
              <a:gd name="adj" fmla="val 15385"/>
            </a:avLst>
          </a:prstGeom>
          <a:solidFill>
            <a:schemeClr val="accent3"/>
          </a:solidFill>
          <a:ln/>
        </p:spPr>
      </p:sp>
      <p:sp>
        <p:nvSpPr>
          <p:cNvPr id="49" name="tag cell eclipse"/>
          <p:cNvSpPr/>
          <p:nvPr/>
        </p:nvSpPr>
        <p:spPr>
          <a:xfrm>
            <a:off x="7360920" y="3730752"/>
            <a:ext cx="237744" cy="237744"/>
          </a:xfrm>
          <a:prstGeom prst="roundRect">
            <a:avLst>
              <a:gd name="adj" fmla="val 15385"/>
            </a:avLst>
          </a:prstGeom>
          <a:solidFill>
            <a:schemeClr val="accent3"/>
          </a:solidFill>
          <a:ln/>
        </p:spPr>
      </p:sp>
      <p:sp>
        <p:nvSpPr>
          <p:cNvPr id="50" name="tag cell regex"/>
          <p:cNvSpPr/>
          <p:nvPr/>
        </p:nvSpPr>
        <p:spPr>
          <a:xfrm>
            <a:off x="7653528" y="3730752"/>
            <a:ext cx="237744" cy="237744"/>
          </a:xfrm>
          <a:prstGeom prst="roundRect">
            <a:avLst>
              <a:gd name="adj" fmla="val 15385"/>
            </a:avLst>
          </a:prstGeom>
          <a:solidFill>
            <a:schemeClr val="accent3"/>
          </a:solidFill>
          <a:ln/>
        </p:spPr>
      </p:sp>
      <p:sp>
        <p:nvSpPr>
          <p:cNvPr id="51" name="tag cell wpf"/>
          <p:cNvSpPr/>
          <p:nvPr/>
        </p:nvSpPr>
        <p:spPr>
          <a:xfrm>
            <a:off x="7946136" y="3730752"/>
            <a:ext cx="237744" cy="237744"/>
          </a:xfrm>
          <a:prstGeom prst="roundRect">
            <a:avLst>
              <a:gd name="adj" fmla="val 15385"/>
            </a:avLst>
          </a:prstGeom>
          <a:solidFill>
            <a:schemeClr val="accent3"/>
          </a:solidFill>
          <a:ln/>
        </p:spPr>
      </p:sp>
      <p:sp>
        <p:nvSpPr>
          <p:cNvPr id="52" name="tag cell asp.net-mvc"/>
          <p:cNvSpPr/>
          <p:nvPr/>
        </p:nvSpPr>
        <p:spPr>
          <a:xfrm>
            <a:off x="8238744" y="3730752"/>
            <a:ext cx="237744" cy="237744"/>
          </a:xfrm>
          <a:prstGeom prst="roundRect">
            <a:avLst>
              <a:gd name="adj" fmla="val 15385"/>
            </a:avLst>
          </a:prstGeom>
          <a:solidFill>
            <a:schemeClr val="accent3"/>
          </a:solidFill>
          <a:ln/>
        </p:spPr>
      </p:sp>
      <p:sp>
        <p:nvSpPr>
          <p:cNvPr id="53" name="tag cell django"/>
          <p:cNvSpPr/>
          <p:nvPr/>
        </p:nvSpPr>
        <p:spPr>
          <a:xfrm>
            <a:off x="8531352" y="3730752"/>
            <a:ext cx="237744" cy="237744"/>
          </a:xfrm>
          <a:prstGeom prst="roundRect">
            <a:avLst>
              <a:gd name="adj" fmla="val 15385"/>
            </a:avLst>
          </a:prstGeom>
          <a:solidFill>
            <a:schemeClr val="accent3"/>
          </a:solidFill>
          <a:ln/>
        </p:spPr>
      </p:sp>
      <p:sp>
        <p:nvSpPr>
          <p:cNvPr id="54" name="tag cell algorithm"/>
          <p:cNvSpPr/>
          <p:nvPr/>
        </p:nvSpPr>
        <p:spPr>
          <a:xfrm>
            <a:off x="8823960" y="3730752"/>
            <a:ext cx="237744" cy="237744"/>
          </a:xfrm>
          <a:prstGeom prst="roundRect">
            <a:avLst>
              <a:gd name="adj" fmla="val 15385"/>
            </a:avLst>
          </a:prstGeom>
          <a:solidFill>
            <a:schemeClr val="accent3"/>
          </a:solidFill>
          <a:ln/>
        </p:spPr>
      </p:sp>
      <p:sp>
        <p:nvSpPr>
          <p:cNvPr id="55" name="tag cell shell"/>
          <p:cNvSpPr/>
          <p:nvPr/>
        </p:nvSpPr>
        <p:spPr>
          <a:xfrm>
            <a:off x="9116568" y="3730752"/>
            <a:ext cx="237744" cy="237744"/>
          </a:xfrm>
          <a:prstGeom prst="roundRect">
            <a:avLst>
              <a:gd name="adj" fmla="val 15385"/>
            </a:avLst>
          </a:prstGeom>
          <a:solidFill>
            <a:schemeClr val="accent3"/>
          </a:solidFill>
          <a:ln/>
        </p:spPr>
      </p:sp>
      <p:sp>
        <p:nvSpPr>
          <p:cNvPr id="56" name="tag cell vim"/>
          <p:cNvSpPr/>
          <p:nvPr/>
        </p:nvSpPr>
        <p:spPr>
          <a:xfrm>
            <a:off x="9409176" y="3730752"/>
            <a:ext cx="237744" cy="237744"/>
          </a:xfrm>
          <a:prstGeom prst="roundRect">
            <a:avLst>
              <a:gd name="adj" fmla="val 15385"/>
            </a:avLst>
          </a:prstGeom>
          <a:solidFill>
            <a:schemeClr val="accent3"/>
          </a:solidFill>
          <a:ln/>
        </p:spPr>
      </p:sp>
      <p:sp>
        <p:nvSpPr>
          <p:cNvPr id="57" name="tag cell multithreading"/>
          <p:cNvSpPr/>
          <p:nvPr/>
        </p:nvSpPr>
        <p:spPr>
          <a:xfrm>
            <a:off x="9701784" y="3730752"/>
            <a:ext cx="237744" cy="237744"/>
          </a:xfrm>
          <a:prstGeom prst="roundRect">
            <a:avLst>
              <a:gd name="adj" fmla="val 15385"/>
            </a:avLst>
          </a:prstGeom>
          <a:solidFill>
            <a:schemeClr val="accent3"/>
          </a:solidFill>
          <a:ln/>
        </p:spPr>
      </p:sp>
      <p:sp>
        <p:nvSpPr>
          <p:cNvPr id="58" name="tag cell tsql"/>
          <p:cNvSpPr/>
          <p:nvPr/>
        </p:nvSpPr>
        <p:spPr>
          <a:xfrm>
            <a:off x="9994392" y="3730752"/>
            <a:ext cx="237744" cy="237744"/>
          </a:xfrm>
          <a:prstGeom prst="roundRect">
            <a:avLst>
              <a:gd name="adj" fmla="val 15385"/>
            </a:avLst>
          </a:prstGeom>
          <a:solidFill>
            <a:schemeClr val="accent3"/>
          </a:solidFill>
          <a:ln/>
        </p:spPr>
      </p:sp>
      <p:sp>
        <p:nvSpPr>
          <p:cNvPr id="59" name="tag cell cocoa-touch"/>
          <p:cNvSpPr/>
          <p:nvPr/>
        </p:nvSpPr>
        <p:spPr>
          <a:xfrm>
            <a:off x="7360920" y="4023360"/>
            <a:ext cx="237744" cy="237744"/>
          </a:xfrm>
          <a:prstGeom prst="roundRect">
            <a:avLst>
              <a:gd name="adj" fmla="val 15385"/>
            </a:avLst>
          </a:prstGeom>
          <a:solidFill>
            <a:schemeClr val="accent3"/>
          </a:solidFill>
          <a:ln/>
        </p:spPr>
      </p:sp>
      <p:sp>
        <p:nvSpPr>
          <p:cNvPr id="60" name="tag cell xml"/>
          <p:cNvSpPr/>
          <p:nvPr/>
        </p:nvSpPr>
        <p:spPr>
          <a:xfrm>
            <a:off x="7653528" y="4023360"/>
            <a:ext cx="237744" cy="237744"/>
          </a:xfrm>
          <a:prstGeom prst="roundRect">
            <a:avLst>
              <a:gd name="adj" fmla="val 15385"/>
            </a:avLst>
          </a:prstGeom>
          <a:solidFill>
            <a:schemeClr val="accent3"/>
          </a:solidFill>
          <a:ln/>
        </p:spPr>
      </p:sp>
      <p:sp>
        <p:nvSpPr>
          <p:cNvPr id="61" name="tag cell datetime"/>
          <p:cNvSpPr/>
          <p:nvPr/>
        </p:nvSpPr>
        <p:spPr>
          <a:xfrm>
            <a:off x="7946136" y="4023360"/>
            <a:ext cx="237744" cy="237744"/>
          </a:xfrm>
          <a:prstGeom prst="roundRect">
            <a:avLst>
              <a:gd name="adj" fmla="val 15385"/>
            </a:avLst>
          </a:prstGeom>
          <a:solidFill>
            <a:schemeClr val="accent2"/>
          </a:solidFill>
          <a:ln/>
        </p:spPr>
      </p:sp>
      <p:sp>
        <p:nvSpPr>
          <p:cNvPr id="62" name="tag cell svn"/>
          <p:cNvSpPr/>
          <p:nvPr/>
        </p:nvSpPr>
        <p:spPr>
          <a:xfrm>
            <a:off x="8238744" y="4023360"/>
            <a:ext cx="237744" cy="237744"/>
          </a:xfrm>
          <a:prstGeom prst="roundRect">
            <a:avLst>
              <a:gd name="adj" fmla="val 15385"/>
            </a:avLst>
          </a:prstGeom>
          <a:solidFill>
            <a:schemeClr val="accent3"/>
          </a:solidFill>
          <a:ln/>
        </p:spPr>
      </p:sp>
      <p:sp>
        <p:nvSpPr>
          <p:cNvPr id="63" name="tag cell oop"/>
          <p:cNvSpPr/>
          <p:nvPr/>
        </p:nvSpPr>
        <p:spPr>
          <a:xfrm>
            <a:off x="8531352" y="4023360"/>
            <a:ext cx="237744" cy="237744"/>
          </a:xfrm>
          <a:prstGeom prst="roundRect">
            <a:avLst>
              <a:gd name="adj" fmla="val 15385"/>
            </a:avLst>
          </a:prstGeom>
          <a:solidFill>
            <a:schemeClr val="accent3"/>
          </a:solidFill>
          <a:ln/>
        </p:spPr>
      </p:sp>
      <p:sp>
        <p:nvSpPr>
          <p:cNvPr id="64" name="tag cell json"/>
          <p:cNvSpPr/>
          <p:nvPr/>
        </p:nvSpPr>
        <p:spPr>
          <a:xfrm>
            <a:off x="8823960" y="4023360"/>
            <a:ext cx="237744" cy="237744"/>
          </a:xfrm>
          <a:prstGeom prst="roundRect">
            <a:avLst>
              <a:gd name="adj" fmla="val 15385"/>
            </a:avLst>
          </a:prstGeom>
          <a:solidFill>
            <a:schemeClr val="accent3"/>
          </a:solidFill>
          <a:ln/>
        </p:spPr>
      </p:sp>
      <p:sp>
        <p:nvSpPr>
          <p:cNvPr id="65" name="tag cell list"/>
          <p:cNvSpPr/>
          <p:nvPr/>
        </p:nvSpPr>
        <p:spPr>
          <a:xfrm>
            <a:off x="9116568" y="4023360"/>
            <a:ext cx="237744" cy="237744"/>
          </a:xfrm>
          <a:prstGeom prst="roundRect">
            <a:avLst>
              <a:gd name="adj" fmla="val 15385"/>
            </a:avLst>
          </a:prstGeom>
          <a:solidFill>
            <a:schemeClr val="accent3"/>
          </a:solidFill>
          <a:ln/>
        </p:spPr>
      </p:sp>
      <p:sp>
        <p:nvSpPr>
          <p:cNvPr id="66" name="tag cell unix"/>
          <p:cNvSpPr/>
          <p:nvPr/>
        </p:nvSpPr>
        <p:spPr>
          <a:xfrm>
            <a:off x="9409176" y="4023360"/>
            <a:ext cx="237744" cy="237744"/>
          </a:xfrm>
          <a:prstGeom prst="roundRect">
            <a:avLst>
              <a:gd name="adj" fmla="val 15385"/>
            </a:avLst>
          </a:prstGeom>
          <a:solidFill>
            <a:schemeClr val="accent3"/>
          </a:solidFill>
          <a:ln/>
        </p:spPr>
      </p:sp>
      <p:sp>
        <p:nvSpPr>
          <p:cNvPr id="67" name="tag cell file"/>
          <p:cNvSpPr/>
          <p:nvPr/>
        </p:nvSpPr>
        <p:spPr>
          <a:xfrm>
            <a:off x="9701784" y="4023360"/>
            <a:ext cx="237744" cy="237744"/>
          </a:xfrm>
          <a:prstGeom prst="roundRect">
            <a:avLst>
              <a:gd name="adj" fmla="val 15385"/>
            </a:avLst>
          </a:prstGeom>
          <a:solidFill>
            <a:schemeClr val="accent3"/>
          </a:solidFill>
          <a:ln/>
        </p:spPr>
      </p:sp>
      <p:sp>
        <p:nvSpPr>
          <p:cNvPr id="68" name="tag cell linq"/>
          <p:cNvSpPr/>
          <p:nvPr/>
        </p:nvSpPr>
        <p:spPr>
          <a:xfrm>
            <a:off x="9994392" y="4023360"/>
            <a:ext cx="237744" cy="237744"/>
          </a:xfrm>
          <a:prstGeom prst="roundRect">
            <a:avLst>
              <a:gd name="adj" fmla="val 15385"/>
            </a:avLst>
          </a:prstGeom>
          <a:solidFill>
            <a:schemeClr val="accent3"/>
          </a:solidFill>
          <a:ln/>
        </p:spPr>
      </p:sp>
      <p:sp>
        <p:nvSpPr>
          <p:cNvPr id="69" name="tag cell unit-testing"/>
          <p:cNvSpPr/>
          <p:nvPr/>
        </p:nvSpPr>
        <p:spPr>
          <a:xfrm>
            <a:off x="7360920" y="4315968"/>
            <a:ext cx="237744" cy="237744"/>
          </a:xfrm>
          <a:prstGeom prst="roundRect">
            <a:avLst>
              <a:gd name="adj" fmla="val 15385"/>
            </a:avLst>
          </a:prstGeom>
          <a:solidFill>
            <a:schemeClr val="accent3"/>
          </a:solidFill>
          <a:ln/>
        </p:spPr>
      </p:sp>
      <p:sp>
        <p:nvSpPr>
          <p:cNvPr id="70" name="tag cell language-agnostic"/>
          <p:cNvSpPr/>
          <p:nvPr/>
        </p:nvSpPr>
        <p:spPr>
          <a:xfrm>
            <a:off x="7653528" y="4315968"/>
            <a:ext cx="237744" cy="237744"/>
          </a:xfrm>
          <a:prstGeom prst="roundRect">
            <a:avLst>
              <a:gd name="adj" fmla="val 15385"/>
            </a:avLst>
          </a:prstGeom>
          <a:solidFill>
            <a:schemeClr val="accent3"/>
          </a:solidFill>
          <a:ln/>
        </p:spPr>
      </p:sp>
      <p:sp>
        <p:nvSpPr>
          <p:cNvPr id="71" name="tag cell version-control"/>
          <p:cNvSpPr/>
          <p:nvPr/>
        </p:nvSpPr>
        <p:spPr>
          <a:xfrm>
            <a:off x="7946136" y="4315968"/>
            <a:ext cx="237744" cy="237744"/>
          </a:xfrm>
          <a:prstGeom prst="roundRect">
            <a:avLst>
              <a:gd name="adj" fmla="val 15385"/>
            </a:avLst>
          </a:prstGeom>
          <a:solidFill>
            <a:schemeClr val="accent3"/>
          </a:solidFill>
          <a:ln/>
        </p:spPr>
      </p:sp>
      <p:sp>
        <p:nvSpPr>
          <p:cNvPr id="72" name="tag cell http"/>
          <p:cNvSpPr/>
          <p:nvPr/>
        </p:nvSpPr>
        <p:spPr>
          <a:xfrm>
            <a:off x="8238744" y="4315968"/>
            <a:ext cx="237744" cy="237744"/>
          </a:xfrm>
          <a:prstGeom prst="roundRect">
            <a:avLst>
              <a:gd name="adj" fmla="val 15385"/>
            </a:avLst>
          </a:prstGeom>
          <a:solidFill>
            <a:schemeClr val="accent3"/>
          </a:solidFill>
          <a:ln/>
        </p:spPr>
      </p:sp>
      <p:sp>
        <p:nvSpPr>
          <p:cNvPr id="73" name="tag cell debugging"/>
          <p:cNvSpPr/>
          <p:nvPr/>
        </p:nvSpPr>
        <p:spPr>
          <a:xfrm>
            <a:off x="8531352" y="4315968"/>
            <a:ext cx="237744" cy="237744"/>
          </a:xfrm>
          <a:prstGeom prst="roundRect">
            <a:avLst>
              <a:gd name="adj" fmla="val 15385"/>
            </a:avLst>
          </a:prstGeom>
          <a:solidFill>
            <a:schemeClr val="accent3"/>
          </a:solidFill>
          <a:ln/>
        </p:spPr>
      </p:sp>
      <p:sp>
        <p:nvSpPr>
          <p:cNvPr id="74" name="tag cell date"/>
          <p:cNvSpPr/>
          <p:nvPr/>
        </p:nvSpPr>
        <p:spPr>
          <a:xfrm>
            <a:off x="8823960" y="4315968"/>
            <a:ext cx="237744" cy="237744"/>
          </a:xfrm>
          <a:prstGeom prst="roundRect">
            <a:avLst>
              <a:gd name="adj" fmla="val 15385"/>
            </a:avLst>
          </a:prstGeom>
          <a:solidFill>
            <a:schemeClr val="accent3"/>
          </a:solidFill>
          <a:ln/>
        </p:spPr>
      </p:sp>
      <p:sp>
        <p:nvSpPr>
          <p:cNvPr id="75" name="tag cell command-line"/>
          <p:cNvSpPr/>
          <p:nvPr/>
        </p:nvSpPr>
        <p:spPr>
          <a:xfrm>
            <a:off x="9116568" y="4315968"/>
            <a:ext cx="237744" cy="237744"/>
          </a:xfrm>
          <a:prstGeom prst="roundRect">
            <a:avLst>
              <a:gd name="adj" fmla="val 15385"/>
            </a:avLst>
          </a:prstGeom>
          <a:solidFill>
            <a:schemeClr val="accent3"/>
          </a:solidFill>
          <a:ln/>
        </p:spPr>
      </p:sp>
      <p:sp>
        <p:nvSpPr>
          <p:cNvPr id="76" name="tag cell generics"/>
          <p:cNvSpPr/>
          <p:nvPr/>
        </p:nvSpPr>
        <p:spPr>
          <a:xfrm>
            <a:off x="9409176" y="4315968"/>
            <a:ext cx="237744" cy="237744"/>
          </a:xfrm>
          <a:prstGeom prst="roundRect">
            <a:avLst>
              <a:gd name="adj" fmla="val 15385"/>
            </a:avLst>
          </a:prstGeom>
          <a:solidFill>
            <a:schemeClr val="accent3"/>
          </a:solidFill>
          <a:ln/>
        </p:spPr>
      </p:sp>
      <p:sp>
        <p:nvSpPr>
          <p:cNvPr id="77" name="tag cell r"/>
          <p:cNvSpPr/>
          <p:nvPr/>
        </p:nvSpPr>
        <p:spPr>
          <a:xfrm>
            <a:off x="9701784" y="4315968"/>
            <a:ext cx="237744" cy="237744"/>
          </a:xfrm>
          <a:prstGeom prst="roundRect">
            <a:avLst>
              <a:gd name="adj" fmla="val 15385"/>
            </a:avLst>
          </a:prstGeom>
          <a:solidFill>
            <a:schemeClr val="accent3"/>
          </a:solidFill>
          <a:ln/>
        </p:spPr>
      </p:sp>
      <p:sp>
        <p:nvSpPr>
          <p:cNvPr id="78" name="tag cell syntax"/>
          <p:cNvSpPr/>
          <p:nvPr/>
        </p:nvSpPr>
        <p:spPr>
          <a:xfrm>
            <a:off x="9994392" y="4315968"/>
            <a:ext cx="237744" cy="237744"/>
          </a:xfrm>
          <a:prstGeom prst="roundRect">
            <a:avLst>
              <a:gd name="adj" fmla="val 15385"/>
            </a:avLst>
          </a:prstGeom>
          <a:solidFill>
            <a:schemeClr val="accent3"/>
          </a:solidFill>
          <a:ln/>
        </p:spPr>
      </p:sp>
      <p:sp>
        <p:nvSpPr>
          <p:cNvPr id="79" name="tag cell exception"/>
          <p:cNvSpPr/>
          <p:nvPr/>
        </p:nvSpPr>
        <p:spPr>
          <a:xfrm>
            <a:off x="7360920" y="4608576"/>
            <a:ext cx="237744" cy="237744"/>
          </a:xfrm>
          <a:prstGeom prst="roundRect">
            <a:avLst>
              <a:gd name="adj" fmla="val 15385"/>
            </a:avLst>
          </a:prstGeom>
          <a:solidFill>
            <a:schemeClr val="accent3"/>
          </a:solidFill>
          <a:ln/>
        </p:spPr>
      </p:sp>
      <p:sp>
        <p:nvSpPr>
          <p:cNvPr id="80" name="tag cell macos"/>
          <p:cNvSpPr/>
          <p:nvPr/>
        </p:nvSpPr>
        <p:spPr>
          <a:xfrm>
            <a:off x="7653528" y="4608576"/>
            <a:ext cx="237744" cy="237744"/>
          </a:xfrm>
          <a:prstGeom prst="roundRect">
            <a:avLst>
              <a:gd name="adj" fmla="val 15385"/>
            </a:avLst>
          </a:prstGeom>
          <a:solidFill>
            <a:schemeClr val="accent3"/>
          </a:solidFill>
          <a:ln/>
        </p:spPr>
      </p:sp>
      <p:sp>
        <p:nvSpPr>
          <p:cNvPr id="81" name="tag cell reflection"/>
          <p:cNvSpPr/>
          <p:nvPr/>
        </p:nvSpPr>
        <p:spPr>
          <a:xfrm>
            <a:off x="7946136" y="4608576"/>
            <a:ext cx="237744" cy="237744"/>
          </a:xfrm>
          <a:prstGeom prst="roundRect">
            <a:avLst>
              <a:gd name="adj" fmla="val 15385"/>
            </a:avLst>
          </a:prstGeom>
          <a:solidFill>
            <a:schemeClr val="accent3"/>
          </a:solidFill>
          <a:ln/>
        </p:spPr>
      </p:sp>
      <p:sp>
        <p:nvSpPr>
          <p:cNvPr id="82" name="tag cell winforms"/>
          <p:cNvSpPr/>
          <p:nvPr/>
        </p:nvSpPr>
        <p:spPr>
          <a:xfrm>
            <a:off x="8238744" y="4608576"/>
            <a:ext cx="237744" cy="237744"/>
          </a:xfrm>
          <a:prstGeom prst="roundRect">
            <a:avLst>
              <a:gd name="adj" fmla="val 15385"/>
            </a:avLst>
          </a:prstGeom>
          <a:solidFill>
            <a:schemeClr val="accent3"/>
          </a:solidFill>
          <a:ln/>
        </p:spPr>
      </p:sp>
      <p:sp>
        <p:nvSpPr>
          <p:cNvPr id="83" name="tag cell postgresql"/>
          <p:cNvSpPr/>
          <p:nvPr/>
        </p:nvSpPr>
        <p:spPr>
          <a:xfrm>
            <a:off x="8531352" y="4608576"/>
            <a:ext cx="237744" cy="237744"/>
          </a:xfrm>
          <a:prstGeom prst="roundRect">
            <a:avLst>
              <a:gd name="adj" fmla="val 15385"/>
            </a:avLst>
          </a:prstGeom>
          <a:solidFill>
            <a:schemeClr val="accent3"/>
          </a:solidFill>
          <a:ln/>
        </p:spPr>
      </p:sp>
      <p:sp>
        <p:nvSpPr>
          <p:cNvPr id="84" name="tag cell ajax"/>
          <p:cNvSpPr/>
          <p:nvPr/>
        </p:nvSpPr>
        <p:spPr>
          <a:xfrm>
            <a:off x="8823960" y="4608576"/>
            <a:ext cx="237744" cy="237744"/>
          </a:xfrm>
          <a:prstGeom prst="roundRect">
            <a:avLst>
              <a:gd name="adj" fmla="val 15385"/>
            </a:avLst>
          </a:prstGeom>
          <a:solidFill>
            <a:schemeClr val="accent3"/>
          </a:solidFill>
          <a:ln/>
        </p:spPr>
      </p:sp>
      <p:sp>
        <p:nvSpPr>
          <p:cNvPr id="85" name="tag cell math"/>
          <p:cNvSpPr/>
          <p:nvPr/>
        </p:nvSpPr>
        <p:spPr>
          <a:xfrm>
            <a:off x="9116568" y="4608576"/>
            <a:ext cx="237744" cy="237744"/>
          </a:xfrm>
          <a:prstGeom prst="roundRect">
            <a:avLst>
              <a:gd name="adj" fmla="val 15385"/>
            </a:avLst>
          </a:prstGeom>
          <a:solidFill>
            <a:schemeClr val="accent3"/>
          </a:solidFill>
          <a:ln/>
        </p:spPr>
      </p:sp>
      <p:sp>
        <p:nvSpPr>
          <p:cNvPr id="86" name="tag cell class"/>
          <p:cNvSpPr/>
          <p:nvPr/>
        </p:nvSpPr>
        <p:spPr>
          <a:xfrm>
            <a:off x="9409176" y="4608576"/>
            <a:ext cx="237744" cy="237744"/>
          </a:xfrm>
          <a:prstGeom prst="roundRect">
            <a:avLst>
              <a:gd name="adj" fmla="val 15385"/>
            </a:avLst>
          </a:prstGeom>
          <a:solidFill>
            <a:schemeClr val="accent3"/>
          </a:solidFill>
          <a:ln/>
        </p:spPr>
      </p:sp>
      <p:sp>
        <p:nvSpPr>
          <p:cNvPr id="87" name="tag cell dictionary"/>
          <p:cNvSpPr/>
          <p:nvPr/>
        </p:nvSpPr>
        <p:spPr>
          <a:xfrm>
            <a:off x="9701784" y="4608576"/>
            <a:ext cx="237744" cy="237744"/>
          </a:xfrm>
          <a:prstGeom prst="roundRect">
            <a:avLst>
              <a:gd name="adj" fmla="val 15385"/>
            </a:avLst>
          </a:prstGeom>
          <a:solidFill>
            <a:schemeClr val="accent3"/>
          </a:solidFill>
          <a:ln/>
        </p:spPr>
      </p:sp>
      <p:sp>
        <p:nvSpPr>
          <p:cNvPr id="88" name="tag cell function"/>
          <p:cNvSpPr/>
          <p:nvPr/>
        </p:nvSpPr>
        <p:spPr>
          <a:xfrm>
            <a:off x="9994392" y="4608576"/>
            <a:ext cx="237744" cy="237744"/>
          </a:xfrm>
          <a:prstGeom prst="roundRect">
            <a:avLst>
              <a:gd name="adj" fmla="val 15385"/>
            </a:avLst>
          </a:prstGeom>
          <a:solidFill>
            <a:schemeClr val="accent3"/>
          </a:solidFill>
          <a:ln/>
        </p:spPr>
      </p:sp>
      <p:sp>
        <p:nvSpPr>
          <p:cNvPr id="89" name="tag cell sorting"/>
          <p:cNvSpPr/>
          <p:nvPr/>
        </p:nvSpPr>
        <p:spPr>
          <a:xfrm>
            <a:off x="7360920" y="4901184"/>
            <a:ext cx="237744" cy="237744"/>
          </a:xfrm>
          <a:prstGeom prst="roundRect">
            <a:avLst>
              <a:gd name="adj" fmla="val 15385"/>
            </a:avLst>
          </a:prstGeom>
          <a:solidFill>
            <a:schemeClr val="accent3"/>
          </a:solidFill>
          <a:ln/>
        </p:spPr>
      </p:sp>
      <p:sp>
        <p:nvSpPr>
          <p:cNvPr id="90" name="tag cell security"/>
          <p:cNvSpPr/>
          <p:nvPr/>
        </p:nvSpPr>
        <p:spPr>
          <a:xfrm>
            <a:off x="7653528" y="4901184"/>
            <a:ext cx="237744" cy="237744"/>
          </a:xfrm>
          <a:prstGeom prst="roundRect">
            <a:avLst>
              <a:gd name="adj" fmla="val 15385"/>
            </a:avLst>
          </a:prstGeom>
          <a:solidFill>
            <a:schemeClr val="accent3"/>
          </a:solidFill>
          <a:ln/>
        </p:spPr>
      </p:sp>
      <p:sp>
        <p:nvSpPr>
          <p:cNvPr id="91" name="tag cell design-patterns"/>
          <p:cNvSpPr/>
          <p:nvPr/>
        </p:nvSpPr>
        <p:spPr>
          <a:xfrm>
            <a:off x="7946136" y="4901184"/>
            <a:ext cx="237744" cy="237744"/>
          </a:xfrm>
          <a:prstGeom prst="roundRect">
            <a:avLst>
              <a:gd name="adj" fmla="val 15385"/>
            </a:avLst>
          </a:prstGeom>
          <a:solidFill>
            <a:schemeClr val="accent3"/>
          </a:solidFill>
          <a:ln/>
        </p:spPr>
      </p:sp>
      <p:sp>
        <p:nvSpPr>
          <p:cNvPr id="92" name="tag cell cocoa"/>
          <p:cNvSpPr/>
          <p:nvPr/>
        </p:nvSpPr>
        <p:spPr>
          <a:xfrm>
            <a:off x="8238744" y="4901184"/>
            <a:ext cx="237744" cy="237744"/>
          </a:xfrm>
          <a:prstGeom prst="roundRect">
            <a:avLst>
              <a:gd name="adj" fmla="val 15385"/>
            </a:avLst>
          </a:prstGeom>
          <a:solidFill>
            <a:schemeClr val="accent3"/>
          </a:solidFill>
          <a:ln/>
        </p:spPr>
      </p:sp>
      <p:sp>
        <p:nvSpPr>
          <p:cNvPr id="93" name="tag cell collections"/>
          <p:cNvSpPr/>
          <p:nvPr/>
        </p:nvSpPr>
        <p:spPr>
          <a:xfrm>
            <a:off x="8531352" y="4901184"/>
            <a:ext cx="237744" cy="237744"/>
          </a:xfrm>
          <a:prstGeom prst="roundRect">
            <a:avLst>
              <a:gd name="adj" fmla="val 15385"/>
            </a:avLst>
          </a:prstGeom>
          <a:solidFill>
            <a:schemeClr val="accent3"/>
          </a:solidFill>
          <a:ln/>
        </p:spPr>
      </p:sp>
      <p:sp>
        <p:nvSpPr>
          <p:cNvPr id="94" name="tag cell url"/>
          <p:cNvSpPr/>
          <p:nvPr/>
        </p:nvSpPr>
        <p:spPr>
          <a:xfrm>
            <a:off x="8823960" y="4901184"/>
            <a:ext cx="237744" cy="237744"/>
          </a:xfrm>
          <a:prstGeom prst="roundRect">
            <a:avLst>
              <a:gd name="adj" fmla="val 15385"/>
            </a:avLst>
          </a:prstGeom>
          <a:solidFill>
            <a:schemeClr val="accent3"/>
          </a:solidFill>
          <a:ln/>
        </p:spPr>
      </p:sp>
      <p:sp>
        <p:nvSpPr>
          <p:cNvPr id="95" name="tag cell image"/>
          <p:cNvSpPr/>
          <p:nvPr/>
        </p:nvSpPr>
        <p:spPr>
          <a:xfrm>
            <a:off x="9116568" y="4901184"/>
            <a:ext cx="237744" cy="237744"/>
          </a:xfrm>
          <a:prstGeom prst="roundRect">
            <a:avLst>
              <a:gd name="adj" fmla="val 15385"/>
            </a:avLst>
          </a:prstGeom>
          <a:solidFill>
            <a:schemeClr val="accent3"/>
          </a:solidFill>
          <a:ln/>
        </p:spPr>
      </p:sp>
      <p:sp>
        <p:nvSpPr>
          <p:cNvPr id="96" name="tag cell enums"/>
          <p:cNvSpPr/>
          <p:nvPr/>
        </p:nvSpPr>
        <p:spPr>
          <a:xfrm>
            <a:off x="9409176" y="4901184"/>
            <a:ext cx="237744" cy="237744"/>
          </a:xfrm>
          <a:prstGeom prst="roundRect">
            <a:avLst>
              <a:gd name="adj" fmla="val 15385"/>
            </a:avLst>
          </a:prstGeom>
          <a:solidFill>
            <a:schemeClr val="accent3"/>
          </a:solidFill>
          <a:ln/>
        </p:spPr>
      </p:sp>
      <p:sp>
        <p:nvSpPr>
          <p:cNvPr id="97" name="tag cell scala"/>
          <p:cNvSpPr/>
          <p:nvPr/>
        </p:nvSpPr>
        <p:spPr>
          <a:xfrm>
            <a:off x="9701784" y="4901184"/>
            <a:ext cx="237744" cy="237744"/>
          </a:xfrm>
          <a:prstGeom prst="roundRect">
            <a:avLst>
              <a:gd name="adj" fmla="val 15385"/>
            </a:avLst>
          </a:prstGeom>
          <a:solidFill>
            <a:schemeClr val="accent3"/>
          </a:solidFill>
          <a:ln/>
        </p:spPr>
      </p:sp>
      <p:sp>
        <p:nvSpPr>
          <p:cNvPr id="98" name="tag cell oracle"/>
          <p:cNvSpPr/>
          <p:nvPr/>
        </p:nvSpPr>
        <p:spPr>
          <a:xfrm>
            <a:off x="9994392" y="4901184"/>
            <a:ext cx="237744" cy="237744"/>
          </a:xfrm>
          <a:prstGeom prst="roundRect">
            <a:avLst>
              <a:gd name="adj" fmla="val 15385"/>
            </a:avLst>
          </a:prstGeom>
          <a:solidFill>
            <a:schemeClr val="accent3"/>
          </a:solidFill>
          <a:ln/>
        </p:spPr>
      </p:sp>
      <p:sp>
        <p:nvSpPr>
          <p:cNvPr id="99" name="tag cell xcode"/>
          <p:cNvSpPr/>
          <p:nvPr/>
        </p:nvSpPr>
        <p:spPr>
          <a:xfrm>
            <a:off x="7360920" y="5193792"/>
            <a:ext cx="237744" cy="237744"/>
          </a:xfrm>
          <a:prstGeom prst="roundRect">
            <a:avLst>
              <a:gd name="adj" fmla="val 15385"/>
            </a:avLst>
          </a:prstGeom>
          <a:solidFill>
            <a:schemeClr val="accent3"/>
          </a:solidFill>
          <a:ln/>
        </p:spPr>
      </p:sp>
      <p:sp>
        <p:nvSpPr>
          <p:cNvPr id="100" name="tag cell html5"/>
          <p:cNvSpPr/>
          <p:nvPr/>
        </p:nvSpPr>
        <p:spPr>
          <a:xfrm>
            <a:off x="7653528" y="5193792"/>
            <a:ext cx="237744" cy="237744"/>
          </a:xfrm>
          <a:prstGeom prst="roundRect">
            <a:avLst>
              <a:gd name="adj" fmla="val 15385"/>
            </a:avLst>
          </a:prstGeom>
          <a:solidFill>
            <a:schemeClr val="accent3"/>
          </a:solidFill>
          <a:ln/>
        </p:spPr>
      </p:sp>
      <p:sp>
        <p:nvSpPr>
          <p:cNvPr id="101" name="tag cell coding-style"/>
          <p:cNvSpPr/>
          <p:nvPr/>
        </p:nvSpPr>
        <p:spPr>
          <a:xfrm>
            <a:off x="7946136" y="5193792"/>
            <a:ext cx="237744" cy="237744"/>
          </a:xfrm>
          <a:prstGeom prst="roundRect">
            <a:avLst>
              <a:gd name="adj" fmla="val 15385"/>
            </a:avLst>
          </a:prstGeom>
          <a:solidFill>
            <a:schemeClr val="accent3"/>
          </a:solidFill>
          <a:ln/>
        </p:spPr>
      </p:sp>
      <p:sp>
        <p:nvSpPr>
          <p:cNvPr id="102" name="tag cell sql-server-2005"/>
          <p:cNvSpPr/>
          <p:nvPr/>
        </p:nvSpPr>
        <p:spPr>
          <a:xfrm>
            <a:off x="8238744" y="5193792"/>
            <a:ext cx="237744" cy="237744"/>
          </a:xfrm>
          <a:prstGeom prst="roundRect">
            <a:avLst>
              <a:gd name="adj" fmla="val 15385"/>
            </a:avLst>
          </a:prstGeom>
          <a:solidFill>
            <a:schemeClr val="accent3"/>
          </a:solidFill>
          <a:ln/>
        </p:spPr>
      </p:sp>
      <p:sp>
        <p:nvSpPr>
          <p:cNvPr id="103" name="tag cell visual-studio-2008"/>
          <p:cNvSpPr/>
          <p:nvPr/>
        </p:nvSpPr>
        <p:spPr>
          <a:xfrm>
            <a:off x="8531352" y="5193792"/>
            <a:ext cx="237744" cy="237744"/>
          </a:xfrm>
          <a:prstGeom prst="roundRect">
            <a:avLst>
              <a:gd name="adj" fmla="val 15385"/>
            </a:avLst>
          </a:prstGeom>
          <a:solidFill>
            <a:schemeClr val="accent3"/>
          </a:solidFill>
          <a:ln/>
        </p:spPr>
      </p:sp>
      <p:sp>
        <p:nvSpPr>
          <p:cNvPr id="104" name="tag cell types"/>
          <p:cNvSpPr/>
          <p:nvPr/>
        </p:nvSpPr>
        <p:spPr>
          <a:xfrm>
            <a:off x="8823960" y="5193792"/>
            <a:ext cx="237744" cy="237744"/>
          </a:xfrm>
          <a:prstGeom prst="roundRect">
            <a:avLst>
              <a:gd name="adj" fmla="val 15385"/>
            </a:avLst>
          </a:prstGeom>
          <a:solidFill>
            <a:schemeClr val="accent3"/>
          </a:solidFill>
          <a:ln/>
        </p:spPr>
      </p:sp>
      <p:sp>
        <p:nvSpPr>
          <p:cNvPr id="105" name="tag cell maven-2"/>
          <p:cNvSpPr/>
          <p:nvPr/>
        </p:nvSpPr>
        <p:spPr>
          <a:xfrm>
            <a:off x="9116568" y="5193792"/>
            <a:ext cx="237744" cy="237744"/>
          </a:xfrm>
          <a:prstGeom prst="roundRect">
            <a:avLst>
              <a:gd name="adj" fmla="val 15385"/>
            </a:avLst>
          </a:prstGeom>
          <a:solidFill>
            <a:schemeClr val="accent3"/>
          </a:solidFill>
          <a:ln/>
        </p:spPr>
      </p:sp>
      <p:sp>
        <p:nvSpPr>
          <p:cNvPr id="106" name="tag cell logging"/>
          <p:cNvSpPr/>
          <p:nvPr/>
        </p:nvSpPr>
        <p:spPr>
          <a:xfrm>
            <a:off x="9409176" y="5193792"/>
            <a:ext cx="237744" cy="237744"/>
          </a:xfrm>
          <a:prstGeom prst="roundRect">
            <a:avLst>
              <a:gd name="adj" fmla="val 15385"/>
            </a:avLst>
          </a:prstGeom>
          <a:solidFill>
            <a:schemeClr val="accent3"/>
          </a:solidFill>
          <a:ln/>
        </p:spPr>
      </p:sp>
      <p:sp>
        <p:nvSpPr>
          <p:cNvPr id="107" name="tag cell batch-file"/>
          <p:cNvSpPr/>
          <p:nvPr/>
        </p:nvSpPr>
        <p:spPr>
          <a:xfrm>
            <a:off x="9701784" y="5193792"/>
            <a:ext cx="237744" cy="237744"/>
          </a:xfrm>
          <a:prstGeom prst="roundRect">
            <a:avLst>
              <a:gd name="adj" fmla="val 15385"/>
            </a:avLst>
          </a:prstGeom>
          <a:solidFill>
            <a:schemeClr val="accent3"/>
          </a:solidFill>
          <a:ln/>
        </p:spPr>
      </p:sp>
      <p:sp>
        <p:nvSpPr>
          <p:cNvPr id="108" name="tag cell dom"/>
          <p:cNvSpPr/>
          <p:nvPr/>
        </p:nvSpPr>
        <p:spPr>
          <a:xfrm>
            <a:off x="9994392" y="5193792"/>
            <a:ext cx="237744" cy="237744"/>
          </a:xfrm>
          <a:prstGeom prst="roundRect">
            <a:avLst>
              <a:gd name="adj" fmla="val 15385"/>
            </a:avLst>
          </a:prstGeom>
          <a:solidFill>
            <a:schemeClr val="accent3"/>
          </a:solidFill>
          <a:ln/>
        </p:spPr>
      </p:sp>
      <p:sp>
        <p:nvSpPr>
          <p:cNvPr id="109" name="tag cell scripting"/>
          <p:cNvSpPr/>
          <p:nvPr/>
        </p:nvSpPr>
        <p:spPr>
          <a:xfrm>
            <a:off x="7360920" y="5486400"/>
            <a:ext cx="237744" cy="237744"/>
          </a:xfrm>
          <a:prstGeom prst="roundRect">
            <a:avLst>
              <a:gd name="adj" fmla="val 15385"/>
            </a:avLst>
          </a:prstGeom>
          <a:solidFill>
            <a:schemeClr val="accent3"/>
          </a:solidFill>
          <a:ln/>
        </p:spPr>
      </p:sp>
      <p:sp>
        <p:nvSpPr>
          <p:cNvPr id="110" name="tag cell parsing"/>
          <p:cNvSpPr/>
          <p:nvPr/>
        </p:nvSpPr>
        <p:spPr>
          <a:xfrm>
            <a:off x="7653528" y="5486400"/>
            <a:ext cx="237744" cy="237744"/>
          </a:xfrm>
          <a:prstGeom prst="roundRect">
            <a:avLst>
              <a:gd name="adj" fmla="val 15385"/>
            </a:avLst>
          </a:prstGeom>
          <a:solidFill>
            <a:schemeClr val="accent3"/>
          </a:solidFill>
          <a:ln/>
        </p:spPr>
      </p:sp>
      <p:sp>
        <p:nvSpPr>
          <p:cNvPr id="111" name="tag cell rest"/>
          <p:cNvSpPr/>
          <p:nvPr/>
        </p:nvSpPr>
        <p:spPr>
          <a:xfrm>
            <a:off x="7946136" y="5486400"/>
            <a:ext cx="237744" cy="237744"/>
          </a:xfrm>
          <a:prstGeom prst="roundRect">
            <a:avLst>
              <a:gd name="adj" fmla="val 15385"/>
            </a:avLst>
          </a:prstGeom>
          <a:solidFill>
            <a:schemeClr val="accent3"/>
          </a:solidFill>
          <a:ln/>
        </p:spPr>
      </p:sp>
      <p:sp>
        <p:nvSpPr>
          <p:cNvPr id="112" name="tag cell sqlite"/>
          <p:cNvSpPr/>
          <p:nvPr/>
        </p:nvSpPr>
        <p:spPr>
          <a:xfrm>
            <a:off x="8238744" y="5486400"/>
            <a:ext cx="237744" cy="237744"/>
          </a:xfrm>
          <a:prstGeom prst="roundRect">
            <a:avLst>
              <a:gd name="adj" fmla="val 15385"/>
            </a:avLst>
          </a:prstGeom>
          <a:solidFill>
            <a:schemeClr val="accent3"/>
          </a:solidFill>
          <a:ln/>
        </p:spPr>
      </p:sp>
      <p:sp>
        <p:nvSpPr>
          <p:cNvPr id="113" name="tag cell vb.net"/>
          <p:cNvSpPr/>
          <p:nvPr/>
        </p:nvSpPr>
        <p:spPr>
          <a:xfrm>
            <a:off x="8531352" y="5486400"/>
            <a:ext cx="237744" cy="237744"/>
          </a:xfrm>
          <a:prstGeom prst="roundRect">
            <a:avLst>
              <a:gd name="adj" fmla="val 15385"/>
            </a:avLst>
          </a:prstGeom>
          <a:solidFill>
            <a:schemeClr val="accent3"/>
          </a:solidFill>
          <a:ln/>
        </p:spPr>
      </p:sp>
      <p:sp>
        <p:nvSpPr>
          <p:cNvPr id="114" name="tag cell events"/>
          <p:cNvSpPr/>
          <p:nvPr/>
        </p:nvSpPr>
        <p:spPr>
          <a:xfrm>
            <a:off x="8823960" y="5486400"/>
            <a:ext cx="237744" cy="237744"/>
          </a:xfrm>
          <a:prstGeom prst="roundRect">
            <a:avLst>
              <a:gd name="adj" fmla="val 15385"/>
            </a:avLst>
          </a:prstGeom>
          <a:solidFill>
            <a:schemeClr val="accent3"/>
          </a:solidFill>
          <a:ln/>
        </p:spPr>
      </p:sp>
      <p:sp>
        <p:nvSpPr>
          <p:cNvPr id="115" name="tag cell inheritance"/>
          <p:cNvSpPr/>
          <p:nvPr/>
        </p:nvSpPr>
        <p:spPr>
          <a:xfrm>
            <a:off x="9116568" y="5486400"/>
            <a:ext cx="237744" cy="237744"/>
          </a:xfrm>
          <a:prstGeom prst="roundRect">
            <a:avLst>
              <a:gd name="adj" fmla="val 15385"/>
            </a:avLst>
          </a:prstGeom>
          <a:solidFill>
            <a:schemeClr val="accent3"/>
          </a:solidFill>
          <a:ln/>
        </p:spPr>
      </p:sp>
      <p:sp>
        <p:nvSpPr>
          <p:cNvPr id="116" name="tag cell testing"/>
          <p:cNvSpPr/>
          <p:nvPr/>
        </p:nvSpPr>
        <p:spPr>
          <a:xfrm>
            <a:off x="9409176" y="5486400"/>
            <a:ext cx="237744" cy="237744"/>
          </a:xfrm>
          <a:prstGeom prst="roundRect">
            <a:avLst>
              <a:gd name="adj" fmla="val 15385"/>
            </a:avLst>
          </a:prstGeom>
          <a:solidFill>
            <a:schemeClr val="accent3"/>
          </a:solidFill>
          <a:ln/>
        </p:spPr>
      </p:sp>
      <p:sp>
        <p:nvSpPr>
          <p:cNvPr id="117" name="tag cell random"/>
          <p:cNvSpPr/>
          <p:nvPr/>
        </p:nvSpPr>
        <p:spPr>
          <a:xfrm>
            <a:off x="9701784" y="5486400"/>
            <a:ext cx="237744" cy="237744"/>
          </a:xfrm>
          <a:prstGeom prst="roundRect">
            <a:avLst>
              <a:gd name="adj" fmla="val 15385"/>
            </a:avLst>
          </a:prstGeom>
          <a:solidFill>
            <a:schemeClr val="accent3"/>
          </a:solidFill>
          <a:ln/>
        </p:spPr>
      </p:sp>
      <p:sp>
        <p:nvSpPr>
          <p:cNvPr id="118" name="tag cell file-io"/>
          <p:cNvSpPr/>
          <p:nvPr/>
        </p:nvSpPr>
        <p:spPr>
          <a:xfrm>
            <a:off x="9994392" y="5486400"/>
            <a:ext cx="237744" cy="237744"/>
          </a:xfrm>
          <a:prstGeom prst="roundRect">
            <a:avLst>
              <a:gd name="adj" fmla="val 15385"/>
            </a:avLst>
          </a:prstGeom>
          <a:solidFill>
            <a:schemeClr val="accent3"/>
          </a:solidFill>
          <a:ln/>
        </p:spPr>
      </p:sp>
      <p:sp>
        <p:nvSpPr>
          <p:cNvPr id="119" name="Shape 114"/>
          <p:cNvSpPr/>
          <p:nvPr/>
        </p:nvSpPr>
        <p:spPr>
          <a:xfrm>
            <a:off x="10424160" y="2926080"/>
            <a:ext cx="201168" cy="201168"/>
          </a:xfrm>
          <a:prstGeom prst="roundRect">
            <a:avLst>
              <a:gd name="adj" fmla="val 18182"/>
            </a:avLst>
          </a:prstGeom>
          <a:solidFill>
            <a:schemeClr val="accent2"/>
          </a:solidFill>
          <a:ln/>
        </p:spPr>
      </p:sp>
      <p:sp>
        <p:nvSpPr>
          <p:cNvPr id="120" name="Text 115"/>
          <p:cNvSpPr txBox="1"/>
          <p:nvPr/>
        </p:nvSpPr>
        <p:spPr>
          <a:xfrm>
            <a:off x="10716768" y="2852928"/>
            <a:ext cx="1280160" cy="594360"/>
          </a:xfrm>
          <a:prstGeom prst="rect">
            <a:avLst/>
          </a:prstGeom>
          <a:noFill/>
          <a:ln/>
        </p:spPr>
        <p:txBody>
          <a:bodyPr wrap="square" lIns="0" tIns="0" rIns="0" bIns="0" rtlCol="0" anchor="t"/>
          <a:lstStyle/>
          <a:p>
            <a:pPr indent="0" marL="0">
              <a:buNone/>
            </a:pPr>
            <a:r>
              <a:rPr lang="en-US" sz="1200" dirty="0">
                <a:solidFill>
                  <a:schemeClr val="tx1"/>
                </a:solidFill>
              </a:rPr>
              <a:t>Yes: c#, .net, datetime</a:t>
            </a:r>
            <a:endParaRPr lang="en-US" sz="1200" dirty="0"/>
          </a:p>
        </p:txBody>
      </p:sp>
      <p:sp>
        <p:nvSpPr>
          <p:cNvPr id="121" name="Shape 116"/>
          <p:cNvSpPr/>
          <p:nvPr/>
        </p:nvSpPr>
        <p:spPr>
          <a:xfrm>
            <a:off x="10424160" y="3657600"/>
            <a:ext cx="201168" cy="201168"/>
          </a:xfrm>
          <a:prstGeom prst="roundRect">
            <a:avLst>
              <a:gd name="adj" fmla="val 18182"/>
            </a:avLst>
          </a:prstGeom>
          <a:solidFill>
            <a:schemeClr val="accent3"/>
          </a:solidFill>
          <a:ln/>
        </p:spPr>
      </p:sp>
      <p:sp>
        <p:nvSpPr>
          <p:cNvPr id="122" name="Text 117"/>
          <p:cNvSpPr txBox="1"/>
          <p:nvPr/>
        </p:nvSpPr>
        <p:spPr>
          <a:xfrm>
            <a:off x="10716768" y="3584448"/>
            <a:ext cx="1280160" cy="594360"/>
          </a:xfrm>
          <a:prstGeom prst="rect">
            <a:avLst/>
          </a:prstGeom>
          <a:noFill/>
          <a:ln/>
        </p:spPr>
        <p:txBody>
          <a:bodyPr wrap="square" lIns="0" tIns="0" rIns="0" bIns="0" rtlCol="0" anchor="t"/>
          <a:lstStyle/>
          <a:p>
            <a:pPr indent="0" marL="0">
              <a:buNone/>
            </a:pPr>
            <a:r>
              <a:rPr lang="en-US" sz="1200" dirty="0">
                <a:solidFill>
                  <a:schemeClr val="tx1"/>
                </a:solidFill>
              </a:rPr>
              <a:t>No: the other 97 tags</a:t>
            </a:r>
            <a:endParaRPr lang="en-US" sz="1200" dirty="0"/>
          </a:p>
        </p:txBody>
      </p:sp>
      <p:sp>
        <p:nvSpPr>
          <p:cNvPr id="123" name="Text 118"/>
          <p:cNvSpPr txBox="1"/>
          <p:nvPr/>
        </p:nvSpPr>
        <p:spPr>
          <a:xfrm>
            <a:off x="6035040" y="5833872"/>
            <a:ext cx="5577840" cy="411480"/>
          </a:xfrm>
          <a:prstGeom prst="rect">
            <a:avLst/>
          </a:prstGeom>
          <a:noFill/>
          <a:ln/>
        </p:spPr>
        <p:txBody>
          <a:bodyPr wrap="square" lIns="0" tIns="0" rIns="0" bIns="0" rtlCol="0" anchor="t"/>
          <a:lstStyle/>
          <a:p>
            <a:pPr indent="0" marL="0">
              <a:buNone/>
            </a:pPr>
            <a:r>
              <a:rPr lang="en-US" sz="1200" dirty="0">
                <a:solidFill>
                  <a:schemeClr val="accent6"/>
                </a:solidFill>
              </a:rPr>
              <a:t>One square per tag, most common first. This question has 3 of the 100 tags.</a:t>
            </a:r>
            <a:endParaRPr lang="en-US" sz="12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algn="l" indent="0" marL="0">
              <a:buNone/>
            </a:pPr>
            <a:r>
              <a:rPr lang="en-US" sz="3000" b="1" dirty="0">
                <a:solidFill>
                  <a:schemeClr val="tx1"/>
                </a:solidFill>
              </a:rPr>
              <a:t>Where the data came from</a:t>
            </a:r>
            <a:endParaRPr lang="en-US" sz="3000" dirty="0"/>
          </a:p>
        </p:txBody>
      </p:sp>
      <p:sp>
        <p:nvSpPr>
          <p:cNvPr id="3" name="Text 0"/>
          <p:cNvSpPr/>
          <p:nvPr>
            <p:ph idx="101" type="body" hasCustomPrompt="1"/>
          </p:nvPr>
        </p:nvSpPr>
        <p:spPr>
          <a:xfrm>
            <a:off x="548640" y="987552"/>
            <a:ext cx="11064240" cy="411480"/>
          </a:xfrm>
          <a:prstGeom prst="rect">
            <a:avLst/>
          </a:prstGeom>
          <a:noFill/>
          <a:ln/>
        </p:spPr>
        <p:txBody>
          <a:bodyPr wrap="square" lIns="0" tIns="0" rIns="0" bIns="0" rtlCol="0" anchor="ctr"/>
          <a:lstStyle/>
          <a:p>
            <a:pPr algn="l" indent="0" marL="0">
              <a:buNone/>
            </a:pPr>
            <a:r>
              <a:rPr lang="en-US" sz="1600" dirty="0">
                <a:solidFill>
                  <a:schemeClr val="accent6"/>
                </a:solidFill>
              </a:rPr>
              <a:t>Stack Overflow’s public data dump, 2010 version, loaded into SQL Server from brentozar.com</a:t>
            </a:r>
            <a:endParaRPr lang="en-US" sz="1600" dirty="0"/>
          </a:p>
        </p:txBody>
      </p:sp>
      <p:sp>
        <p:nvSpPr>
          <p:cNvPr id="4" name="icon circle archive"/>
          <p:cNvSpPr/>
          <p:nvPr/>
        </p:nvSpPr>
        <p:spPr>
          <a:xfrm>
            <a:off x="1417320" y="1828800"/>
            <a:ext cx="868680" cy="868680"/>
          </a:xfrm>
          <a:prstGeom prst="ellipse">
            <a:avLst/>
          </a:prstGeom>
          <a:solidFill>
            <a:schemeClr val="accent1"/>
          </a:solidFill>
          <a:ln/>
        </p:spPr>
      </p:sp>
      <p:pic>
        <p:nvPicPr>
          <p:cNvPr id="5" name="icon archive" descr="Archive box icon">    </p:cNvPr>
          <p:cNvPicPr>
            <a:picLocks noChangeAspect="1"/>
          </p:cNvPicPr>
          <p:nvPr/>
        </p:nvPicPr>
        <p:blipFill>
          <a:blip r:embed="rId1"/>
          <a:stretch>
            <a:fillRect/>
          </a:stretch>
        </p:blipFill>
        <p:spPr>
          <a:xfrm>
            <a:off x="1625803" y="2037283"/>
            <a:ext cx="451714" cy="451714"/>
          </a:xfrm>
          <a:prstGeom prst="rect">
            <a:avLst/>
          </a:prstGeom>
        </p:spPr>
      </p:pic>
      <p:sp>
        <p:nvSpPr>
          <p:cNvPr id="6" name="Text 3"/>
          <p:cNvSpPr txBox="1"/>
          <p:nvPr/>
        </p:nvSpPr>
        <p:spPr>
          <a:xfrm>
            <a:off x="548640" y="2880360"/>
            <a:ext cx="2606040" cy="365760"/>
          </a:xfrm>
          <a:prstGeom prst="rect">
            <a:avLst/>
          </a:prstGeom>
          <a:noFill/>
          <a:ln/>
        </p:spPr>
        <p:txBody>
          <a:bodyPr wrap="square" lIns="0" tIns="0" rIns="0" bIns="0" rtlCol="0" anchor="t"/>
          <a:lstStyle/>
          <a:p>
            <a:pPr algn="ctr" indent="0" marL="0">
              <a:buNone/>
            </a:pPr>
            <a:r>
              <a:rPr lang="en-US" sz="1600" b="1" dirty="0">
                <a:solidFill>
                  <a:schemeClr val="tx1"/>
                </a:solidFill>
              </a:rPr>
              <a:t>Data dump</a:t>
            </a:r>
            <a:endParaRPr lang="en-US" sz="1600" dirty="0"/>
          </a:p>
        </p:txBody>
      </p:sp>
      <p:sp>
        <p:nvSpPr>
          <p:cNvPr id="7" name="Text 4"/>
          <p:cNvSpPr txBox="1"/>
          <p:nvPr/>
        </p:nvSpPr>
        <p:spPr>
          <a:xfrm>
            <a:off x="548640" y="3291840"/>
            <a:ext cx="2606040" cy="1463040"/>
          </a:xfrm>
          <a:prstGeom prst="rect">
            <a:avLst/>
          </a:prstGeom>
          <a:noFill/>
          <a:ln/>
        </p:spPr>
        <p:txBody>
          <a:bodyPr wrap="square" lIns="0" tIns="0" rIns="0" bIns="0" rtlCol="0" anchor="t"/>
          <a:lstStyle/>
          <a:p>
            <a:pPr algn="ctr" indent="0" marL="0">
              <a:buNone/>
            </a:pPr>
            <a:r>
              <a:rPr lang="en-US" sz="1400" dirty="0">
                <a:solidFill>
                  <a:schemeClr val="accent6"/>
                </a:solidFill>
              </a:rPr>
              <a:t>Stack Overflow posts up to 2010, as a SQL Server database</a:t>
            </a:r>
            <a:endParaRPr lang="en-US" sz="1400" dirty="0"/>
          </a:p>
        </p:txBody>
      </p:sp>
      <p:sp>
        <p:nvSpPr>
          <p:cNvPr id="8" name="arrow"/>
          <p:cNvSpPr/>
          <p:nvPr/>
        </p:nvSpPr>
        <p:spPr>
          <a:xfrm>
            <a:off x="2514600" y="2258568"/>
            <a:ext cx="1508760" cy="0"/>
          </a:xfrm>
          <a:prstGeom prst="line">
            <a:avLst/>
          </a:prstGeom>
          <a:noFill/>
          <a:ln w="22225">
            <a:solidFill>
              <a:schemeClr val="accent6"/>
            </a:solidFill>
            <a:prstDash val="solid"/>
            <a:tailEnd type="triangle"/>
          </a:ln>
        </p:spPr>
      </p:sp>
      <p:sp>
        <p:nvSpPr>
          <p:cNvPr id="9" name="icon circle database"/>
          <p:cNvSpPr/>
          <p:nvPr/>
        </p:nvSpPr>
        <p:spPr>
          <a:xfrm>
            <a:off x="4251960" y="1828800"/>
            <a:ext cx="868680" cy="868680"/>
          </a:xfrm>
          <a:prstGeom prst="ellipse">
            <a:avLst/>
          </a:prstGeom>
          <a:solidFill>
            <a:schemeClr val="accent1"/>
          </a:solidFill>
          <a:ln/>
        </p:spPr>
      </p:sp>
      <p:pic>
        <p:nvPicPr>
          <p:cNvPr id="10" name="icon database" descr="Database icon">    </p:cNvPr>
          <p:cNvPicPr>
            <a:picLocks noChangeAspect="1"/>
          </p:cNvPicPr>
          <p:nvPr/>
        </p:nvPicPr>
        <p:blipFill>
          <a:blip r:embed="rId2"/>
          <a:stretch>
            <a:fillRect/>
          </a:stretch>
        </p:blipFill>
        <p:spPr>
          <a:xfrm>
            <a:off x="4460443" y="2037283"/>
            <a:ext cx="451714" cy="451714"/>
          </a:xfrm>
          <a:prstGeom prst="rect">
            <a:avLst/>
          </a:prstGeom>
        </p:spPr>
      </p:pic>
      <p:sp>
        <p:nvSpPr>
          <p:cNvPr id="11" name="Text 7"/>
          <p:cNvSpPr txBox="1"/>
          <p:nvPr/>
        </p:nvSpPr>
        <p:spPr>
          <a:xfrm>
            <a:off x="3383280" y="2880360"/>
            <a:ext cx="2606040" cy="365760"/>
          </a:xfrm>
          <a:prstGeom prst="rect">
            <a:avLst/>
          </a:prstGeom>
          <a:noFill/>
          <a:ln/>
        </p:spPr>
        <p:txBody>
          <a:bodyPr wrap="square" lIns="0" tIns="0" rIns="0" bIns="0" rtlCol="0" anchor="t"/>
          <a:lstStyle/>
          <a:p>
            <a:pPr algn="ctr" indent="0" marL="0">
              <a:buNone/>
            </a:pPr>
            <a:r>
              <a:rPr lang="en-US" sz="1600" b="1" dirty="0">
                <a:solidFill>
                  <a:schemeClr val="tx1"/>
                </a:solidFill>
              </a:rPr>
              <a:t>SQL Server</a:t>
            </a:r>
            <a:endParaRPr lang="en-US" sz="1600" dirty="0"/>
          </a:p>
        </p:txBody>
      </p:sp>
      <p:sp>
        <p:nvSpPr>
          <p:cNvPr id="12" name="Text 8"/>
          <p:cNvSpPr txBox="1"/>
          <p:nvPr/>
        </p:nvSpPr>
        <p:spPr>
          <a:xfrm>
            <a:off x="3383280" y="3291840"/>
            <a:ext cx="2606040" cy="1463040"/>
          </a:xfrm>
          <a:prstGeom prst="rect">
            <a:avLst/>
          </a:prstGeom>
          <a:noFill/>
          <a:ln/>
        </p:spPr>
        <p:txBody>
          <a:bodyPr wrap="square" lIns="0" tIns="0" rIns="0" bIns="0" rtlCol="0" anchor="t"/>
          <a:lstStyle/>
          <a:p>
            <a:pPr algn="ctr" indent="0" marL="0">
              <a:buNone/>
            </a:pPr>
            <a:r>
              <a:rPr lang="en-US" sz="1400" dirty="0">
                <a:solidFill>
                  <a:schemeClr val="accent6"/>
                </a:solidFill>
              </a:rPr>
              <a:t>Removed commas from titles and tags, stripped the HTML angle brackets from tags and deleted posts with no title</a:t>
            </a:r>
            <a:endParaRPr lang="en-US" sz="1400" dirty="0"/>
          </a:p>
        </p:txBody>
      </p:sp>
      <p:sp>
        <p:nvSpPr>
          <p:cNvPr id="13" name="arrow"/>
          <p:cNvSpPr/>
          <p:nvPr/>
        </p:nvSpPr>
        <p:spPr>
          <a:xfrm>
            <a:off x="5349240" y="2258568"/>
            <a:ext cx="1508760" cy="0"/>
          </a:xfrm>
          <a:prstGeom prst="line">
            <a:avLst/>
          </a:prstGeom>
          <a:noFill/>
          <a:ln w="22225">
            <a:solidFill>
              <a:schemeClr val="accent6"/>
            </a:solidFill>
            <a:prstDash val="solid"/>
            <a:tailEnd type="triangle"/>
          </a:ln>
        </p:spPr>
      </p:sp>
      <p:sp>
        <p:nvSpPr>
          <p:cNvPr id="14" name="icon circle csv"/>
          <p:cNvSpPr/>
          <p:nvPr/>
        </p:nvSpPr>
        <p:spPr>
          <a:xfrm>
            <a:off x="7086600" y="1828800"/>
            <a:ext cx="868680" cy="868680"/>
          </a:xfrm>
          <a:prstGeom prst="ellipse">
            <a:avLst/>
          </a:prstGeom>
          <a:solidFill>
            <a:schemeClr val="accent1"/>
          </a:solidFill>
          <a:ln/>
        </p:spPr>
      </p:sp>
      <p:pic>
        <p:nvPicPr>
          <p:cNvPr id="15" name="icon csv" descr="CSV file icon">    </p:cNvPr>
          <p:cNvPicPr>
            <a:picLocks noChangeAspect="1"/>
          </p:cNvPicPr>
          <p:nvPr/>
        </p:nvPicPr>
        <p:blipFill>
          <a:blip r:embed="rId3"/>
          <a:stretch>
            <a:fillRect/>
          </a:stretch>
        </p:blipFill>
        <p:spPr>
          <a:xfrm>
            <a:off x="7295083" y="2037283"/>
            <a:ext cx="451714" cy="451714"/>
          </a:xfrm>
          <a:prstGeom prst="rect">
            <a:avLst/>
          </a:prstGeom>
        </p:spPr>
      </p:pic>
      <p:sp>
        <p:nvSpPr>
          <p:cNvPr id="16" name="Text 11"/>
          <p:cNvSpPr txBox="1"/>
          <p:nvPr/>
        </p:nvSpPr>
        <p:spPr>
          <a:xfrm>
            <a:off x="6217920" y="2880360"/>
            <a:ext cx="2606040" cy="365760"/>
          </a:xfrm>
          <a:prstGeom prst="rect">
            <a:avLst/>
          </a:prstGeom>
          <a:noFill/>
          <a:ln/>
        </p:spPr>
        <p:txBody>
          <a:bodyPr wrap="square" lIns="0" tIns="0" rIns="0" bIns="0" rtlCol="0" anchor="t"/>
          <a:lstStyle/>
          <a:p>
            <a:pPr algn="ctr" indent="0" marL="0">
              <a:buNone/>
            </a:pPr>
            <a:r>
              <a:rPr lang="en-US" sz="1600" b="1" dirty="0">
                <a:solidFill>
                  <a:schemeClr val="tx1"/>
                </a:solidFill>
              </a:rPr>
              <a:t>CSV export</a:t>
            </a:r>
            <a:endParaRPr lang="en-US" sz="1600" dirty="0"/>
          </a:p>
        </p:txBody>
      </p:sp>
      <p:sp>
        <p:nvSpPr>
          <p:cNvPr id="17" name="Text 12"/>
          <p:cNvSpPr txBox="1"/>
          <p:nvPr/>
        </p:nvSpPr>
        <p:spPr>
          <a:xfrm>
            <a:off x="6217920" y="3291840"/>
            <a:ext cx="2606040" cy="1463040"/>
          </a:xfrm>
          <a:prstGeom prst="rect">
            <a:avLst/>
          </a:prstGeom>
          <a:noFill/>
          <a:ln/>
        </p:spPr>
        <p:txBody>
          <a:bodyPr wrap="square" lIns="0" tIns="0" rIns="0" bIns="0" rtlCol="0" anchor="t"/>
          <a:lstStyle/>
          <a:p>
            <a:pPr algn="ctr" indent="0" marL="0">
              <a:buNone/>
            </a:pPr>
            <a:r>
              <a:rPr lang="en-US" sz="1400" dirty="0">
                <a:solidFill>
                  <a:schemeClr val="accent6"/>
                </a:solidFill>
              </a:rPr>
              <a:t>1,000,000 posts with title, tags, score and view count, exported with SQL Server Management Studio</a:t>
            </a:r>
            <a:endParaRPr lang="en-US" sz="1400" dirty="0"/>
          </a:p>
        </p:txBody>
      </p:sp>
      <p:sp>
        <p:nvSpPr>
          <p:cNvPr id="18" name="arrow"/>
          <p:cNvSpPr/>
          <p:nvPr/>
        </p:nvSpPr>
        <p:spPr>
          <a:xfrm>
            <a:off x="8183880" y="2258568"/>
            <a:ext cx="1508760" cy="0"/>
          </a:xfrm>
          <a:prstGeom prst="line">
            <a:avLst/>
          </a:prstGeom>
          <a:noFill/>
          <a:ln w="22225">
            <a:solidFill>
              <a:schemeClr val="accent6"/>
            </a:solidFill>
            <a:prstDash val="solid"/>
            <a:tailEnd type="triangle"/>
          </a:ln>
        </p:spPr>
      </p:sp>
      <p:sp>
        <p:nvSpPr>
          <p:cNvPr id="19" name="icon circle python"/>
          <p:cNvSpPr/>
          <p:nvPr/>
        </p:nvSpPr>
        <p:spPr>
          <a:xfrm>
            <a:off x="9921240" y="1828800"/>
            <a:ext cx="868680" cy="868680"/>
          </a:xfrm>
          <a:prstGeom prst="ellipse">
            <a:avLst/>
          </a:prstGeom>
          <a:solidFill>
            <a:schemeClr val="accent1"/>
          </a:solidFill>
          <a:ln/>
        </p:spPr>
      </p:sp>
      <p:pic>
        <p:nvPicPr>
          <p:cNvPr id="20" name="icon python" descr="Python icon">    </p:cNvPr>
          <p:cNvPicPr>
            <a:picLocks noChangeAspect="1"/>
          </p:cNvPicPr>
          <p:nvPr/>
        </p:nvPicPr>
        <p:blipFill>
          <a:blip r:embed="rId4"/>
          <a:stretch>
            <a:fillRect/>
          </a:stretch>
        </p:blipFill>
        <p:spPr>
          <a:xfrm>
            <a:off x="10129723" y="2037283"/>
            <a:ext cx="451714" cy="451714"/>
          </a:xfrm>
          <a:prstGeom prst="rect">
            <a:avLst/>
          </a:prstGeom>
        </p:spPr>
      </p:pic>
      <p:sp>
        <p:nvSpPr>
          <p:cNvPr id="21" name="Text 15"/>
          <p:cNvSpPr txBox="1"/>
          <p:nvPr/>
        </p:nvSpPr>
        <p:spPr>
          <a:xfrm>
            <a:off x="9052560" y="2880360"/>
            <a:ext cx="2606040" cy="365760"/>
          </a:xfrm>
          <a:prstGeom prst="rect">
            <a:avLst/>
          </a:prstGeom>
          <a:noFill/>
          <a:ln/>
        </p:spPr>
        <p:txBody>
          <a:bodyPr wrap="square" lIns="0" tIns="0" rIns="0" bIns="0" rtlCol="0" anchor="t"/>
          <a:lstStyle/>
          <a:p>
            <a:pPr algn="ctr" indent="0" marL="0">
              <a:buNone/>
            </a:pPr>
            <a:r>
              <a:rPr lang="en-US" sz="1600" b="1" dirty="0">
                <a:solidFill>
                  <a:schemeClr val="tx1"/>
                </a:solidFill>
              </a:rPr>
              <a:t>Python</a:t>
            </a:r>
            <a:endParaRPr lang="en-US" sz="1600" dirty="0"/>
          </a:p>
        </p:txBody>
      </p:sp>
      <p:sp>
        <p:nvSpPr>
          <p:cNvPr id="22" name="Text 16"/>
          <p:cNvSpPr txBox="1"/>
          <p:nvPr/>
        </p:nvSpPr>
        <p:spPr>
          <a:xfrm>
            <a:off x="9052560" y="3291840"/>
            <a:ext cx="2606040" cy="1463040"/>
          </a:xfrm>
          <a:prstGeom prst="rect">
            <a:avLst/>
          </a:prstGeom>
          <a:noFill/>
          <a:ln/>
        </p:spPr>
        <p:txBody>
          <a:bodyPr wrap="square" lIns="0" tIns="0" rIns="0" bIns="0" rtlCol="0" anchor="t"/>
          <a:lstStyle/>
          <a:p>
            <a:pPr algn="ctr" indent="0" marL="0">
              <a:buNone/>
            </a:pPr>
            <a:r>
              <a:rPr lang="en-US" sz="1400" dirty="0">
                <a:solidFill>
                  <a:schemeClr val="accent6"/>
                </a:solidFill>
              </a:rPr>
              <a:t>Filtered, cleaned and modeled in a Jupyter notebook with pandas, NLTK and scikit-learn</a:t>
            </a:r>
            <a:endParaRPr lang="en-US" sz="1400" dirty="0"/>
          </a:p>
        </p:txBody>
      </p:sp>
      <p:sp>
        <p:nvSpPr>
          <p:cNvPr id="23" name="tools"/>
          <p:cNvSpPr/>
          <p:nvPr/>
        </p:nvSpPr>
        <p:spPr>
          <a:xfrm>
            <a:off x="548640" y="5074920"/>
            <a:ext cx="11064240" cy="960120"/>
          </a:xfrm>
          <a:prstGeom prst="roundRect">
            <a:avLst>
              <a:gd name="adj" fmla="val 7619"/>
            </a:avLst>
          </a:prstGeom>
          <a:solidFill>
            <a:schemeClr val="bg2"/>
          </a:solidFill>
          <a:ln/>
        </p:spPr>
      </p:sp>
      <p:sp>
        <p:nvSpPr>
          <p:cNvPr id="24" name="Text 18"/>
          <p:cNvSpPr txBox="1"/>
          <p:nvPr/>
        </p:nvSpPr>
        <p:spPr>
          <a:xfrm>
            <a:off x="822960" y="5074920"/>
            <a:ext cx="1097280" cy="960120"/>
          </a:xfrm>
          <a:prstGeom prst="rect">
            <a:avLst/>
          </a:prstGeom>
          <a:noFill/>
          <a:ln/>
        </p:spPr>
        <p:txBody>
          <a:bodyPr wrap="square" lIns="0" tIns="0" rIns="0" bIns="0" rtlCol="0" anchor="ctr"/>
          <a:lstStyle/>
          <a:p>
            <a:pPr indent="0" marL="0">
              <a:buNone/>
            </a:pPr>
            <a:r>
              <a:rPr lang="en-US" sz="1600" b="1" dirty="0">
                <a:solidFill>
                  <a:schemeClr val="tx1"/>
                </a:solidFill>
              </a:rPr>
              <a:t>Tools</a:t>
            </a:r>
            <a:endParaRPr lang="en-US" sz="1600" dirty="0"/>
          </a:p>
        </p:txBody>
      </p:sp>
      <p:sp>
        <p:nvSpPr>
          <p:cNvPr id="25" name="chip SQL Server"/>
          <p:cNvSpPr/>
          <p:nvPr/>
        </p:nvSpPr>
        <p:spPr>
          <a:xfrm>
            <a:off x="1828800" y="5385816"/>
            <a:ext cx="1093622" cy="329184"/>
          </a:xfrm>
          <a:prstGeom prst="roundRect">
            <a:avLst>
              <a:gd name="adj" fmla="val 16667"/>
            </a:avLst>
          </a:prstGeom>
          <a:solidFill>
            <a:schemeClr val="accent4"/>
          </a:solidFill>
          <a:ln/>
        </p:spPr>
        <p:txBody>
          <a:bodyPr wrap="square" lIns="0" tIns="0" rIns="0" bIns="0" rtlCol="0" anchor="ctr"/>
          <a:lstStyle/>
          <a:p>
            <a:pPr algn="ctr" indent="0" marL="0">
              <a:buNone/>
            </a:pPr>
            <a:r>
              <a:rPr lang="en-US" sz="1400" dirty="0">
                <a:solidFill>
                  <a:schemeClr val="accent5"/>
                </a:solidFill>
              </a:rPr>
              <a:t>SQL Server</a:t>
            </a:r>
            <a:endParaRPr lang="en-US" sz="1400" dirty="0"/>
          </a:p>
        </p:txBody>
      </p:sp>
      <p:sp>
        <p:nvSpPr>
          <p:cNvPr id="26" name="chip Python"/>
          <p:cNvSpPr/>
          <p:nvPr/>
        </p:nvSpPr>
        <p:spPr>
          <a:xfrm>
            <a:off x="3032150" y="5385816"/>
            <a:ext cx="765901" cy="329184"/>
          </a:xfrm>
          <a:prstGeom prst="roundRect">
            <a:avLst>
              <a:gd name="adj" fmla="val 16667"/>
            </a:avLst>
          </a:prstGeom>
          <a:solidFill>
            <a:schemeClr val="accent4"/>
          </a:solidFill>
          <a:ln/>
        </p:spPr>
        <p:txBody>
          <a:bodyPr wrap="square" lIns="0" tIns="0" rIns="0" bIns="0" rtlCol="0" anchor="ctr"/>
          <a:lstStyle/>
          <a:p>
            <a:pPr algn="ctr" indent="0" marL="0">
              <a:buNone/>
            </a:pPr>
            <a:r>
              <a:rPr lang="en-US" sz="1400" dirty="0">
                <a:solidFill>
                  <a:schemeClr val="accent5"/>
                </a:solidFill>
              </a:rPr>
              <a:t>Python</a:t>
            </a:r>
            <a:endParaRPr lang="en-US" sz="1400" dirty="0"/>
          </a:p>
        </p:txBody>
      </p:sp>
      <p:sp>
        <p:nvSpPr>
          <p:cNvPr id="27" name="chip pandas"/>
          <p:cNvSpPr/>
          <p:nvPr/>
        </p:nvSpPr>
        <p:spPr>
          <a:xfrm>
            <a:off x="3907780" y="5385816"/>
            <a:ext cx="765901" cy="329184"/>
          </a:xfrm>
          <a:prstGeom prst="roundRect">
            <a:avLst>
              <a:gd name="adj" fmla="val 16667"/>
            </a:avLst>
          </a:prstGeom>
          <a:solidFill>
            <a:schemeClr val="accent4"/>
          </a:solidFill>
          <a:ln/>
        </p:spPr>
        <p:txBody>
          <a:bodyPr wrap="square" lIns="0" tIns="0" rIns="0" bIns="0" rtlCol="0" anchor="ctr"/>
          <a:lstStyle/>
          <a:p>
            <a:pPr algn="ctr" indent="0" marL="0">
              <a:buNone/>
            </a:pPr>
            <a:r>
              <a:rPr lang="en-US" sz="1400" dirty="0">
                <a:solidFill>
                  <a:schemeClr val="accent5"/>
                </a:solidFill>
              </a:rPr>
              <a:t>pandas</a:t>
            </a:r>
            <a:endParaRPr lang="en-US" sz="1400" dirty="0"/>
          </a:p>
        </p:txBody>
      </p:sp>
      <p:sp>
        <p:nvSpPr>
          <p:cNvPr id="28" name="chip NLTK"/>
          <p:cNvSpPr/>
          <p:nvPr/>
        </p:nvSpPr>
        <p:spPr>
          <a:xfrm>
            <a:off x="4783409" y="5385816"/>
            <a:ext cx="602041" cy="329184"/>
          </a:xfrm>
          <a:prstGeom prst="roundRect">
            <a:avLst>
              <a:gd name="adj" fmla="val 16667"/>
            </a:avLst>
          </a:prstGeom>
          <a:solidFill>
            <a:schemeClr val="accent4"/>
          </a:solidFill>
          <a:ln/>
        </p:spPr>
        <p:txBody>
          <a:bodyPr wrap="square" lIns="0" tIns="0" rIns="0" bIns="0" rtlCol="0" anchor="ctr"/>
          <a:lstStyle/>
          <a:p>
            <a:pPr algn="ctr" indent="0" marL="0">
              <a:buNone/>
            </a:pPr>
            <a:r>
              <a:rPr lang="en-US" sz="1400" dirty="0">
                <a:solidFill>
                  <a:schemeClr val="accent5"/>
                </a:solidFill>
              </a:rPr>
              <a:t>NLTK</a:t>
            </a:r>
            <a:endParaRPr lang="en-US" sz="1400" dirty="0"/>
          </a:p>
        </p:txBody>
      </p:sp>
      <p:sp>
        <p:nvSpPr>
          <p:cNvPr id="29" name="chip scikit-learn"/>
          <p:cNvSpPr/>
          <p:nvPr/>
        </p:nvSpPr>
        <p:spPr>
          <a:xfrm>
            <a:off x="5495178" y="5385816"/>
            <a:ext cx="1257483" cy="329184"/>
          </a:xfrm>
          <a:prstGeom prst="roundRect">
            <a:avLst>
              <a:gd name="adj" fmla="val 16667"/>
            </a:avLst>
          </a:prstGeom>
          <a:solidFill>
            <a:schemeClr val="accent4"/>
          </a:solidFill>
          <a:ln/>
        </p:spPr>
        <p:txBody>
          <a:bodyPr wrap="square" lIns="0" tIns="0" rIns="0" bIns="0" rtlCol="0" anchor="ctr"/>
          <a:lstStyle/>
          <a:p>
            <a:pPr algn="ctr" indent="0" marL="0">
              <a:buNone/>
            </a:pPr>
            <a:r>
              <a:rPr lang="en-US" sz="1400" dirty="0">
                <a:solidFill>
                  <a:schemeClr val="accent5"/>
                </a:solidFill>
              </a:rPr>
              <a:t>scikit-learn</a:t>
            </a:r>
            <a:endParaRPr lang="en-US" sz="1400" dirty="0"/>
          </a:p>
        </p:txBody>
      </p:sp>
      <p:sp>
        <p:nvSpPr>
          <p:cNvPr id="30" name="chip Jupyter"/>
          <p:cNvSpPr/>
          <p:nvPr/>
        </p:nvSpPr>
        <p:spPr>
          <a:xfrm>
            <a:off x="6862389" y="5385816"/>
            <a:ext cx="847832" cy="329184"/>
          </a:xfrm>
          <a:prstGeom prst="roundRect">
            <a:avLst>
              <a:gd name="adj" fmla="val 16667"/>
            </a:avLst>
          </a:prstGeom>
          <a:solidFill>
            <a:schemeClr val="accent4"/>
          </a:solidFill>
          <a:ln/>
        </p:spPr>
        <p:txBody>
          <a:bodyPr wrap="square" lIns="0" tIns="0" rIns="0" bIns="0" rtlCol="0" anchor="ctr"/>
          <a:lstStyle/>
          <a:p>
            <a:pPr algn="ctr" indent="0" marL="0">
              <a:buNone/>
            </a:pPr>
            <a:r>
              <a:rPr lang="en-US" sz="1400" dirty="0">
                <a:solidFill>
                  <a:schemeClr val="accent5"/>
                </a:solidFill>
              </a:rPr>
              <a:t>Jupyter</a:t>
            </a:r>
            <a:endParaRPr lang="en-US" sz="1400" dirty="0"/>
          </a:p>
        </p:txBody>
      </p:sp>
      <p:sp>
        <p:nvSpPr>
          <p:cNvPr id="31" name="chip 32-thread workstation"/>
          <p:cNvSpPr/>
          <p:nvPr/>
        </p:nvSpPr>
        <p:spPr>
          <a:xfrm>
            <a:off x="7819949" y="5385816"/>
            <a:ext cx="1994855" cy="329184"/>
          </a:xfrm>
          <a:prstGeom prst="roundRect">
            <a:avLst>
              <a:gd name="adj" fmla="val 16667"/>
            </a:avLst>
          </a:prstGeom>
          <a:solidFill>
            <a:schemeClr val="accent4"/>
          </a:solidFill>
          <a:ln/>
        </p:spPr>
        <p:txBody>
          <a:bodyPr wrap="square" lIns="0" tIns="0" rIns="0" bIns="0" rtlCol="0" anchor="ctr"/>
          <a:lstStyle/>
          <a:p>
            <a:pPr algn="ctr" indent="0" marL="0">
              <a:buNone/>
            </a:pPr>
            <a:r>
              <a:rPr lang="en-US" sz="1400" dirty="0">
                <a:solidFill>
                  <a:schemeClr val="accent5"/>
                </a:solidFill>
              </a:rPr>
              <a:t>32-thread workstation</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algn="l" indent="0" marL="0">
              <a:buNone/>
            </a:pPr>
            <a:r>
              <a:rPr lang="en-US" sz="3000" b="1" dirty="0">
                <a:solidFill>
                  <a:schemeClr val="tx1"/>
                </a:solidFill>
              </a:rPr>
              <a:t>Filtering to popular questions</a:t>
            </a:r>
            <a:endParaRPr lang="en-US" sz="3000" dirty="0"/>
          </a:p>
        </p:txBody>
      </p:sp>
      <p:sp>
        <p:nvSpPr>
          <p:cNvPr id="3" name="Text 0"/>
          <p:cNvSpPr/>
          <p:nvPr>
            <p:ph idx="101" type="body" hasCustomPrompt="1"/>
          </p:nvPr>
        </p:nvSpPr>
        <p:spPr>
          <a:xfrm>
            <a:off x="548640" y="987552"/>
            <a:ext cx="11064240" cy="411480"/>
          </a:xfrm>
          <a:prstGeom prst="rect">
            <a:avLst/>
          </a:prstGeom>
          <a:noFill/>
          <a:ln/>
        </p:spPr>
        <p:txBody>
          <a:bodyPr wrap="square" lIns="0" tIns="0" rIns="0" bIns="0" rtlCol="0" anchor="ctr"/>
          <a:lstStyle/>
          <a:p>
            <a:pPr algn="l" indent="0" marL="0">
              <a:buNone/>
            </a:pPr>
            <a:r>
              <a:rPr lang="en-US" sz="1600" dirty="0">
                <a:solidFill>
                  <a:schemeClr val="accent6"/>
                </a:solidFill>
              </a:rPr>
              <a:t>Well-rated, widely viewed questions with at least one common tag</a:t>
            </a:r>
            <a:endParaRPr lang="en-US" sz="1600" dirty="0"/>
          </a:p>
        </p:txBody>
      </p:sp>
      <p:sp>
        <p:nvSpPr>
          <p:cNvPr id="4" name="stage posts exported"/>
          <p:cNvSpPr/>
          <p:nvPr/>
        </p:nvSpPr>
        <p:spPr>
          <a:xfrm>
            <a:off x="548640" y="1691640"/>
            <a:ext cx="2514600" cy="1965960"/>
          </a:xfrm>
          <a:prstGeom prst="roundRect">
            <a:avLst>
              <a:gd name="adj" fmla="val 3721"/>
            </a:avLst>
          </a:prstGeom>
          <a:solidFill>
            <a:schemeClr val="bg2"/>
          </a:solidFill>
          <a:ln/>
        </p:spPr>
      </p:sp>
      <p:sp>
        <p:nvSpPr>
          <p:cNvPr id="5" name="Text 3"/>
          <p:cNvSpPr txBox="1"/>
          <p:nvPr/>
        </p:nvSpPr>
        <p:spPr>
          <a:xfrm>
            <a:off x="777240" y="1874520"/>
            <a:ext cx="2057400" cy="640080"/>
          </a:xfrm>
          <a:prstGeom prst="rect">
            <a:avLst/>
          </a:prstGeom>
          <a:noFill/>
          <a:ln/>
        </p:spPr>
        <p:txBody>
          <a:bodyPr wrap="square" lIns="0" tIns="0" rIns="0" bIns="0" rtlCol="0" anchor="ctr"/>
          <a:lstStyle/>
          <a:p>
            <a:pPr indent="0" marL="0">
              <a:buNone/>
            </a:pPr>
            <a:r>
              <a:rPr lang="en-US" sz="3400" b="1" dirty="0">
                <a:solidFill>
                  <a:schemeClr val="tx1"/>
                </a:solidFill>
              </a:rPr>
              <a:t>1,000,000</a:t>
            </a:r>
            <a:endParaRPr lang="en-US" sz="3400" dirty="0"/>
          </a:p>
        </p:txBody>
      </p:sp>
      <p:sp>
        <p:nvSpPr>
          <p:cNvPr id="6" name="Text 4"/>
          <p:cNvSpPr txBox="1"/>
          <p:nvPr/>
        </p:nvSpPr>
        <p:spPr>
          <a:xfrm>
            <a:off x="777240" y="2532888"/>
            <a:ext cx="2057400" cy="502920"/>
          </a:xfrm>
          <a:prstGeom prst="rect">
            <a:avLst/>
          </a:prstGeom>
          <a:noFill/>
          <a:ln/>
        </p:spPr>
        <p:txBody>
          <a:bodyPr wrap="square" lIns="0" tIns="0" rIns="0" bIns="0" rtlCol="0" anchor="t"/>
          <a:lstStyle/>
          <a:p>
            <a:pPr indent="0" marL="0">
              <a:buNone/>
            </a:pPr>
            <a:r>
              <a:rPr lang="en-US" sz="1500" dirty="0">
                <a:solidFill>
                  <a:schemeClr val="tx1"/>
                </a:solidFill>
              </a:rPr>
              <a:t>posts exported</a:t>
            </a:r>
            <a:endParaRPr lang="en-US" sz="1500" dirty="0"/>
          </a:p>
        </p:txBody>
      </p:sp>
      <p:sp>
        <p:nvSpPr>
          <p:cNvPr id="7" name="track"/>
          <p:cNvSpPr/>
          <p:nvPr/>
        </p:nvSpPr>
        <p:spPr>
          <a:xfrm>
            <a:off x="777240" y="3172968"/>
            <a:ext cx="2057400" cy="109728"/>
          </a:xfrm>
          <a:prstGeom prst="rect">
            <a:avLst/>
          </a:prstGeom>
          <a:solidFill>
            <a:schemeClr val="bg1"/>
          </a:solidFill>
          <a:ln/>
        </p:spPr>
      </p:sp>
      <p:sp>
        <p:nvSpPr>
          <p:cNvPr id="8" name="share"/>
          <p:cNvSpPr/>
          <p:nvPr/>
        </p:nvSpPr>
        <p:spPr>
          <a:xfrm>
            <a:off x="777240" y="3172968"/>
            <a:ext cx="2057400" cy="109728"/>
          </a:xfrm>
          <a:prstGeom prst="rect">
            <a:avLst/>
          </a:prstGeom>
          <a:solidFill>
            <a:schemeClr val="accent2"/>
          </a:solidFill>
          <a:ln/>
        </p:spPr>
      </p:sp>
      <p:sp>
        <p:nvSpPr>
          <p:cNvPr id="9" name="Text 7"/>
          <p:cNvSpPr txBox="1"/>
          <p:nvPr/>
        </p:nvSpPr>
        <p:spPr>
          <a:xfrm>
            <a:off x="777240" y="3319272"/>
            <a:ext cx="2057400" cy="274320"/>
          </a:xfrm>
          <a:prstGeom prst="rect">
            <a:avLst/>
          </a:prstGeom>
          <a:noFill/>
          <a:ln/>
        </p:spPr>
        <p:txBody>
          <a:bodyPr wrap="square" lIns="0" tIns="0" rIns="0" bIns="0" rtlCol="0" anchor="t"/>
          <a:lstStyle/>
          <a:p>
            <a:pPr indent="0" marL="0">
              <a:buNone/>
            </a:pPr>
            <a:r>
              <a:rPr lang="en-US" sz="1200" dirty="0">
                <a:solidFill>
                  <a:schemeClr val="accent6"/>
                </a:solidFill>
              </a:rPr>
              <a:t>100% of the export</a:t>
            </a:r>
            <a:endParaRPr lang="en-US" sz="1200" dirty="0"/>
          </a:p>
        </p:txBody>
      </p:sp>
      <p:sp>
        <p:nvSpPr>
          <p:cNvPr id="10" name="arrow"/>
          <p:cNvSpPr/>
          <p:nvPr/>
        </p:nvSpPr>
        <p:spPr>
          <a:xfrm>
            <a:off x="3108960" y="2670048"/>
            <a:ext cx="246888" cy="0"/>
          </a:xfrm>
          <a:prstGeom prst="line">
            <a:avLst/>
          </a:prstGeom>
          <a:noFill/>
          <a:ln w="22225">
            <a:solidFill>
              <a:schemeClr val="accent6"/>
            </a:solidFill>
            <a:prstDash val="solid"/>
            <a:tailEnd type="triangle"/>
          </a:ln>
        </p:spPr>
      </p:sp>
      <p:sp>
        <p:nvSpPr>
          <p:cNvPr id="11" name="stage with a score above 50"/>
          <p:cNvSpPr/>
          <p:nvPr/>
        </p:nvSpPr>
        <p:spPr>
          <a:xfrm>
            <a:off x="3401568" y="1691640"/>
            <a:ext cx="2514600" cy="1965960"/>
          </a:xfrm>
          <a:prstGeom prst="roundRect">
            <a:avLst>
              <a:gd name="adj" fmla="val 3721"/>
            </a:avLst>
          </a:prstGeom>
          <a:solidFill>
            <a:schemeClr val="bg2"/>
          </a:solidFill>
          <a:ln/>
        </p:spPr>
      </p:sp>
      <p:sp>
        <p:nvSpPr>
          <p:cNvPr id="12" name="Text 10"/>
          <p:cNvSpPr txBox="1"/>
          <p:nvPr/>
        </p:nvSpPr>
        <p:spPr>
          <a:xfrm>
            <a:off x="3630168" y="1874520"/>
            <a:ext cx="2057400" cy="640080"/>
          </a:xfrm>
          <a:prstGeom prst="rect">
            <a:avLst/>
          </a:prstGeom>
          <a:noFill/>
          <a:ln/>
        </p:spPr>
        <p:txBody>
          <a:bodyPr wrap="square" lIns="0" tIns="0" rIns="0" bIns="0" rtlCol="0" anchor="ctr"/>
          <a:lstStyle/>
          <a:p>
            <a:pPr indent="0" marL="0">
              <a:buNone/>
            </a:pPr>
            <a:r>
              <a:rPr lang="en-US" sz="3400" b="1" dirty="0">
                <a:solidFill>
                  <a:schemeClr val="tx1"/>
                </a:solidFill>
              </a:rPr>
              <a:t>28,183</a:t>
            </a:r>
            <a:endParaRPr lang="en-US" sz="3400" dirty="0"/>
          </a:p>
        </p:txBody>
      </p:sp>
      <p:sp>
        <p:nvSpPr>
          <p:cNvPr id="13" name="Text 11"/>
          <p:cNvSpPr txBox="1"/>
          <p:nvPr/>
        </p:nvSpPr>
        <p:spPr>
          <a:xfrm>
            <a:off x="3630168" y="2532888"/>
            <a:ext cx="2057400" cy="502920"/>
          </a:xfrm>
          <a:prstGeom prst="rect">
            <a:avLst/>
          </a:prstGeom>
          <a:noFill/>
          <a:ln/>
        </p:spPr>
        <p:txBody>
          <a:bodyPr wrap="square" lIns="0" tIns="0" rIns="0" bIns="0" rtlCol="0" anchor="t"/>
          <a:lstStyle/>
          <a:p>
            <a:pPr indent="0" marL="0">
              <a:buNone/>
            </a:pPr>
            <a:r>
              <a:rPr lang="en-US" sz="1500" dirty="0">
                <a:solidFill>
                  <a:schemeClr val="tx1"/>
                </a:solidFill>
              </a:rPr>
              <a:t>with a score above 50</a:t>
            </a:r>
            <a:endParaRPr lang="en-US" sz="1500" dirty="0"/>
          </a:p>
        </p:txBody>
      </p:sp>
      <p:sp>
        <p:nvSpPr>
          <p:cNvPr id="14" name="track"/>
          <p:cNvSpPr/>
          <p:nvPr/>
        </p:nvSpPr>
        <p:spPr>
          <a:xfrm>
            <a:off x="3630168" y="3172968"/>
            <a:ext cx="2057400" cy="109728"/>
          </a:xfrm>
          <a:prstGeom prst="rect">
            <a:avLst/>
          </a:prstGeom>
          <a:solidFill>
            <a:schemeClr val="bg1"/>
          </a:solidFill>
          <a:ln/>
        </p:spPr>
      </p:sp>
      <p:sp>
        <p:nvSpPr>
          <p:cNvPr id="15" name="share"/>
          <p:cNvSpPr/>
          <p:nvPr/>
        </p:nvSpPr>
        <p:spPr>
          <a:xfrm>
            <a:off x="3630168" y="3172968"/>
            <a:ext cx="57984" cy="109728"/>
          </a:xfrm>
          <a:prstGeom prst="rect">
            <a:avLst/>
          </a:prstGeom>
          <a:solidFill>
            <a:schemeClr val="accent2"/>
          </a:solidFill>
          <a:ln/>
        </p:spPr>
      </p:sp>
      <p:sp>
        <p:nvSpPr>
          <p:cNvPr id="16" name="Text 14"/>
          <p:cNvSpPr txBox="1"/>
          <p:nvPr/>
        </p:nvSpPr>
        <p:spPr>
          <a:xfrm>
            <a:off x="3630168" y="3319272"/>
            <a:ext cx="2057400" cy="274320"/>
          </a:xfrm>
          <a:prstGeom prst="rect">
            <a:avLst/>
          </a:prstGeom>
          <a:noFill/>
          <a:ln/>
        </p:spPr>
        <p:txBody>
          <a:bodyPr wrap="square" lIns="0" tIns="0" rIns="0" bIns="0" rtlCol="0" anchor="t"/>
          <a:lstStyle/>
          <a:p>
            <a:pPr indent="0" marL="0">
              <a:buNone/>
            </a:pPr>
            <a:r>
              <a:rPr lang="en-US" sz="1200" dirty="0">
                <a:solidFill>
                  <a:schemeClr val="accent6"/>
                </a:solidFill>
              </a:rPr>
              <a:t>2.8% of the export</a:t>
            </a:r>
            <a:endParaRPr lang="en-US" sz="1200" dirty="0"/>
          </a:p>
        </p:txBody>
      </p:sp>
      <p:sp>
        <p:nvSpPr>
          <p:cNvPr id="17" name="arrow"/>
          <p:cNvSpPr/>
          <p:nvPr/>
        </p:nvSpPr>
        <p:spPr>
          <a:xfrm>
            <a:off x="5961888" y="2670048"/>
            <a:ext cx="246888" cy="0"/>
          </a:xfrm>
          <a:prstGeom prst="line">
            <a:avLst/>
          </a:prstGeom>
          <a:noFill/>
          <a:ln w="22225">
            <a:solidFill>
              <a:schemeClr val="accent6"/>
            </a:solidFill>
            <a:prstDash val="solid"/>
            <a:tailEnd type="triangle"/>
          </a:ln>
        </p:spPr>
      </p:sp>
      <p:sp>
        <p:nvSpPr>
          <p:cNvPr id="18" name="stage with more than 10,000 views"/>
          <p:cNvSpPr/>
          <p:nvPr/>
        </p:nvSpPr>
        <p:spPr>
          <a:xfrm>
            <a:off x="6254496" y="1691640"/>
            <a:ext cx="2514600" cy="1965960"/>
          </a:xfrm>
          <a:prstGeom prst="roundRect">
            <a:avLst>
              <a:gd name="adj" fmla="val 3721"/>
            </a:avLst>
          </a:prstGeom>
          <a:solidFill>
            <a:schemeClr val="bg2"/>
          </a:solidFill>
          <a:ln/>
        </p:spPr>
      </p:sp>
      <p:sp>
        <p:nvSpPr>
          <p:cNvPr id="19" name="Text 17"/>
          <p:cNvSpPr txBox="1"/>
          <p:nvPr/>
        </p:nvSpPr>
        <p:spPr>
          <a:xfrm>
            <a:off x="6483096" y="1874520"/>
            <a:ext cx="2057400" cy="640080"/>
          </a:xfrm>
          <a:prstGeom prst="rect">
            <a:avLst/>
          </a:prstGeom>
          <a:noFill/>
          <a:ln/>
        </p:spPr>
        <p:txBody>
          <a:bodyPr wrap="square" lIns="0" tIns="0" rIns="0" bIns="0" rtlCol="0" anchor="ctr"/>
          <a:lstStyle/>
          <a:p>
            <a:pPr indent="0" marL="0">
              <a:buNone/>
            </a:pPr>
            <a:r>
              <a:rPr lang="en-US" sz="3400" b="1" dirty="0">
                <a:solidFill>
                  <a:schemeClr val="tx1"/>
                </a:solidFill>
              </a:rPr>
              <a:t>27,666</a:t>
            </a:r>
            <a:endParaRPr lang="en-US" sz="3400" dirty="0"/>
          </a:p>
        </p:txBody>
      </p:sp>
      <p:sp>
        <p:nvSpPr>
          <p:cNvPr id="20" name="Text 18"/>
          <p:cNvSpPr txBox="1"/>
          <p:nvPr/>
        </p:nvSpPr>
        <p:spPr>
          <a:xfrm>
            <a:off x="6483096" y="2532888"/>
            <a:ext cx="2057400" cy="502920"/>
          </a:xfrm>
          <a:prstGeom prst="rect">
            <a:avLst/>
          </a:prstGeom>
          <a:noFill/>
          <a:ln/>
        </p:spPr>
        <p:txBody>
          <a:bodyPr wrap="square" lIns="0" tIns="0" rIns="0" bIns="0" rtlCol="0" anchor="t"/>
          <a:lstStyle/>
          <a:p>
            <a:pPr indent="0" marL="0">
              <a:buNone/>
            </a:pPr>
            <a:r>
              <a:rPr lang="en-US" sz="1500" dirty="0">
                <a:solidFill>
                  <a:schemeClr val="tx1"/>
                </a:solidFill>
              </a:rPr>
              <a:t>with more than 10,000 views</a:t>
            </a:r>
            <a:endParaRPr lang="en-US" sz="1500" dirty="0"/>
          </a:p>
        </p:txBody>
      </p:sp>
      <p:sp>
        <p:nvSpPr>
          <p:cNvPr id="21" name="track"/>
          <p:cNvSpPr/>
          <p:nvPr/>
        </p:nvSpPr>
        <p:spPr>
          <a:xfrm>
            <a:off x="6483096" y="3172968"/>
            <a:ext cx="2057400" cy="109728"/>
          </a:xfrm>
          <a:prstGeom prst="rect">
            <a:avLst/>
          </a:prstGeom>
          <a:solidFill>
            <a:schemeClr val="bg1"/>
          </a:solidFill>
          <a:ln/>
        </p:spPr>
      </p:sp>
      <p:sp>
        <p:nvSpPr>
          <p:cNvPr id="22" name="share"/>
          <p:cNvSpPr/>
          <p:nvPr/>
        </p:nvSpPr>
        <p:spPr>
          <a:xfrm>
            <a:off x="6483096" y="3172968"/>
            <a:ext cx="56920" cy="109728"/>
          </a:xfrm>
          <a:prstGeom prst="rect">
            <a:avLst/>
          </a:prstGeom>
          <a:solidFill>
            <a:schemeClr val="accent2"/>
          </a:solidFill>
          <a:ln/>
        </p:spPr>
      </p:sp>
      <p:sp>
        <p:nvSpPr>
          <p:cNvPr id="23" name="Text 21"/>
          <p:cNvSpPr txBox="1"/>
          <p:nvPr/>
        </p:nvSpPr>
        <p:spPr>
          <a:xfrm>
            <a:off x="6483096" y="3319272"/>
            <a:ext cx="2057400" cy="274320"/>
          </a:xfrm>
          <a:prstGeom prst="rect">
            <a:avLst/>
          </a:prstGeom>
          <a:noFill/>
          <a:ln/>
        </p:spPr>
        <p:txBody>
          <a:bodyPr wrap="square" lIns="0" tIns="0" rIns="0" bIns="0" rtlCol="0" anchor="t"/>
          <a:lstStyle/>
          <a:p>
            <a:pPr indent="0" marL="0">
              <a:buNone/>
            </a:pPr>
            <a:r>
              <a:rPr lang="en-US" sz="1200" dirty="0">
                <a:solidFill>
                  <a:schemeClr val="accent6"/>
                </a:solidFill>
              </a:rPr>
              <a:t>2.8% of the export</a:t>
            </a:r>
            <a:endParaRPr lang="en-US" sz="1200" dirty="0"/>
          </a:p>
        </p:txBody>
      </p:sp>
      <p:sp>
        <p:nvSpPr>
          <p:cNvPr id="24" name="arrow"/>
          <p:cNvSpPr/>
          <p:nvPr/>
        </p:nvSpPr>
        <p:spPr>
          <a:xfrm>
            <a:off x="8814816" y="2670048"/>
            <a:ext cx="246888" cy="0"/>
          </a:xfrm>
          <a:prstGeom prst="line">
            <a:avLst/>
          </a:prstGeom>
          <a:noFill/>
          <a:ln w="22225">
            <a:solidFill>
              <a:schemeClr val="accent6"/>
            </a:solidFill>
            <a:prstDash val="solid"/>
            <a:tailEnd type="triangle"/>
          </a:ln>
        </p:spPr>
      </p:sp>
      <p:sp>
        <p:nvSpPr>
          <p:cNvPr id="25" name="stage with at least one top-100 tag"/>
          <p:cNvSpPr/>
          <p:nvPr/>
        </p:nvSpPr>
        <p:spPr>
          <a:xfrm>
            <a:off x="9107424" y="1691640"/>
            <a:ext cx="2514600" cy="1965960"/>
          </a:xfrm>
          <a:prstGeom prst="roundRect">
            <a:avLst>
              <a:gd name="adj" fmla="val 3721"/>
            </a:avLst>
          </a:prstGeom>
          <a:solidFill>
            <a:schemeClr val="bg2"/>
          </a:solidFill>
          <a:ln/>
        </p:spPr>
      </p:sp>
      <p:sp>
        <p:nvSpPr>
          <p:cNvPr id="26" name="Text 24"/>
          <p:cNvSpPr txBox="1"/>
          <p:nvPr/>
        </p:nvSpPr>
        <p:spPr>
          <a:xfrm>
            <a:off x="9336024" y="1874520"/>
            <a:ext cx="2057400" cy="640080"/>
          </a:xfrm>
          <a:prstGeom prst="rect">
            <a:avLst/>
          </a:prstGeom>
          <a:noFill/>
          <a:ln/>
        </p:spPr>
        <p:txBody>
          <a:bodyPr wrap="square" lIns="0" tIns="0" rIns="0" bIns="0" rtlCol="0" anchor="ctr"/>
          <a:lstStyle/>
          <a:p>
            <a:pPr indent="0" marL="0">
              <a:buNone/>
            </a:pPr>
            <a:r>
              <a:rPr lang="en-US" sz="3400" b="1" dirty="0">
                <a:solidFill>
                  <a:schemeClr val="tx1"/>
                </a:solidFill>
              </a:rPr>
              <a:t>25,352</a:t>
            </a:r>
            <a:endParaRPr lang="en-US" sz="3400" dirty="0"/>
          </a:p>
        </p:txBody>
      </p:sp>
      <p:sp>
        <p:nvSpPr>
          <p:cNvPr id="27" name="Text 25"/>
          <p:cNvSpPr txBox="1"/>
          <p:nvPr/>
        </p:nvSpPr>
        <p:spPr>
          <a:xfrm>
            <a:off x="9336024" y="2532888"/>
            <a:ext cx="2057400" cy="502920"/>
          </a:xfrm>
          <a:prstGeom prst="rect">
            <a:avLst/>
          </a:prstGeom>
          <a:noFill/>
          <a:ln/>
        </p:spPr>
        <p:txBody>
          <a:bodyPr wrap="square" lIns="0" tIns="0" rIns="0" bIns="0" rtlCol="0" anchor="t"/>
          <a:lstStyle/>
          <a:p>
            <a:pPr indent="0" marL="0">
              <a:buNone/>
            </a:pPr>
            <a:r>
              <a:rPr lang="en-US" sz="1500" dirty="0">
                <a:solidFill>
                  <a:schemeClr val="tx1"/>
                </a:solidFill>
              </a:rPr>
              <a:t>with at least one top-100 tag</a:t>
            </a:r>
            <a:endParaRPr lang="en-US" sz="1500" dirty="0"/>
          </a:p>
        </p:txBody>
      </p:sp>
      <p:sp>
        <p:nvSpPr>
          <p:cNvPr id="28" name="track"/>
          <p:cNvSpPr/>
          <p:nvPr/>
        </p:nvSpPr>
        <p:spPr>
          <a:xfrm>
            <a:off x="9336024" y="3172968"/>
            <a:ext cx="2057400" cy="109728"/>
          </a:xfrm>
          <a:prstGeom prst="rect">
            <a:avLst/>
          </a:prstGeom>
          <a:solidFill>
            <a:schemeClr val="bg1"/>
          </a:solidFill>
          <a:ln/>
        </p:spPr>
      </p:sp>
      <p:sp>
        <p:nvSpPr>
          <p:cNvPr id="29" name="share"/>
          <p:cNvSpPr/>
          <p:nvPr/>
        </p:nvSpPr>
        <p:spPr>
          <a:xfrm>
            <a:off x="9336024" y="3172968"/>
            <a:ext cx="52159" cy="109728"/>
          </a:xfrm>
          <a:prstGeom prst="rect">
            <a:avLst/>
          </a:prstGeom>
          <a:solidFill>
            <a:schemeClr val="accent2"/>
          </a:solidFill>
          <a:ln/>
        </p:spPr>
      </p:sp>
      <p:sp>
        <p:nvSpPr>
          <p:cNvPr id="30" name="Text 28"/>
          <p:cNvSpPr txBox="1"/>
          <p:nvPr/>
        </p:nvSpPr>
        <p:spPr>
          <a:xfrm>
            <a:off x="9336024" y="3319272"/>
            <a:ext cx="2057400" cy="274320"/>
          </a:xfrm>
          <a:prstGeom prst="rect">
            <a:avLst/>
          </a:prstGeom>
          <a:noFill/>
          <a:ln/>
        </p:spPr>
        <p:txBody>
          <a:bodyPr wrap="square" lIns="0" tIns="0" rIns="0" bIns="0" rtlCol="0" anchor="t"/>
          <a:lstStyle/>
          <a:p>
            <a:pPr indent="0" marL="0">
              <a:buNone/>
            </a:pPr>
            <a:r>
              <a:rPr lang="en-US" sz="1200" dirty="0">
                <a:solidFill>
                  <a:schemeClr val="accent6"/>
                </a:solidFill>
              </a:rPr>
              <a:t>2.5% of the export</a:t>
            </a:r>
            <a:endParaRPr lang="en-US" sz="1200" dirty="0"/>
          </a:p>
        </p:txBody>
      </p:sp>
      <p:sp>
        <p:nvSpPr>
          <p:cNvPr id="31" name="tags panel"/>
          <p:cNvSpPr/>
          <p:nvPr/>
        </p:nvSpPr>
        <p:spPr>
          <a:xfrm>
            <a:off x="548640" y="3977640"/>
            <a:ext cx="5440680" cy="2103120"/>
          </a:xfrm>
          <a:prstGeom prst="roundRect">
            <a:avLst>
              <a:gd name="adj" fmla="val 3478"/>
            </a:avLst>
          </a:prstGeom>
          <a:solidFill>
            <a:schemeClr val="bg2"/>
          </a:solidFill>
          <a:ln/>
        </p:spPr>
      </p:sp>
      <p:sp>
        <p:nvSpPr>
          <p:cNvPr id="32" name="Text 30"/>
          <p:cNvSpPr txBox="1"/>
          <p:nvPr/>
        </p:nvSpPr>
        <p:spPr>
          <a:xfrm>
            <a:off x="822960" y="4160520"/>
            <a:ext cx="4937760" cy="320040"/>
          </a:xfrm>
          <a:prstGeom prst="rect">
            <a:avLst/>
          </a:prstGeom>
          <a:noFill/>
          <a:ln/>
        </p:spPr>
        <p:txBody>
          <a:bodyPr wrap="square" lIns="0" tIns="0" rIns="0" bIns="0" rtlCol="0" anchor="t"/>
          <a:lstStyle/>
          <a:p>
            <a:pPr indent="0" marL="0">
              <a:buNone/>
            </a:pPr>
            <a:r>
              <a:rPr lang="en-US" sz="1600" b="1" dirty="0">
                <a:solidFill>
                  <a:schemeClr val="tx1"/>
                </a:solidFill>
              </a:rPr>
              <a:t>Tags</a:t>
            </a:r>
            <a:endParaRPr lang="en-US" sz="1600" dirty="0"/>
          </a:p>
        </p:txBody>
      </p:sp>
      <p:sp>
        <p:nvSpPr>
          <p:cNvPr id="33" name="Text 31"/>
          <p:cNvSpPr txBox="1"/>
          <p:nvPr/>
        </p:nvSpPr>
        <p:spPr>
          <a:xfrm>
            <a:off x="822960" y="4526280"/>
            <a:ext cx="4937760" cy="685800"/>
          </a:xfrm>
          <a:prstGeom prst="rect">
            <a:avLst/>
          </a:prstGeom>
          <a:noFill/>
          <a:ln/>
        </p:spPr>
        <p:txBody>
          <a:bodyPr wrap="square" lIns="0" tIns="0" rIns="0" bIns="0" rtlCol="0" anchor="t"/>
          <a:lstStyle/>
          <a:p>
            <a:pPr indent="0" marL="0">
              <a:buNone/>
            </a:pPr>
            <a:r>
              <a:rPr lang="en-US" sz="1400" dirty="0">
                <a:solidFill>
                  <a:schemeClr val="accent6"/>
                </a:solidFill>
              </a:rPr>
              <a:t>The 27,666 questions used 6,884 different tags, 82,516 times in all. I kept the 100 most common.</a:t>
            </a:r>
            <a:endParaRPr lang="en-US" sz="1400" dirty="0"/>
          </a:p>
        </p:txBody>
      </p:sp>
      <p:sp>
        <p:nvSpPr>
          <p:cNvPr id="34" name="chip 6,884 tags"/>
          <p:cNvSpPr/>
          <p:nvPr/>
        </p:nvSpPr>
        <p:spPr>
          <a:xfrm>
            <a:off x="822960" y="5440680"/>
            <a:ext cx="1093622" cy="329184"/>
          </a:xfrm>
          <a:prstGeom prst="roundRect">
            <a:avLst>
              <a:gd name="adj" fmla="val 16667"/>
            </a:avLst>
          </a:prstGeom>
          <a:solidFill>
            <a:schemeClr val="accent4"/>
          </a:solidFill>
          <a:ln/>
        </p:spPr>
        <p:txBody>
          <a:bodyPr wrap="square" lIns="0" tIns="0" rIns="0" bIns="0" rtlCol="0" anchor="ctr"/>
          <a:lstStyle/>
          <a:p>
            <a:pPr algn="ctr" indent="0" marL="0">
              <a:buNone/>
            </a:pPr>
            <a:r>
              <a:rPr lang="en-US" sz="1400" b="1" dirty="0">
                <a:solidFill>
                  <a:schemeClr val="accent5"/>
                </a:solidFill>
              </a:rPr>
              <a:t>6,884 tags</a:t>
            </a:r>
            <a:endParaRPr lang="en-US" sz="1400" dirty="0"/>
          </a:p>
        </p:txBody>
      </p:sp>
      <p:sp>
        <p:nvSpPr>
          <p:cNvPr id="35" name="arrow"/>
          <p:cNvSpPr/>
          <p:nvPr/>
        </p:nvSpPr>
        <p:spPr>
          <a:xfrm>
            <a:off x="2026310" y="5605272"/>
            <a:ext cx="502920" cy="0"/>
          </a:xfrm>
          <a:prstGeom prst="line">
            <a:avLst/>
          </a:prstGeom>
          <a:noFill/>
          <a:ln w="22225">
            <a:solidFill>
              <a:schemeClr val="accent6"/>
            </a:solidFill>
            <a:prstDash val="solid"/>
            <a:tailEnd type="triangle"/>
          </a:ln>
        </p:spPr>
      </p:sp>
      <p:sp>
        <p:nvSpPr>
          <p:cNvPr id="36" name="chip 100 kept"/>
          <p:cNvSpPr/>
          <p:nvPr/>
        </p:nvSpPr>
        <p:spPr>
          <a:xfrm>
            <a:off x="2648102" y="5440680"/>
            <a:ext cx="929762"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400" b="1" dirty="0">
                <a:solidFill>
                  <a:schemeClr val="bg1"/>
                </a:solidFill>
              </a:rPr>
              <a:t>100 kept</a:t>
            </a:r>
            <a:endParaRPr lang="en-US" sz="1400" dirty="0"/>
          </a:p>
        </p:txBody>
      </p:sp>
      <p:sp>
        <p:nvSpPr>
          <p:cNvPr id="37" name="split panel"/>
          <p:cNvSpPr/>
          <p:nvPr/>
        </p:nvSpPr>
        <p:spPr>
          <a:xfrm>
            <a:off x="6172200" y="3977640"/>
            <a:ext cx="5440680" cy="2103120"/>
          </a:xfrm>
          <a:prstGeom prst="roundRect">
            <a:avLst>
              <a:gd name="adj" fmla="val 3478"/>
            </a:avLst>
          </a:prstGeom>
          <a:solidFill>
            <a:schemeClr val="bg2"/>
          </a:solidFill>
          <a:ln/>
        </p:spPr>
      </p:sp>
      <p:sp>
        <p:nvSpPr>
          <p:cNvPr id="38" name="Text 36"/>
          <p:cNvSpPr txBox="1"/>
          <p:nvPr/>
        </p:nvSpPr>
        <p:spPr>
          <a:xfrm>
            <a:off x="6446520" y="4160520"/>
            <a:ext cx="4937760" cy="320040"/>
          </a:xfrm>
          <a:prstGeom prst="rect">
            <a:avLst/>
          </a:prstGeom>
          <a:noFill/>
          <a:ln/>
        </p:spPr>
        <p:txBody>
          <a:bodyPr wrap="square" lIns="0" tIns="0" rIns="0" bIns="0" rtlCol="0" anchor="t"/>
          <a:lstStyle/>
          <a:p>
            <a:pPr indent="0" marL="0">
              <a:buNone/>
            </a:pPr>
            <a:r>
              <a:rPr lang="en-US" sz="1600" b="1" dirty="0">
                <a:solidFill>
                  <a:schemeClr val="tx1"/>
                </a:solidFill>
              </a:rPr>
              <a:t>Train and test</a:t>
            </a:r>
            <a:endParaRPr lang="en-US" sz="1600" dirty="0"/>
          </a:p>
        </p:txBody>
      </p:sp>
      <p:sp>
        <p:nvSpPr>
          <p:cNvPr id="39" name="Text 37"/>
          <p:cNvSpPr txBox="1"/>
          <p:nvPr/>
        </p:nvSpPr>
        <p:spPr>
          <a:xfrm>
            <a:off x="6446520" y="4526280"/>
            <a:ext cx="4937760" cy="365760"/>
          </a:xfrm>
          <a:prstGeom prst="rect">
            <a:avLst/>
          </a:prstGeom>
          <a:noFill/>
          <a:ln/>
        </p:spPr>
        <p:txBody>
          <a:bodyPr wrap="square" lIns="0" tIns="0" rIns="0" bIns="0" rtlCol="0" anchor="t"/>
          <a:lstStyle/>
          <a:p>
            <a:pPr indent="0" marL="0">
              <a:buNone/>
            </a:pPr>
            <a:r>
              <a:rPr lang="en-US" sz="1400" dirty="0">
                <a:solidFill>
                  <a:schemeClr val="accent6"/>
                </a:solidFill>
              </a:rPr>
              <a:t>Held out 20% of the 25,352 questions for testing.</a:t>
            </a:r>
            <a:endParaRPr lang="en-US" sz="1400" dirty="0"/>
          </a:p>
        </p:txBody>
      </p:sp>
      <p:sp>
        <p:nvSpPr>
          <p:cNvPr id="40" name="Text 38"/>
          <p:cNvSpPr/>
          <p:nvPr/>
        </p:nvSpPr>
        <p:spPr>
          <a:xfrm>
            <a:off x="6446520" y="5120640"/>
            <a:ext cx="3886084" cy="457200"/>
          </a:xfrm>
          <a:prstGeom prst="rect">
            <a:avLst/>
          </a:prstGeom>
          <a:solidFill>
            <a:schemeClr val="accent2"/>
          </a:solidFill>
          <a:ln/>
        </p:spPr>
        <p:txBody>
          <a:bodyPr wrap="square" lIns="0" tIns="0" rIns="0" bIns="0" rtlCol="0" anchor="ctr"/>
          <a:lstStyle/>
          <a:p>
            <a:pPr algn="ctr" indent="0" marL="0">
              <a:buNone/>
            </a:pPr>
            <a:r>
              <a:rPr lang="en-US" sz="1400" b="1" dirty="0">
                <a:solidFill>
                  <a:schemeClr val="bg1"/>
                </a:solidFill>
              </a:rPr>
              <a:t>Train  20,281</a:t>
            </a:r>
            <a:endParaRPr lang="en-US" sz="1400" dirty="0"/>
          </a:p>
        </p:txBody>
      </p:sp>
      <p:sp>
        <p:nvSpPr>
          <p:cNvPr id="41" name="Text 39"/>
          <p:cNvSpPr/>
          <p:nvPr/>
        </p:nvSpPr>
        <p:spPr>
          <a:xfrm>
            <a:off x="10360036" y="5120640"/>
            <a:ext cx="978524" cy="457200"/>
          </a:xfrm>
          <a:prstGeom prst="rect">
            <a:avLst/>
          </a:prstGeom>
          <a:solidFill>
            <a:schemeClr val="accent1"/>
          </a:solidFill>
          <a:ln/>
        </p:spPr>
        <p:txBody>
          <a:bodyPr wrap="square" lIns="0" tIns="0" rIns="0" bIns="0" rtlCol="0" anchor="ctr"/>
          <a:lstStyle/>
          <a:p>
            <a:pPr algn="ctr" indent="0" marL="0">
              <a:buNone/>
            </a:pPr>
            <a:r>
              <a:rPr lang="en-US" sz="1400" b="1" dirty="0">
                <a:solidFill>
                  <a:schemeClr val="tx1"/>
                </a:solidFill>
              </a:rPr>
              <a:t>Test  5,071</a:t>
            </a:r>
            <a:endParaRPr lang="en-US" sz="1400" dirty="0"/>
          </a:p>
        </p:txBody>
      </p:sp>
      <p:sp>
        <p:nvSpPr>
          <p:cNvPr id="42" name="Text 40"/>
          <p:cNvSpPr txBox="1"/>
          <p:nvPr/>
        </p:nvSpPr>
        <p:spPr>
          <a:xfrm>
            <a:off x="6446520" y="5632704"/>
            <a:ext cx="914400" cy="274320"/>
          </a:xfrm>
          <a:prstGeom prst="rect">
            <a:avLst/>
          </a:prstGeom>
          <a:noFill/>
          <a:ln/>
        </p:spPr>
        <p:txBody>
          <a:bodyPr wrap="square" lIns="0" tIns="0" rIns="0" bIns="0" rtlCol="0" anchor="t"/>
          <a:lstStyle/>
          <a:p>
            <a:pPr indent="0" marL="0">
              <a:buNone/>
            </a:pPr>
            <a:r>
              <a:rPr lang="en-US" sz="1200" dirty="0">
                <a:solidFill>
                  <a:schemeClr val="accent6"/>
                </a:solidFill>
              </a:rPr>
              <a:t>80%</a:t>
            </a:r>
            <a:endParaRPr lang="en-US" sz="1200" dirty="0"/>
          </a:p>
        </p:txBody>
      </p:sp>
      <p:sp>
        <p:nvSpPr>
          <p:cNvPr id="43" name="Text 41"/>
          <p:cNvSpPr txBox="1"/>
          <p:nvPr/>
        </p:nvSpPr>
        <p:spPr>
          <a:xfrm>
            <a:off x="10360036" y="5632704"/>
            <a:ext cx="914400" cy="274320"/>
          </a:xfrm>
          <a:prstGeom prst="rect">
            <a:avLst/>
          </a:prstGeom>
          <a:noFill/>
          <a:ln/>
        </p:spPr>
        <p:txBody>
          <a:bodyPr wrap="square" lIns="0" tIns="0" rIns="0" bIns="0" rtlCol="0" anchor="t"/>
          <a:lstStyle/>
          <a:p>
            <a:pPr indent="0" marL="0">
              <a:buNone/>
            </a:pPr>
            <a:r>
              <a:rPr lang="en-US" sz="1200" dirty="0">
                <a:solidFill>
                  <a:schemeClr val="accent6"/>
                </a:solidFill>
              </a:rPr>
              <a:t>20%</a:t>
            </a:r>
            <a:endParaRPr lang="en-US" sz="12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algn="l" indent="0" marL="0">
              <a:buNone/>
            </a:pPr>
            <a:r>
              <a:rPr lang="en-US" sz="3000" b="1" dirty="0">
                <a:solidFill>
                  <a:schemeClr val="tx1"/>
                </a:solidFill>
              </a:rPr>
              <a:t>Some tags are far more common than others</a:t>
            </a:r>
            <a:endParaRPr lang="en-US" sz="3000" dirty="0"/>
          </a:p>
        </p:txBody>
      </p:sp>
      <p:sp>
        <p:nvSpPr>
          <p:cNvPr id="3" name="Text 0"/>
          <p:cNvSpPr/>
          <p:nvPr>
            <p:ph idx="101" type="body" hasCustomPrompt="1"/>
          </p:nvPr>
        </p:nvSpPr>
        <p:spPr>
          <a:xfrm>
            <a:off x="548640" y="987552"/>
            <a:ext cx="11064240" cy="411480"/>
          </a:xfrm>
          <a:prstGeom prst="rect">
            <a:avLst/>
          </a:prstGeom>
          <a:noFill/>
          <a:ln/>
        </p:spPr>
        <p:txBody>
          <a:bodyPr wrap="square" lIns="0" tIns="0" rIns="0" bIns="0" rtlCol="0" anchor="ctr"/>
          <a:lstStyle/>
          <a:p>
            <a:pPr algn="l" indent="0" marL="0">
              <a:buNone/>
            </a:pPr>
            <a:r>
              <a:rPr lang="en-US" sz="1600" dirty="0">
                <a:solidFill>
                  <a:schemeClr val="accent6"/>
                </a:solidFill>
              </a:rPr>
              <a:t>Questions per tag in the test set, for the 20 most common of the 100 tags</a:t>
            </a:r>
            <a:endParaRPr lang="en-US" sz="1600" dirty="0"/>
          </a:p>
        </p:txBody>
      </p:sp>
      <p:graphicFrame>
        <p:nvGraphicFramePr>
          <p:cNvPr id="4" name="Chart 0" descr=""/>
          <p:cNvGraphicFramePr/>
          <p:nvPr/>
        </p:nvGraphicFramePr>
        <p:xfrm>
          <a:off x="457200" y="1554480"/>
          <a:ext cx="7863840" cy="4709160"/>
        </p:xfrm>
        <a:graphic xmlns:a="http://schemas.openxmlformats.org/drawingml/2006/main">
          <a:graphicData uri="http://schemas.openxmlformats.org/drawingml/2006/chart">
            <c:chart xmlns:c="http://schemas.openxmlformats.org/drawingml/2006/chart" r:id="rId1"/>
          </a:graphicData>
        </a:graphic>
      </p:graphicFrame>
      <p:sp>
        <p:nvSpPr>
          <p:cNvPr id="5" name="stat tags per question"/>
          <p:cNvSpPr/>
          <p:nvPr/>
        </p:nvSpPr>
        <p:spPr>
          <a:xfrm>
            <a:off x="8641080" y="1691640"/>
            <a:ext cx="2971800" cy="1371600"/>
          </a:xfrm>
          <a:prstGeom prst="roundRect">
            <a:avLst>
              <a:gd name="adj" fmla="val 5333"/>
            </a:avLst>
          </a:prstGeom>
          <a:solidFill>
            <a:schemeClr val="bg2"/>
          </a:solidFill>
          <a:ln/>
        </p:spPr>
      </p:sp>
      <p:sp>
        <p:nvSpPr>
          <p:cNvPr id="6" name="Text 3"/>
          <p:cNvSpPr txBox="1"/>
          <p:nvPr/>
        </p:nvSpPr>
        <p:spPr>
          <a:xfrm>
            <a:off x="8869680" y="1801368"/>
            <a:ext cx="2514600" cy="566928"/>
          </a:xfrm>
          <a:prstGeom prst="rect">
            <a:avLst/>
          </a:prstGeom>
          <a:noFill/>
          <a:ln/>
        </p:spPr>
        <p:txBody>
          <a:bodyPr wrap="square" lIns="0" tIns="0" rIns="0" bIns="0" rtlCol="0" anchor="ctr"/>
          <a:lstStyle/>
          <a:p>
            <a:pPr indent="0" marL="0">
              <a:buNone/>
            </a:pPr>
            <a:r>
              <a:rPr lang="en-US" sz="3200" b="1" dirty="0">
                <a:solidFill>
                  <a:schemeClr val="tx1"/>
                </a:solidFill>
              </a:rPr>
              <a:t>1.6</a:t>
            </a:r>
            <a:endParaRPr lang="en-US" sz="3200" dirty="0"/>
          </a:p>
        </p:txBody>
      </p:sp>
      <p:sp>
        <p:nvSpPr>
          <p:cNvPr id="7" name="Text 4"/>
          <p:cNvSpPr txBox="1"/>
          <p:nvPr/>
        </p:nvSpPr>
        <p:spPr>
          <a:xfrm>
            <a:off x="8869680" y="2386584"/>
            <a:ext cx="2514600" cy="292608"/>
          </a:xfrm>
          <a:prstGeom prst="rect">
            <a:avLst/>
          </a:prstGeom>
          <a:noFill/>
          <a:ln/>
        </p:spPr>
        <p:txBody>
          <a:bodyPr wrap="square" lIns="0" tIns="0" rIns="0" bIns="0" rtlCol="0" anchor="t"/>
          <a:lstStyle/>
          <a:p>
            <a:pPr indent="0" marL="0">
              <a:buNone/>
            </a:pPr>
            <a:r>
              <a:rPr lang="en-US" sz="1500" b="1" dirty="0">
                <a:solidFill>
                  <a:schemeClr val="tx1"/>
                </a:solidFill>
              </a:rPr>
              <a:t>tags per question</a:t>
            </a:r>
            <a:endParaRPr lang="en-US" sz="1500" dirty="0"/>
          </a:p>
        </p:txBody>
      </p:sp>
      <p:sp>
        <p:nvSpPr>
          <p:cNvPr id="8" name="Text 5"/>
          <p:cNvSpPr txBox="1"/>
          <p:nvPr/>
        </p:nvSpPr>
        <p:spPr>
          <a:xfrm>
            <a:off x="8869680" y="2679192"/>
            <a:ext cx="2514600" cy="292608"/>
          </a:xfrm>
          <a:prstGeom prst="rect">
            <a:avLst/>
          </a:prstGeom>
          <a:noFill/>
          <a:ln/>
        </p:spPr>
        <p:txBody>
          <a:bodyPr wrap="square" lIns="0" tIns="0" rIns="0" bIns="0" rtlCol="0" anchor="t"/>
          <a:lstStyle/>
          <a:p>
            <a:pPr indent="0" marL="0">
              <a:buNone/>
            </a:pPr>
            <a:r>
              <a:rPr lang="en-US" sz="1300" dirty="0">
                <a:solidFill>
                  <a:schemeClr val="accent6"/>
                </a:solidFill>
              </a:rPr>
              <a:t>of the 100, on average</a:t>
            </a:r>
            <a:endParaRPr lang="en-US" sz="1300" dirty="0"/>
          </a:p>
        </p:txBody>
      </p:sp>
      <p:sp>
        <p:nvSpPr>
          <p:cNvPr id="9" name="stat of test questions have c#"/>
          <p:cNvSpPr/>
          <p:nvPr/>
        </p:nvSpPr>
        <p:spPr>
          <a:xfrm>
            <a:off x="8641080" y="3246120"/>
            <a:ext cx="2971800" cy="1371600"/>
          </a:xfrm>
          <a:prstGeom prst="roundRect">
            <a:avLst>
              <a:gd name="adj" fmla="val 5333"/>
            </a:avLst>
          </a:prstGeom>
          <a:solidFill>
            <a:schemeClr val="bg2"/>
          </a:solidFill>
          <a:ln/>
        </p:spPr>
      </p:sp>
      <p:sp>
        <p:nvSpPr>
          <p:cNvPr id="10" name="Text 7"/>
          <p:cNvSpPr txBox="1"/>
          <p:nvPr/>
        </p:nvSpPr>
        <p:spPr>
          <a:xfrm>
            <a:off x="8869680" y="3355848"/>
            <a:ext cx="2514600" cy="566928"/>
          </a:xfrm>
          <a:prstGeom prst="rect">
            <a:avLst/>
          </a:prstGeom>
          <a:noFill/>
          <a:ln/>
        </p:spPr>
        <p:txBody>
          <a:bodyPr wrap="square" lIns="0" tIns="0" rIns="0" bIns="0" rtlCol="0" anchor="ctr"/>
          <a:lstStyle/>
          <a:p>
            <a:pPr indent="0" marL="0">
              <a:buNone/>
            </a:pPr>
            <a:r>
              <a:rPr lang="en-US" sz="3200" b="1" dirty="0">
                <a:solidFill>
                  <a:schemeClr val="tx1"/>
                </a:solidFill>
              </a:rPr>
              <a:t>12%</a:t>
            </a:r>
            <a:endParaRPr lang="en-US" sz="3200" dirty="0"/>
          </a:p>
        </p:txBody>
      </p:sp>
      <p:sp>
        <p:nvSpPr>
          <p:cNvPr id="11" name="Text 8"/>
          <p:cNvSpPr txBox="1"/>
          <p:nvPr/>
        </p:nvSpPr>
        <p:spPr>
          <a:xfrm>
            <a:off x="8869680" y="3941064"/>
            <a:ext cx="2514600" cy="292608"/>
          </a:xfrm>
          <a:prstGeom prst="rect">
            <a:avLst/>
          </a:prstGeom>
          <a:noFill/>
          <a:ln/>
        </p:spPr>
        <p:txBody>
          <a:bodyPr wrap="square" lIns="0" tIns="0" rIns="0" bIns="0" rtlCol="0" anchor="t"/>
          <a:lstStyle/>
          <a:p>
            <a:pPr indent="0" marL="0">
              <a:buNone/>
            </a:pPr>
            <a:r>
              <a:rPr lang="en-US" sz="1500" b="1" dirty="0">
                <a:solidFill>
                  <a:schemeClr val="tx1"/>
                </a:solidFill>
              </a:rPr>
              <a:t>of test questions have c#</a:t>
            </a:r>
            <a:endParaRPr lang="en-US" sz="1500" dirty="0"/>
          </a:p>
        </p:txBody>
      </p:sp>
      <p:sp>
        <p:nvSpPr>
          <p:cNvPr id="12" name="Text 9"/>
          <p:cNvSpPr txBox="1"/>
          <p:nvPr/>
        </p:nvSpPr>
        <p:spPr>
          <a:xfrm>
            <a:off x="8869680" y="4233672"/>
            <a:ext cx="2514600" cy="292608"/>
          </a:xfrm>
          <a:prstGeom prst="rect">
            <a:avLst/>
          </a:prstGeom>
          <a:noFill/>
          <a:ln/>
        </p:spPr>
        <p:txBody>
          <a:bodyPr wrap="square" lIns="0" tIns="0" rIns="0" bIns="0" rtlCol="0" anchor="t"/>
          <a:lstStyle/>
          <a:p>
            <a:pPr indent="0" marL="0">
              <a:buNone/>
            </a:pPr>
            <a:r>
              <a:rPr lang="en-US" sz="1300" dirty="0">
                <a:solidFill>
                  <a:schemeClr val="accent6"/>
                </a:solidFill>
              </a:rPr>
              <a:t>the most common tag</a:t>
            </a:r>
            <a:endParaRPr lang="en-US" sz="1300" dirty="0"/>
          </a:p>
        </p:txBody>
      </p:sp>
      <p:sp>
        <p:nvSpPr>
          <p:cNvPr id="13" name="stat test questions have parsing"/>
          <p:cNvSpPr/>
          <p:nvPr/>
        </p:nvSpPr>
        <p:spPr>
          <a:xfrm>
            <a:off x="8641080" y="4800600"/>
            <a:ext cx="2971800" cy="1371600"/>
          </a:xfrm>
          <a:prstGeom prst="roundRect">
            <a:avLst>
              <a:gd name="adj" fmla="val 5333"/>
            </a:avLst>
          </a:prstGeom>
          <a:solidFill>
            <a:schemeClr val="bg2"/>
          </a:solidFill>
          <a:ln/>
        </p:spPr>
      </p:sp>
      <p:sp>
        <p:nvSpPr>
          <p:cNvPr id="14" name="Text 11"/>
          <p:cNvSpPr txBox="1"/>
          <p:nvPr/>
        </p:nvSpPr>
        <p:spPr>
          <a:xfrm>
            <a:off x="8869680" y="4910328"/>
            <a:ext cx="2514600" cy="566928"/>
          </a:xfrm>
          <a:prstGeom prst="rect">
            <a:avLst/>
          </a:prstGeom>
          <a:noFill/>
          <a:ln/>
        </p:spPr>
        <p:txBody>
          <a:bodyPr wrap="square" lIns="0" tIns="0" rIns="0" bIns="0" rtlCol="0" anchor="ctr"/>
          <a:lstStyle/>
          <a:p>
            <a:pPr indent="0" marL="0">
              <a:buNone/>
            </a:pPr>
            <a:r>
              <a:rPr lang="en-US" sz="3200" b="1" dirty="0">
                <a:solidFill>
                  <a:schemeClr val="tx1"/>
                </a:solidFill>
              </a:rPr>
              <a:t>14</a:t>
            </a:r>
            <a:endParaRPr lang="en-US" sz="3200" dirty="0"/>
          </a:p>
        </p:txBody>
      </p:sp>
      <p:sp>
        <p:nvSpPr>
          <p:cNvPr id="15" name="Text 12"/>
          <p:cNvSpPr txBox="1"/>
          <p:nvPr/>
        </p:nvSpPr>
        <p:spPr>
          <a:xfrm>
            <a:off x="8869680" y="5495544"/>
            <a:ext cx="2514600" cy="292608"/>
          </a:xfrm>
          <a:prstGeom prst="rect">
            <a:avLst/>
          </a:prstGeom>
          <a:noFill/>
          <a:ln/>
        </p:spPr>
        <p:txBody>
          <a:bodyPr wrap="square" lIns="0" tIns="0" rIns="0" bIns="0" rtlCol="0" anchor="t"/>
          <a:lstStyle/>
          <a:p>
            <a:pPr indent="0" marL="0">
              <a:buNone/>
            </a:pPr>
            <a:r>
              <a:rPr lang="en-US" sz="1500" b="1" dirty="0">
                <a:solidFill>
                  <a:schemeClr val="tx1"/>
                </a:solidFill>
              </a:rPr>
              <a:t>test questions have parsing</a:t>
            </a:r>
            <a:endParaRPr lang="en-US" sz="1500" dirty="0"/>
          </a:p>
        </p:txBody>
      </p:sp>
      <p:sp>
        <p:nvSpPr>
          <p:cNvPr id="16" name="Text 13"/>
          <p:cNvSpPr txBox="1"/>
          <p:nvPr/>
        </p:nvSpPr>
        <p:spPr>
          <a:xfrm>
            <a:off x="8869680" y="5788152"/>
            <a:ext cx="2514600" cy="292608"/>
          </a:xfrm>
          <a:prstGeom prst="rect">
            <a:avLst/>
          </a:prstGeom>
          <a:noFill/>
          <a:ln/>
        </p:spPr>
        <p:txBody>
          <a:bodyPr wrap="square" lIns="0" tIns="0" rIns="0" bIns="0" rtlCol="0" anchor="t"/>
          <a:lstStyle/>
          <a:p>
            <a:pPr indent="0" marL="0">
              <a:buNone/>
            </a:pPr>
            <a:r>
              <a:rPr lang="en-US" sz="1300" dirty="0">
                <a:solidFill>
                  <a:schemeClr val="accent6"/>
                </a:solidFill>
              </a:rPr>
              <a:t>the fewest of the 100 tags</a:t>
            </a:r>
            <a:endParaRPr lang="en-US" sz="13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algn="l" indent="0" marL="0">
              <a:buNone/>
            </a:pPr>
            <a:r>
              <a:rPr lang="en-US" sz="3000" b="1" dirty="0">
                <a:solidFill>
                  <a:schemeClr val="tx1"/>
                </a:solidFill>
              </a:rPr>
              <a:t>Cleaning the titles</a:t>
            </a:r>
            <a:endParaRPr lang="en-US" sz="3000" dirty="0"/>
          </a:p>
        </p:txBody>
      </p:sp>
      <p:sp>
        <p:nvSpPr>
          <p:cNvPr id="3" name="Text 0"/>
          <p:cNvSpPr/>
          <p:nvPr>
            <p:ph idx="101" type="body" hasCustomPrompt="1"/>
          </p:nvPr>
        </p:nvSpPr>
        <p:spPr>
          <a:xfrm>
            <a:off x="548640" y="987552"/>
            <a:ext cx="11064240" cy="411480"/>
          </a:xfrm>
          <a:prstGeom prst="rect">
            <a:avLst/>
          </a:prstGeom>
          <a:noFill/>
          <a:ln/>
        </p:spPr>
        <p:txBody>
          <a:bodyPr wrap="square" lIns="0" tIns="0" rIns="0" bIns="0" rtlCol="0" anchor="ctr"/>
          <a:lstStyle/>
          <a:p>
            <a:pPr algn="l" indent="0" marL="0">
              <a:buNone/>
            </a:pPr>
            <a:r>
              <a:rPr lang="en-US" sz="1600" dirty="0">
                <a:solidFill>
                  <a:schemeClr val="accent6"/>
                </a:solidFill>
              </a:rPr>
              <a:t>One title through each step, using the notebook’s own output</a:t>
            </a:r>
            <a:endParaRPr lang="en-US" sz="1600" dirty="0"/>
          </a:p>
        </p:txBody>
      </p:sp>
      <p:sp>
        <p:nvSpPr>
          <p:cNvPr id="4" name="step 1"/>
          <p:cNvSpPr/>
          <p:nvPr/>
        </p:nvSpPr>
        <p:spPr>
          <a:xfrm>
            <a:off x="548640" y="1737360"/>
            <a:ext cx="1920240" cy="2514600"/>
          </a:xfrm>
          <a:prstGeom prst="roundRect">
            <a:avLst>
              <a:gd name="adj" fmla="val 3810"/>
            </a:avLst>
          </a:prstGeom>
          <a:solidFill>
            <a:schemeClr val="bg2"/>
          </a:solidFill>
          <a:ln/>
        </p:spPr>
      </p:sp>
      <p:sp>
        <p:nvSpPr>
          <p:cNvPr id="5" name="Text 3"/>
          <p:cNvSpPr/>
          <p:nvPr/>
        </p:nvSpPr>
        <p:spPr>
          <a:xfrm>
            <a:off x="731520" y="1920240"/>
            <a:ext cx="411480" cy="41148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tx1"/>
                </a:solidFill>
              </a:rPr>
              <a:t>1</a:t>
            </a:r>
            <a:endParaRPr lang="en-US" sz="1400" dirty="0"/>
          </a:p>
        </p:txBody>
      </p:sp>
      <p:sp>
        <p:nvSpPr>
          <p:cNvPr id="6" name="Text 4"/>
          <p:cNvSpPr txBox="1"/>
          <p:nvPr/>
        </p:nvSpPr>
        <p:spPr>
          <a:xfrm>
            <a:off x="731520" y="2468880"/>
            <a:ext cx="1554480" cy="594360"/>
          </a:xfrm>
          <a:prstGeom prst="rect">
            <a:avLst/>
          </a:prstGeom>
          <a:noFill/>
          <a:ln/>
        </p:spPr>
        <p:txBody>
          <a:bodyPr wrap="square" lIns="0" tIns="0" rIns="0" bIns="0" rtlCol="0" anchor="t"/>
          <a:lstStyle/>
          <a:p>
            <a:pPr indent="0" marL="0">
              <a:buNone/>
            </a:pPr>
            <a:r>
              <a:rPr lang="en-US" sz="1400" b="1" dirty="0">
                <a:solidFill>
                  <a:schemeClr val="tx1"/>
                </a:solidFill>
              </a:rPr>
              <a:t>Original title</a:t>
            </a:r>
            <a:endParaRPr lang="en-US" sz="1400" dirty="0"/>
          </a:p>
        </p:txBody>
      </p:sp>
      <p:sp>
        <p:nvSpPr>
          <p:cNvPr id="7" name="Text 5"/>
          <p:cNvSpPr txBox="1"/>
          <p:nvPr/>
        </p:nvSpPr>
        <p:spPr>
          <a:xfrm>
            <a:off x="731520" y="3108960"/>
            <a:ext cx="1554480" cy="1097280"/>
          </a:xfrm>
          <a:prstGeom prst="rect">
            <a:avLst/>
          </a:prstGeom>
          <a:noFill/>
          <a:ln/>
        </p:spPr>
        <p:txBody>
          <a:bodyPr wrap="square" lIns="0" tIns="0" rIns="0" bIns="0" rtlCol="0" anchor="t"/>
          <a:lstStyle/>
          <a:p>
            <a:pPr indent="0" marL="0">
              <a:buNone/>
            </a:pPr>
            <a:r>
              <a:rPr lang="en-US" sz="1300" dirty="0">
                <a:solidFill>
                  <a:schemeClr val="accent5"/>
                </a:solidFill>
                <a:latin typeface="Courier New" pitchFamily="34" charset="0"/>
                <a:ea typeface="Courier New" pitchFamily="34" charset="-122"/>
                <a:cs typeface="Courier New" pitchFamily="34" charset="-120"/>
              </a:rPr>
              <a:t>“How do I calculate someone’s age in C#?”</a:t>
            </a:r>
            <a:endParaRPr lang="en-US" sz="1300" dirty="0"/>
          </a:p>
        </p:txBody>
      </p:sp>
      <p:sp>
        <p:nvSpPr>
          <p:cNvPr id="8" name="arrow"/>
          <p:cNvSpPr/>
          <p:nvPr/>
        </p:nvSpPr>
        <p:spPr>
          <a:xfrm>
            <a:off x="2496312" y="3246120"/>
            <a:ext cx="310896" cy="0"/>
          </a:xfrm>
          <a:prstGeom prst="line">
            <a:avLst/>
          </a:prstGeom>
          <a:noFill/>
          <a:ln w="22225">
            <a:solidFill>
              <a:schemeClr val="accent6"/>
            </a:solidFill>
            <a:prstDash val="solid"/>
            <a:tailEnd type="triangle"/>
          </a:ln>
        </p:spPr>
      </p:sp>
      <p:sp>
        <p:nvSpPr>
          <p:cNvPr id="9" name="step 2"/>
          <p:cNvSpPr/>
          <p:nvPr/>
        </p:nvSpPr>
        <p:spPr>
          <a:xfrm>
            <a:off x="2834640" y="1737360"/>
            <a:ext cx="1920240" cy="2514600"/>
          </a:xfrm>
          <a:prstGeom prst="roundRect">
            <a:avLst>
              <a:gd name="adj" fmla="val 3810"/>
            </a:avLst>
          </a:prstGeom>
          <a:solidFill>
            <a:schemeClr val="bg2"/>
          </a:solidFill>
          <a:ln/>
        </p:spPr>
      </p:sp>
      <p:sp>
        <p:nvSpPr>
          <p:cNvPr id="10" name="Text 8"/>
          <p:cNvSpPr/>
          <p:nvPr/>
        </p:nvSpPr>
        <p:spPr>
          <a:xfrm>
            <a:off x="3017520" y="1920240"/>
            <a:ext cx="411480" cy="41148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tx1"/>
                </a:solidFill>
              </a:rPr>
              <a:t>2</a:t>
            </a:r>
            <a:endParaRPr lang="en-US" sz="1400" dirty="0"/>
          </a:p>
        </p:txBody>
      </p:sp>
      <p:sp>
        <p:nvSpPr>
          <p:cNvPr id="11" name="Text 9"/>
          <p:cNvSpPr txBox="1"/>
          <p:nvPr/>
        </p:nvSpPr>
        <p:spPr>
          <a:xfrm>
            <a:off x="3017520" y="2468880"/>
            <a:ext cx="1554480" cy="594360"/>
          </a:xfrm>
          <a:prstGeom prst="rect">
            <a:avLst/>
          </a:prstGeom>
          <a:noFill/>
          <a:ln/>
        </p:spPr>
        <p:txBody>
          <a:bodyPr wrap="square" lIns="0" tIns="0" rIns="0" bIns="0" rtlCol="0" anchor="t"/>
          <a:lstStyle/>
          <a:p>
            <a:pPr indent="0" marL="0">
              <a:buNone/>
            </a:pPr>
            <a:r>
              <a:rPr lang="en-US" sz="1400" b="1" dirty="0">
                <a:solidFill>
                  <a:schemeClr val="tx1"/>
                </a:solidFill>
              </a:rPr>
              <a:t>Punctuation removed</a:t>
            </a:r>
            <a:endParaRPr lang="en-US" sz="1400" dirty="0"/>
          </a:p>
        </p:txBody>
      </p:sp>
      <p:sp>
        <p:nvSpPr>
          <p:cNvPr id="12" name="Text 10"/>
          <p:cNvSpPr txBox="1"/>
          <p:nvPr/>
        </p:nvSpPr>
        <p:spPr>
          <a:xfrm>
            <a:off x="3017520" y="3108960"/>
            <a:ext cx="1554480" cy="1097280"/>
          </a:xfrm>
          <a:prstGeom prst="rect">
            <a:avLst/>
          </a:prstGeom>
          <a:noFill/>
          <a:ln/>
        </p:spPr>
        <p:txBody>
          <a:bodyPr wrap="square" lIns="0" tIns="0" rIns="0" bIns="0" rtlCol="0" anchor="t"/>
          <a:lstStyle/>
          <a:p>
            <a:pPr indent="0" marL="0">
              <a:buNone/>
            </a:pPr>
            <a:r>
              <a:rPr lang="en-US" sz="1300" dirty="0">
                <a:solidFill>
                  <a:schemeClr val="accent5"/>
                </a:solidFill>
                <a:latin typeface="Courier New" pitchFamily="34" charset="0"/>
                <a:ea typeface="Courier New" pitchFamily="34" charset="-122"/>
                <a:cs typeface="Courier New" pitchFamily="34" charset="-120"/>
              </a:rPr>
              <a:t>“How do I calculate someone s age in C”</a:t>
            </a:r>
            <a:endParaRPr lang="en-US" sz="1300" dirty="0"/>
          </a:p>
        </p:txBody>
      </p:sp>
      <p:sp>
        <p:nvSpPr>
          <p:cNvPr id="13" name="arrow"/>
          <p:cNvSpPr/>
          <p:nvPr/>
        </p:nvSpPr>
        <p:spPr>
          <a:xfrm>
            <a:off x="4782312" y="3246120"/>
            <a:ext cx="310896" cy="0"/>
          </a:xfrm>
          <a:prstGeom prst="line">
            <a:avLst/>
          </a:prstGeom>
          <a:noFill/>
          <a:ln w="22225">
            <a:solidFill>
              <a:schemeClr val="accent6"/>
            </a:solidFill>
            <a:prstDash val="solid"/>
            <a:tailEnd type="triangle"/>
          </a:ln>
        </p:spPr>
      </p:sp>
      <p:sp>
        <p:nvSpPr>
          <p:cNvPr id="14" name="step 3"/>
          <p:cNvSpPr/>
          <p:nvPr/>
        </p:nvSpPr>
        <p:spPr>
          <a:xfrm>
            <a:off x="5120640" y="1737360"/>
            <a:ext cx="1920240" cy="2514600"/>
          </a:xfrm>
          <a:prstGeom prst="roundRect">
            <a:avLst>
              <a:gd name="adj" fmla="val 3810"/>
            </a:avLst>
          </a:prstGeom>
          <a:solidFill>
            <a:schemeClr val="bg2"/>
          </a:solidFill>
          <a:ln/>
        </p:spPr>
      </p:sp>
      <p:sp>
        <p:nvSpPr>
          <p:cNvPr id="15" name="Text 13"/>
          <p:cNvSpPr/>
          <p:nvPr/>
        </p:nvSpPr>
        <p:spPr>
          <a:xfrm>
            <a:off x="5303520" y="1920240"/>
            <a:ext cx="411480" cy="41148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tx1"/>
                </a:solidFill>
              </a:rPr>
              <a:t>3</a:t>
            </a:r>
            <a:endParaRPr lang="en-US" sz="1400" dirty="0"/>
          </a:p>
        </p:txBody>
      </p:sp>
      <p:sp>
        <p:nvSpPr>
          <p:cNvPr id="16" name="Text 14"/>
          <p:cNvSpPr txBox="1"/>
          <p:nvPr/>
        </p:nvSpPr>
        <p:spPr>
          <a:xfrm>
            <a:off x="5303520" y="2468880"/>
            <a:ext cx="1554480" cy="594360"/>
          </a:xfrm>
          <a:prstGeom prst="rect">
            <a:avLst/>
          </a:prstGeom>
          <a:noFill/>
          <a:ln/>
        </p:spPr>
        <p:txBody>
          <a:bodyPr wrap="square" lIns="0" tIns="0" rIns="0" bIns="0" rtlCol="0" anchor="t"/>
          <a:lstStyle/>
          <a:p>
            <a:pPr indent="0" marL="0">
              <a:buNone/>
            </a:pPr>
            <a:r>
              <a:rPr lang="en-US" sz="1400" b="1" dirty="0">
                <a:solidFill>
                  <a:schemeClr val="tx1"/>
                </a:solidFill>
              </a:rPr>
              <a:t>Base forms, common words removed</a:t>
            </a:r>
            <a:endParaRPr lang="en-US" sz="1400" dirty="0"/>
          </a:p>
        </p:txBody>
      </p:sp>
      <p:sp>
        <p:nvSpPr>
          <p:cNvPr id="17" name="Text 15"/>
          <p:cNvSpPr txBox="1"/>
          <p:nvPr/>
        </p:nvSpPr>
        <p:spPr>
          <a:xfrm>
            <a:off x="5303520" y="3108960"/>
            <a:ext cx="1554480" cy="1097280"/>
          </a:xfrm>
          <a:prstGeom prst="rect">
            <a:avLst/>
          </a:prstGeom>
          <a:noFill/>
          <a:ln/>
        </p:spPr>
        <p:txBody>
          <a:bodyPr wrap="square" lIns="0" tIns="0" rIns="0" bIns="0" rtlCol="0" anchor="t"/>
          <a:lstStyle/>
          <a:p>
            <a:pPr indent="0" marL="0">
              <a:buNone/>
            </a:pPr>
            <a:r>
              <a:rPr lang="en-US" sz="1300" dirty="0">
                <a:solidFill>
                  <a:schemeClr val="accent5"/>
                </a:solidFill>
                <a:latin typeface="Courier New" pitchFamily="34" charset="0"/>
                <a:ea typeface="Courier New" pitchFamily="34" charset="-122"/>
                <a:cs typeface="Courier New" pitchFamily="34" charset="-120"/>
              </a:rPr>
              <a:t>“How I calculate someone age C”</a:t>
            </a:r>
            <a:endParaRPr lang="en-US" sz="1300" dirty="0"/>
          </a:p>
        </p:txBody>
      </p:sp>
      <p:sp>
        <p:nvSpPr>
          <p:cNvPr id="18" name="arrow"/>
          <p:cNvSpPr/>
          <p:nvPr/>
        </p:nvSpPr>
        <p:spPr>
          <a:xfrm>
            <a:off x="7068312" y="3246120"/>
            <a:ext cx="310896" cy="0"/>
          </a:xfrm>
          <a:prstGeom prst="line">
            <a:avLst/>
          </a:prstGeom>
          <a:noFill/>
          <a:ln w="22225">
            <a:solidFill>
              <a:schemeClr val="accent6"/>
            </a:solidFill>
            <a:prstDash val="solid"/>
            <a:tailEnd type="triangle"/>
          </a:ln>
        </p:spPr>
      </p:sp>
      <p:sp>
        <p:nvSpPr>
          <p:cNvPr id="19" name="step 4"/>
          <p:cNvSpPr/>
          <p:nvPr/>
        </p:nvSpPr>
        <p:spPr>
          <a:xfrm>
            <a:off x="7406640" y="1737360"/>
            <a:ext cx="1920240" cy="2514600"/>
          </a:xfrm>
          <a:prstGeom prst="roundRect">
            <a:avLst>
              <a:gd name="adj" fmla="val 3810"/>
            </a:avLst>
          </a:prstGeom>
          <a:solidFill>
            <a:schemeClr val="bg2"/>
          </a:solidFill>
          <a:ln/>
        </p:spPr>
      </p:sp>
      <p:sp>
        <p:nvSpPr>
          <p:cNvPr id="20" name="Text 18"/>
          <p:cNvSpPr/>
          <p:nvPr/>
        </p:nvSpPr>
        <p:spPr>
          <a:xfrm>
            <a:off x="7589520" y="1920240"/>
            <a:ext cx="411480" cy="41148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tx1"/>
                </a:solidFill>
              </a:rPr>
              <a:t>4</a:t>
            </a:r>
            <a:endParaRPr lang="en-US" sz="1400" dirty="0"/>
          </a:p>
        </p:txBody>
      </p:sp>
      <p:sp>
        <p:nvSpPr>
          <p:cNvPr id="21" name="Text 19"/>
          <p:cNvSpPr txBox="1"/>
          <p:nvPr/>
        </p:nvSpPr>
        <p:spPr>
          <a:xfrm>
            <a:off x="7589520" y="2468880"/>
            <a:ext cx="1554480" cy="594360"/>
          </a:xfrm>
          <a:prstGeom prst="rect">
            <a:avLst/>
          </a:prstGeom>
          <a:noFill/>
          <a:ln/>
        </p:spPr>
        <p:txBody>
          <a:bodyPr wrap="square" lIns="0" tIns="0" rIns="0" bIns="0" rtlCol="0" anchor="t"/>
          <a:lstStyle/>
          <a:p>
            <a:pPr indent="0" marL="0">
              <a:buNone/>
            </a:pPr>
            <a:r>
              <a:rPr lang="en-US" sz="1400" b="1" dirty="0">
                <a:solidFill>
                  <a:schemeClr val="tx1"/>
                </a:solidFill>
              </a:rPr>
              <a:t>TF-IDF scores</a:t>
            </a:r>
            <a:endParaRPr lang="en-US" sz="1400" dirty="0"/>
          </a:p>
        </p:txBody>
      </p:sp>
      <p:sp>
        <p:nvSpPr>
          <p:cNvPr id="22" name="Text 20"/>
          <p:cNvSpPr txBox="1"/>
          <p:nvPr/>
        </p:nvSpPr>
        <p:spPr>
          <a:xfrm>
            <a:off x="7589520" y="3108960"/>
            <a:ext cx="1554480" cy="1097280"/>
          </a:xfrm>
          <a:prstGeom prst="rect">
            <a:avLst/>
          </a:prstGeom>
          <a:noFill/>
          <a:ln/>
        </p:spPr>
        <p:txBody>
          <a:bodyPr wrap="square" lIns="0" tIns="0" rIns="0" bIns="0" rtlCol="0" anchor="t"/>
          <a:lstStyle/>
          <a:p>
            <a:pPr indent="0" marL="0">
              <a:buNone/>
            </a:pPr>
            <a:r>
              <a:rPr lang="en-US" sz="1400" dirty="0">
                <a:solidFill>
                  <a:schemeClr val="accent6"/>
                </a:solidFill>
              </a:rPr>
              <a:t>A score for each of the 1,000 most common words. One-letter words like “C” don’t count.</a:t>
            </a:r>
            <a:endParaRPr lang="en-US" sz="1400" dirty="0"/>
          </a:p>
        </p:txBody>
      </p:sp>
      <p:sp>
        <p:nvSpPr>
          <p:cNvPr id="23" name="arrow"/>
          <p:cNvSpPr/>
          <p:nvPr/>
        </p:nvSpPr>
        <p:spPr>
          <a:xfrm>
            <a:off x="9354312" y="3246120"/>
            <a:ext cx="310896" cy="0"/>
          </a:xfrm>
          <a:prstGeom prst="line">
            <a:avLst/>
          </a:prstGeom>
          <a:noFill/>
          <a:ln w="22225">
            <a:solidFill>
              <a:schemeClr val="accent6"/>
            </a:solidFill>
            <a:prstDash val="solid"/>
            <a:tailEnd type="triangle"/>
          </a:ln>
        </p:spPr>
      </p:sp>
      <p:sp>
        <p:nvSpPr>
          <p:cNvPr id="24" name="step 5"/>
          <p:cNvSpPr/>
          <p:nvPr/>
        </p:nvSpPr>
        <p:spPr>
          <a:xfrm>
            <a:off x="9692640" y="1737360"/>
            <a:ext cx="1920240" cy="2514600"/>
          </a:xfrm>
          <a:prstGeom prst="roundRect">
            <a:avLst>
              <a:gd name="adj" fmla="val 3810"/>
            </a:avLst>
          </a:prstGeom>
          <a:solidFill>
            <a:schemeClr val="bg2"/>
          </a:solidFill>
          <a:ln/>
        </p:spPr>
      </p:sp>
      <p:sp>
        <p:nvSpPr>
          <p:cNvPr id="25" name="Text 23"/>
          <p:cNvSpPr/>
          <p:nvPr/>
        </p:nvSpPr>
        <p:spPr>
          <a:xfrm>
            <a:off x="9875520" y="1920240"/>
            <a:ext cx="411480" cy="41148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tx1"/>
                </a:solidFill>
              </a:rPr>
              <a:t>5</a:t>
            </a:r>
            <a:endParaRPr lang="en-US" sz="1400" dirty="0"/>
          </a:p>
        </p:txBody>
      </p:sp>
      <p:sp>
        <p:nvSpPr>
          <p:cNvPr id="26" name="Text 24"/>
          <p:cNvSpPr txBox="1"/>
          <p:nvPr/>
        </p:nvSpPr>
        <p:spPr>
          <a:xfrm>
            <a:off x="9875520" y="2468880"/>
            <a:ext cx="1554480" cy="594360"/>
          </a:xfrm>
          <a:prstGeom prst="rect">
            <a:avLst/>
          </a:prstGeom>
          <a:noFill/>
          <a:ln/>
        </p:spPr>
        <p:txBody>
          <a:bodyPr wrap="square" lIns="0" tIns="0" rIns="0" bIns="0" rtlCol="0" anchor="t"/>
          <a:lstStyle/>
          <a:p>
            <a:pPr indent="0" marL="0">
              <a:buNone/>
            </a:pPr>
            <a:r>
              <a:rPr lang="en-US" sz="1400" b="1" dirty="0">
                <a:solidFill>
                  <a:schemeClr val="tx1"/>
                </a:solidFill>
              </a:rPr>
              <a:t>100 yes or no calls</a:t>
            </a:r>
            <a:endParaRPr lang="en-US" sz="1400" dirty="0"/>
          </a:p>
        </p:txBody>
      </p:sp>
      <p:sp>
        <p:nvSpPr>
          <p:cNvPr id="27" name="Text 25"/>
          <p:cNvSpPr txBox="1"/>
          <p:nvPr/>
        </p:nvSpPr>
        <p:spPr>
          <a:xfrm>
            <a:off x="9875520" y="3108960"/>
            <a:ext cx="1554480" cy="1097280"/>
          </a:xfrm>
          <a:prstGeom prst="rect">
            <a:avLst/>
          </a:prstGeom>
          <a:noFill/>
          <a:ln/>
        </p:spPr>
        <p:txBody>
          <a:bodyPr wrap="square" lIns="0" tIns="0" rIns="0" bIns="0" rtlCol="0" anchor="t"/>
          <a:lstStyle/>
          <a:p>
            <a:pPr indent="0" marL="0">
              <a:buNone/>
            </a:pPr>
            <a:r>
              <a:rPr lang="en-US" sz="1400" dirty="0">
                <a:solidFill>
                  <a:schemeClr val="accent6"/>
                </a:solidFill>
              </a:rPr>
              <a:t>One classifier per tag decides whether the title has that tag.</a:t>
            </a:r>
            <a:endParaRPr lang="en-US" sz="1400" dirty="0"/>
          </a:p>
        </p:txBody>
      </p:sp>
      <p:sp>
        <p:nvSpPr>
          <p:cNvPr id="28" name="tags row"/>
          <p:cNvSpPr/>
          <p:nvPr/>
        </p:nvSpPr>
        <p:spPr>
          <a:xfrm>
            <a:off x="548640" y="4526280"/>
            <a:ext cx="11064240" cy="1051560"/>
          </a:xfrm>
          <a:prstGeom prst="roundRect">
            <a:avLst>
              <a:gd name="adj" fmla="val 6957"/>
            </a:avLst>
          </a:prstGeom>
          <a:solidFill>
            <a:schemeClr val="bg2"/>
          </a:solidFill>
          <a:ln/>
        </p:spPr>
      </p:sp>
      <p:sp>
        <p:nvSpPr>
          <p:cNvPr id="29" name="Text 27"/>
          <p:cNvSpPr txBox="1"/>
          <p:nvPr/>
        </p:nvSpPr>
        <p:spPr>
          <a:xfrm>
            <a:off x="777240" y="4526280"/>
            <a:ext cx="2743200" cy="1051560"/>
          </a:xfrm>
          <a:prstGeom prst="rect">
            <a:avLst/>
          </a:prstGeom>
          <a:noFill/>
          <a:ln/>
        </p:spPr>
        <p:txBody>
          <a:bodyPr wrap="square" lIns="0" tIns="0" rIns="0" bIns="0" rtlCol="0" anchor="ctr"/>
          <a:lstStyle/>
          <a:p>
            <a:pPr indent="0" marL="0">
              <a:buNone/>
            </a:pPr>
            <a:r>
              <a:rPr lang="en-US" sz="1600" b="1" dirty="0">
                <a:solidFill>
                  <a:schemeClr val="tx1"/>
                </a:solidFill>
              </a:rPr>
              <a:t>The answers it learns from</a:t>
            </a:r>
            <a:endParaRPr lang="en-US" sz="1600" dirty="0"/>
          </a:p>
        </p:txBody>
      </p:sp>
      <p:sp>
        <p:nvSpPr>
          <p:cNvPr id="30" name="chip c#"/>
          <p:cNvSpPr/>
          <p:nvPr/>
        </p:nvSpPr>
        <p:spPr>
          <a:xfrm>
            <a:off x="3383280" y="4882896"/>
            <a:ext cx="438180" cy="329184"/>
          </a:xfrm>
          <a:prstGeom prst="roundRect">
            <a:avLst>
              <a:gd name="adj" fmla="val 16667"/>
            </a:avLst>
          </a:prstGeom>
          <a:solidFill>
            <a:schemeClr val="accent4"/>
          </a:solidFill>
          <a:ln/>
        </p:spPr>
        <p:txBody>
          <a:bodyPr wrap="square" lIns="0" tIns="0" rIns="0" bIns="0" rtlCol="0" anchor="ctr"/>
          <a:lstStyle/>
          <a:p>
            <a:pPr algn="ctr" indent="0" marL="0">
              <a:buNone/>
            </a:pPr>
            <a:r>
              <a:rPr lang="en-US" sz="1400" dirty="0">
                <a:solidFill>
                  <a:schemeClr val="accent5"/>
                </a:solidFill>
              </a:rPr>
              <a:t>c#</a:t>
            </a:r>
            <a:endParaRPr lang="en-US" sz="1400" dirty="0"/>
          </a:p>
        </p:txBody>
      </p:sp>
      <p:sp>
        <p:nvSpPr>
          <p:cNvPr id="31" name="chip .net"/>
          <p:cNvSpPr/>
          <p:nvPr/>
        </p:nvSpPr>
        <p:spPr>
          <a:xfrm>
            <a:off x="3931188" y="4882896"/>
            <a:ext cx="602041" cy="329184"/>
          </a:xfrm>
          <a:prstGeom prst="roundRect">
            <a:avLst>
              <a:gd name="adj" fmla="val 16667"/>
            </a:avLst>
          </a:prstGeom>
          <a:solidFill>
            <a:schemeClr val="accent4"/>
          </a:solidFill>
          <a:ln/>
        </p:spPr>
        <p:txBody>
          <a:bodyPr wrap="square" lIns="0" tIns="0" rIns="0" bIns="0" rtlCol="0" anchor="ctr"/>
          <a:lstStyle/>
          <a:p>
            <a:pPr algn="ctr" indent="0" marL="0">
              <a:buNone/>
            </a:pPr>
            <a:r>
              <a:rPr lang="en-US" sz="1400" dirty="0">
                <a:solidFill>
                  <a:schemeClr val="accent5"/>
                </a:solidFill>
              </a:rPr>
              <a:t>.net</a:t>
            </a:r>
            <a:endParaRPr lang="en-US" sz="1400" dirty="0"/>
          </a:p>
        </p:txBody>
      </p:sp>
      <p:sp>
        <p:nvSpPr>
          <p:cNvPr id="32" name="chip datetime"/>
          <p:cNvSpPr/>
          <p:nvPr/>
        </p:nvSpPr>
        <p:spPr>
          <a:xfrm>
            <a:off x="4642957" y="4882896"/>
            <a:ext cx="929762" cy="329184"/>
          </a:xfrm>
          <a:prstGeom prst="roundRect">
            <a:avLst>
              <a:gd name="adj" fmla="val 16667"/>
            </a:avLst>
          </a:prstGeom>
          <a:solidFill>
            <a:schemeClr val="accent4"/>
          </a:solidFill>
          <a:ln/>
        </p:spPr>
        <p:txBody>
          <a:bodyPr wrap="square" lIns="0" tIns="0" rIns="0" bIns="0" rtlCol="0" anchor="ctr"/>
          <a:lstStyle/>
          <a:p>
            <a:pPr algn="ctr" indent="0" marL="0">
              <a:buNone/>
            </a:pPr>
            <a:r>
              <a:rPr lang="en-US" sz="1400" dirty="0">
                <a:solidFill>
                  <a:schemeClr val="accent5"/>
                </a:solidFill>
              </a:rPr>
              <a:t>datetime</a:t>
            </a:r>
            <a:endParaRPr lang="en-US" sz="1400" dirty="0"/>
          </a:p>
        </p:txBody>
      </p:sp>
      <p:sp>
        <p:nvSpPr>
          <p:cNvPr id="33" name="Text 31"/>
          <p:cNvSpPr txBox="1"/>
          <p:nvPr/>
        </p:nvSpPr>
        <p:spPr>
          <a:xfrm>
            <a:off x="5892759" y="4526280"/>
            <a:ext cx="5491521" cy="1051560"/>
          </a:xfrm>
          <a:prstGeom prst="rect">
            <a:avLst/>
          </a:prstGeom>
          <a:noFill/>
          <a:ln/>
        </p:spPr>
        <p:txBody>
          <a:bodyPr wrap="square" lIns="0" tIns="0" rIns="0" bIns="0" rtlCol="0" anchor="ctr"/>
          <a:lstStyle/>
          <a:p>
            <a:pPr indent="0" marL="0">
              <a:buNone/>
            </a:pPr>
            <a:r>
              <a:rPr lang="en-US" sz="1400" dirty="0">
                <a:solidFill>
                  <a:schemeClr val="accent6"/>
                </a:solidFill>
              </a:rPr>
              <a:t>The question’s tags, split on spaces. Only the 100 most common tags were kept.</a:t>
            </a:r>
            <a:endParaRPr lang="en-US" sz="1400" dirty="0"/>
          </a:p>
        </p:txBody>
      </p:sp>
      <p:sp>
        <p:nvSpPr>
          <p:cNvPr id="34" name="Text 32"/>
          <p:cNvSpPr txBox="1"/>
          <p:nvPr/>
        </p:nvSpPr>
        <p:spPr>
          <a:xfrm>
            <a:off x="548640" y="5806440"/>
            <a:ext cx="11064240" cy="411480"/>
          </a:xfrm>
          <a:prstGeom prst="rect">
            <a:avLst/>
          </a:prstGeom>
          <a:noFill/>
          <a:ln/>
        </p:spPr>
        <p:txBody>
          <a:bodyPr wrap="square" lIns="0" tIns="0" rIns="0" bIns="0" rtlCol="0" anchor="t"/>
          <a:lstStyle/>
          <a:p>
            <a:pPr indent="0" marL="0">
              <a:buNone/>
            </a:pPr>
            <a:r>
              <a:rPr lang="en-US" sz="1400" dirty="0">
                <a:solidFill>
                  <a:schemeClr val="tx1"/>
                </a:solidFill>
              </a:rPr>
              <a:t>In 2026 I noticed that capitalized common words like “How” got through, because the common-word filter only matched lower case.</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algn="l" indent="0" marL="0">
              <a:buNone/>
            </a:pPr>
            <a:r>
              <a:rPr lang="en-US" sz="3000" b="1" dirty="0">
                <a:solidFill>
                  <a:schemeClr val="tx1"/>
                </a:solidFill>
              </a:rPr>
              <a:t>How the scores work</a:t>
            </a:r>
            <a:endParaRPr lang="en-US" sz="3000" dirty="0"/>
          </a:p>
        </p:txBody>
      </p:sp>
      <p:sp>
        <p:nvSpPr>
          <p:cNvPr id="3" name="Text 0"/>
          <p:cNvSpPr/>
          <p:nvPr>
            <p:ph idx="101" type="body" hasCustomPrompt="1"/>
          </p:nvPr>
        </p:nvSpPr>
        <p:spPr>
          <a:xfrm>
            <a:off x="548640" y="987552"/>
            <a:ext cx="11064240" cy="411480"/>
          </a:xfrm>
          <a:prstGeom prst="rect">
            <a:avLst/>
          </a:prstGeom>
          <a:noFill/>
          <a:ln/>
        </p:spPr>
        <p:txBody>
          <a:bodyPr wrap="square" lIns="0" tIns="0" rIns="0" bIns="0" rtlCol="0" anchor="ctr"/>
          <a:lstStyle/>
          <a:p>
            <a:pPr algn="l" indent="0" marL="0">
              <a:buNone/>
            </a:pPr>
            <a:r>
              <a:rPr lang="en-US" sz="1600" dirty="0">
                <a:solidFill>
                  <a:schemeClr val="accent6"/>
                </a:solidFill>
              </a:rPr>
              <a:t>One real question with a made-up prediction, to show the two scores</a:t>
            </a:r>
            <a:endParaRPr lang="en-US" sz="1600" dirty="0"/>
          </a:p>
        </p:txBody>
      </p:sp>
      <p:sp>
        <p:nvSpPr>
          <p:cNvPr id="4" name="actual tags"/>
          <p:cNvSpPr/>
          <p:nvPr/>
        </p:nvSpPr>
        <p:spPr>
          <a:xfrm>
            <a:off x="822960" y="2057400"/>
            <a:ext cx="3017520" cy="3017520"/>
          </a:xfrm>
          <a:prstGeom prst="ellipse">
            <a:avLst/>
          </a:prstGeom>
          <a:solidFill>
            <a:schemeClr val="accent2">
              <a:alpha val="18000"/>
            </a:schemeClr>
          </a:solidFill>
          <a:ln w="19050">
            <a:solidFill>
              <a:schemeClr val="accent2"/>
            </a:solidFill>
            <a:prstDash val="solid"/>
          </a:ln>
        </p:spPr>
      </p:sp>
      <p:sp>
        <p:nvSpPr>
          <p:cNvPr id="5" name="predicted tags"/>
          <p:cNvSpPr/>
          <p:nvPr/>
        </p:nvSpPr>
        <p:spPr>
          <a:xfrm>
            <a:off x="2697480" y="2057400"/>
            <a:ext cx="3017520" cy="3017520"/>
          </a:xfrm>
          <a:prstGeom prst="ellipse">
            <a:avLst/>
          </a:prstGeom>
          <a:solidFill>
            <a:schemeClr val="accent1">
              <a:alpha val="18000"/>
            </a:schemeClr>
          </a:solidFill>
          <a:ln w="19050">
            <a:solidFill>
              <a:schemeClr val="accent1"/>
            </a:solidFill>
            <a:prstDash val="solid"/>
          </a:ln>
        </p:spPr>
      </p:sp>
      <p:sp>
        <p:nvSpPr>
          <p:cNvPr id="6" name="Text 4"/>
          <p:cNvSpPr txBox="1"/>
          <p:nvPr/>
        </p:nvSpPr>
        <p:spPr>
          <a:xfrm>
            <a:off x="822960" y="1600200"/>
            <a:ext cx="2743200" cy="320040"/>
          </a:xfrm>
          <a:prstGeom prst="rect">
            <a:avLst/>
          </a:prstGeom>
          <a:noFill/>
          <a:ln/>
        </p:spPr>
        <p:txBody>
          <a:bodyPr wrap="square" lIns="0" tIns="0" rIns="0" bIns="0" rtlCol="0" anchor="t"/>
          <a:lstStyle/>
          <a:p>
            <a:pPr indent="0" marL="0">
              <a:buNone/>
            </a:pPr>
            <a:r>
              <a:rPr lang="en-US" sz="1400" b="1" dirty="0">
                <a:solidFill>
                  <a:schemeClr val="tx1"/>
                </a:solidFill>
              </a:rPr>
              <a:t>Tags the question has</a:t>
            </a:r>
            <a:endParaRPr lang="en-US" sz="1400" dirty="0"/>
          </a:p>
        </p:txBody>
      </p:sp>
      <p:sp>
        <p:nvSpPr>
          <p:cNvPr id="7" name="Text 5"/>
          <p:cNvSpPr txBox="1"/>
          <p:nvPr/>
        </p:nvSpPr>
        <p:spPr>
          <a:xfrm>
            <a:off x="2971800" y="1600200"/>
            <a:ext cx="2743200" cy="320040"/>
          </a:xfrm>
          <a:prstGeom prst="rect">
            <a:avLst/>
          </a:prstGeom>
          <a:noFill/>
          <a:ln/>
        </p:spPr>
        <p:txBody>
          <a:bodyPr wrap="square" lIns="0" tIns="0" rIns="0" bIns="0" rtlCol="0" anchor="t"/>
          <a:lstStyle/>
          <a:p>
            <a:pPr algn="r" indent="0" marL="0">
              <a:buNone/>
            </a:pPr>
            <a:r>
              <a:rPr lang="en-US" sz="1400" b="1" dirty="0">
                <a:solidFill>
                  <a:schemeClr val="tx1"/>
                </a:solidFill>
              </a:rPr>
              <a:t>Example prediction</a:t>
            </a:r>
            <a:endParaRPr lang="en-US" sz="1400" dirty="0"/>
          </a:p>
        </p:txBody>
      </p:sp>
      <p:sp>
        <p:nvSpPr>
          <p:cNvPr id="8" name="chip .net"/>
          <p:cNvSpPr/>
          <p:nvPr/>
        </p:nvSpPr>
        <p:spPr>
          <a:xfrm>
            <a:off x="1325880" y="3383280"/>
            <a:ext cx="602041" cy="329184"/>
          </a:xfrm>
          <a:prstGeom prst="roundRect">
            <a:avLst>
              <a:gd name="adj" fmla="val 16667"/>
            </a:avLst>
          </a:prstGeom>
          <a:solidFill>
            <a:schemeClr val="accent4"/>
          </a:solidFill>
          <a:ln/>
        </p:spPr>
        <p:txBody>
          <a:bodyPr wrap="square" lIns="0" tIns="0" rIns="0" bIns="0" rtlCol="0" anchor="ctr"/>
          <a:lstStyle/>
          <a:p>
            <a:pPr algn="ctr" indent="0" marL="0">
              <a:buNone/>
            </a:pPr>
            <a:r>
              <a:rPr lang="en-US" sz="1400" dirty="0">
                <a:solidFill>
                  <a:schemeClr val="accent5"/>
                </a:solidFill>
              </a:rPr>
              <a:t>.net</a:t>
            </a:r>
            <a:endParaRPr lang="en-US" sz="1400" dirty="0"/>
          </a:p>
        </p:txBody>
      </p:sp>
      <p:sp>
        <p:nvSpPr>
          <p:cNvPr id="9" name="chip c#"/>
          <p:cNvSpPr/>
          <p:nvPr/>
        </p:nvSpPr>
        <p:spPr>
          <a:xfrm>
            <a:off x="3017520" y="3063240"/>
            <a:ext cx="502920" cy="329184"/>
          </a:xfrm>
          <a:prstGeom prst="roundRect">
            <a:avLst>
              <a:gd name="adj" fmla="val 16667"/>
            </a:avLst>
          </a:prstGeom>
          <a:solidFill>
            <a:schemeClr val="accent4"/>
          </a:solidFill>
          <a:ln/>
        </p:spPr>
        <p:txBody>
          <a:bodyPr wrap="square" lIns="0" tIns="0" rIns="0" bIns="0" rtlCol="0" anchor="ctr"/>
          <a:lstStyle/>
          <a:p>
            <a:pPr algn="ctr" indent="0" marL="0">
              <a:buNone/>
            </a:pPr>
            <a:r>
              <a:rPr lang="en-US" sz="1400" dirty="0">
                <a:solidFill>
                  <a:schemeClr val="accent5"/>
                </a:solidFill>
              </a:rPr>
              <a:t>c#</a:t>
            </a:r>
            <a:endParaRPr lang="en-US" sz="1400" dirty="0"/>
          </a:p>
        </p:txBody>
      </p:sp>
      <p:sp>
        <p:nvSpPr>
          <p:cNvPr id="10" name="chip datetime"/>
          <p:cNvSpPr/>
          <p:nvPr/>
        </p:nvSpPr>
        <p:spPr>
          <a:xfrm>
            <a:off x="2770632" y="3474720"/>
            <a:ext cx="987552" cy="329184"/>
          </a:xfrm>
          <a:prstGeom prst="roundRect">
            <a:avLst>
              <a:gd name="adj" fmla="val 16667"/>
            </a:avLst>
          </a:prstGeom>
          <a:solidFill>
            <a:schemeClr val="accent4"/>
          </a:solidFill>
          <a:ln/>
        </p:spPr>
        <p:txBody>
          <a:bodyPr wrap="square" lIns="0" tIns="0" rIns="0" bIns="0" rtlCol="0" anchor="ctr"/>
          <a:lstStyle/>
          <a:p>
            <a:pPr algn="ctr" indent="0" marL="0">
              <a:buNone/>
            </a:pPr>
            <a:r>
              <a:rPr lang="en-US" sz="1400" dirty="0">
                <a:solidFill>
                  <a:schemeClr val="accent5"/>
                </a:solidFill>
              </a:rPr>
              <a:t>datetime</a:t>
            </a:r>
            <a:endParaRPr lang="en-US" sz="1400" dirty="0"/>
          </a:p>
        </p:txBody>
      </p:sp>
      <p:sp>
        <p:nvSpPr>
          <p:cNvPr id="11" name="chip sql"/>
          <p:cNvSpPr/>
          <p:nvPr/>
        </p:nvSpPr>
        <p:spPr>
          <a:xfrm>
            <a:off x="4526280" y="3383280"/>
            <a:ext cx="548640" cy="329184"/>
          </a:xfrm>
          <a:prstGeom prst="roundRect">
            <a:avLst>
              <a:gd name="adj" fmla="val 16667"/>
            </a:avLst>
          </a:prstGeom>
          <a:solidFill>
            <a:schemeClr val="accent4"/>
          </a:solidFill>
          <a:ln/>
        </p:spPr>
        <p:txBody>
          <a:bodyPr wrap="square" lIns="0" tIns="0" rIns="0" bIns="0" rtlCol="0" anchor="ctr"/>
          <a:lstStyle/>
          <a:p>
            <a:pPr algn="ctr" indent="0" marL="0">
              <a:buNone/>
            </a:pPr>
            <a:r>
              <a:rPr lang="en-US" sz="1400" dirty="0">
                <a:solidFill>
                  <a:schemeClr val="accent5"/>
                </a:solidFill>
              </a:rPr>
              <a:t>sql</a:t>
            </a:r>
            <a:endParaRPr lang="en-US" sz="1400" dirty="0"/>
          </a:p>
        </p:txBody>
      </p:sp>
      <p:sp>
        <p:nvSpPr>
          <p:cNvPr id="12" name="Text 10"/>
          <p:cNvSpPr txBox="1"/>
          <p:nvPr/>
        </p:nvSpPr>
        <p:spPr>
          <a:xfrm>
            <a:off x="1325880" y="3767328"/>
            <a:ext cx="914400" cy="274320"/>
          </a:xfrm>
          <a:prstGeom prst="rect">
            <a:avLst/>
          </a:prstGeom>
          <a:noFill/>
          <a:ln/>
        </p:spPr>
        <p:txBody>
          <a:bodyPr wrap="square" lIns="0" tIns="0" rIns="0" bIns="0" rtlCol="0" anchor="t"/>
          <a:lstStyle/>
          <a:p>
            <a:pPr indent="0" marL="0">
              <a:buNone/>
            </a:pPr>
            <a:r>
              <a:rPr lang="en-US" sz="1200" dirty="0">
                <a:solidFill>
                  <a:schemeClr val="accent6"/>
                </a:solidFill>
              </a:rPr>
              <a:t>missed</a:t>
            </a:r>
            <a:endParaRPr lang="en-US" sz="1200" dirty="0"/>
          </a:p>
        </p:txBody>
      </p:sp>
      <p:sp>
        <p:nvSpPr>
          <p:cNvPr id="13" name="Text 11"/>
          <p:cNvSpPr txBox="1"/>
          <p:nvPr/>
        </p:nvSpPr>
        <p:spPr>
          <a:xfrm>
            <a:off x="2852928" y="3858768"/>
            <a:ext cx="822960" cy="274320"/>
          </a:xfrm>
          <a:prstGeom prst="rect">
            <a:avLst/>
          </a:prstGeom>
          <a:noFill/>
          <a:ln/>
        </p:spPr>
        <p:txBody>
          <a:bodyPr wrap="square" lIns="0" tIns="0" rIns="0" bIns="0" rtlCol="0" anchor="t"/>
          <a:lstStyle/>
          <a:p>
            <a:pPr algn="ctr" indent="0" marL="0">
              <a:buNone/>
            </a:pPr>
            <a:r>
              <a:rPr lang="en-US" sz="1200" dirty="0">
                <a:solidFill>
                  <a:schemeClr val="accent6"/>
                </a:solidFill>
              </a:rPr>
              <a:t>right</a:t>
            </a:r>
            <a:endParaRPr lang="en-US" sz="1200" dirty="0"/>
          </a:p>
        </p:txBody>
      </p:sp>
      <p:sp>
        <p:nvSpPr>
          <p:cNvPr id="14" name="Text 12"/>
          <p:cNvSpPr txBox="1"/>
          <p:nvPr/>
        </p:nvSpPr>
        <p:spPr>
          <a:xfrm>
            <a:off x="4526280" y="3767328"/>
            <a:ext cx="914400" cy="274320"/>
          </a:xfrm>
          <a:prstGeom prst="rect">
            <a:avLst/>
          </a:prstGeom>
          <a:noFill/>
          <a:ln/>
        </p:spPr>
        <p:txBody>
          <a:bodyPr wrap="square" lIns="0" tIns="0" rIns="0" bIns="0" rtlCol="0" anchor="t"/>
          <a:lstStyle/>
          <a:p>
            <a:pPr indent="0" marL="0">
              <a:buNone/>
            </a:pPr>
            <a:r>
              <a:rPr lang="en-US" sz="1200" dirty="0">
                <a:solidFill>
                  <a:schemeClr val="accent6"/>
                </a:solidFill>
              </a:rPr>
              <a:t>wrong</a:t>
            </a:r>
            <a:endParaRPr lang="en-US" sz="1200" dirty="0"/>
          </a:p>
        </p:txBody>
      </p:sp>
      <p:sp>
        <p:nvSpPr>
          <p:cNvPr id="15" name="jaccard result"/>
          <p:cNvSpPr/>
          <p:nvPr/>
        </p:nvSpPr>
        <p:spPr>
          <a:xfrm>
            <a:off x="548640" y="5257800"/>
            <a:ext cx="5440680" cy="777240"/>
          </a:xfrm>
          <a:prstGeom prst="roundRect">
            <a:avLst>
              <a:gd name="adj" fmla="val 9412"/>
            </a:avLst>
          </a:prstGeom>
          <a:solidFill>
            <a:schemeClr val="bg2"/>
          </a:solidFill>
          <a:ln/>
        </p:spPr>
      </p:sp>
      <p:sp>
        <p:nvSpPr>
          <p:cNvPr id="16" name="Text 14"/>
          <p:cNvSpPr txBox="1"/>
          <p:nvPr/>
        </p:nvSpPr>
        <p:spPr>
          <a:xfrm>
            <a:off x="777240" y="5257800"/>
            <a:ext cx="5029200" cy="777240"/>
          </a:xfrm>
          <a:prstGeom prst="rect">
            <a:avLst/>
          </a:prstGeom>
          <a:noFill/>
          <a:ln/>
        </p:spPr>
        <p:txBody>
          <a:bodyPr wrap="square" lIns="0" tIns="0" rIns="0" bIns="0" rtlCol="0" anchor="ctr"/>
          <a:lstStyle/>
          <a:p>
            <a:pPr indent="0" marL="0">
              <a:buNone/>
            </a:pPr>
            <a:r>
              <a:rPr lang="en-US" sz="1500" b="1" dirty="0">
                <a:solidFill>
                  <a:schemeClr val="tx1"/>
                </a:solidFill>
              </a:rPr>
              <a:t>Jaccard score: </a:t>
            </a:r>
            <a:pPr indent="0" marL="0">
              <a:buNone/>
            </a:pPr>
            <a:r>
              <a:rPr lang="en-US" sz="1500" dirty="0">
                <a:solidFill>
                  <a:schemeClr val="tx1"/>
                </a:solidFill>
              </a:rPr>
              <a:t>2 tags right ÷ 4 tags in total = 50 out of 100</a:t>
            </a:r>
            <a:endParaRPr lang="en-US" sz="1500" dirty="0"/>
          </a:p>
        </p:txBody>
      </p:sp>
      <p:sp>
        <p:nvSpPr>
          <p:cNvPr id="17" name="call c#"/>
          <p:cNvSpPr/>
          <p:nvPr/>
        </p:nvSpPr>
        <p:spPr>
          <a:xfrm>
            <a:off x="6400800" y="1783080"/>
            <a:ext cx="228600" cy="228600"/>
          </a:xfrm>
          <a:prstGeom prst="roundRect">
            <a:avLst>
              <a:gd name="adj" fmla="val 16000"/>
            </a:avLst>
          </a:prstGeom>
          <a:solidFill>
            <a:schemeClr val="accent2"/>
          </a:solidFill>
          <a:ln/>
        </p:spPr>
      </p:sp>
      <p:sp>
        <p:nvSpPr>
          <p:cNvPr id="18" name="call java"/>
          <p:cNvSpPr/>
          <p:nvPr/>
        </p:nvSpPr>
        <p:spPr>
          <a:xfrm>
            <a:off x="6684264" y="1783080"/>
            <a:ext cx="228600" cy="228600"/>
          </a:xfrm>
          <a:prstGeom prst="roundRect">
            <a:avLst>
              <a:gd name="adj" fmla="val 16000"/>
            </a:avLst>
          </a:prstGeom>
          <a:solidFill>
            <a:schemeClr val="accent3"/>
          </a:solidFill>
          <a:ln/>
        </p:spPr>
      </p:sp>
      <p:sp>
        <p:nvSpPr>
          <p:cNvPr id="19" name="call javascript"/>
          <p:cNvSpPr/>
          <p:nvPr/>
        </p:nvSpPr>
        <p:spPr>
          <a:xfrm>
            <a:off x="6967728" y="1783080"/>
            <a:ext cx="228600" cy="228600"/>
          </a:xfrm>
          <a:prstGeom prst="roundRect">
            <a:avLst>
              <a:gd name="adj" fmla="val 16000"/>
            </a:avLst>
          </a:prstGeom>
          <a:solidFill>
            <a:schemeClr val="accent3"/>
          </a:solidFill>
          <a:ln/>
        </p:spPr>
      </p:sp>
      <p:sp>
        <p:nvSpPr>
          <p:cNvPr id="20" name="call python"/>
          <p:cNvSpPr/>
          <p:nvPr/>
        </p:nvSpPr>
        <p:spPr>
          <a:xfrm>
            <a:off x="7251192" y="1783080"/>
            <a:ext cx="228600" cy="228600"/>
          </a:xfrm>
          <a:prstGeom prst="roundRect">
            <a:avLst>
              <a:gd name="adj" fmla="val 16000"/>
            </a:avLst>
          </a:prstGeom>
          <a:solidFill>
            <a:schemeClr val="accent3"/>
          </a:solidFill>
          <a:ln/>
        </p:spPr>
      </p:sp>
      <p:sp>
        <p:nvSpPr>
          <p:cNvPr id="21" name="call .net"/>
          <p:cNvSpPr/>
          <p:nvPr/>
        </p:nvSpPr>
        <p:spPr>
          <a:xfrm>
            <a:off x="7534656" y="1783080"/>
            <a:ext cx="228600" cy="228600"/>
          </a:xfrm>
          <a:prstGeom prst="roundRect">
            <a:avLst>
              <a:gd name="adj" fmla="val 16000"/>
            </a:avLst>
          </a:prstGeom>
          <a:solidFill>
            <a:schemeClr val="accent1"/>
          </a:solidFill>
          <a:ln/>
        </p:spPr>
      </p:sp>
      <p:sp>
        <p:nvSpPr>
          <p:cNvPr id="22" name="call c++"/>
          <p:cNvSpPr/>
          <p:nvPr/>
        </p:nvSpPr>
        <p:spPr>
          <a:xfrm>
            <a:off x="7818120" y="1783080"/>
            <a:ext cx="228600" cy="228600"/>
          </a:xfrm>
          <a:prstGeom prst="roundRect">
            <a:avLst>
              <a:gd name="adj" fmla="val 16000"/>
            </a:avLst>
          </a:prstGeom>
          <a:solidFill>
            <a:schemeClr val="accent3"/>
          </a:solidFill>
          <a:ln/>
        </p:spPr>
      </p:sp>
      <p:sp>
        <p:nvSpPr>
          <p:cNvPr id="23" name="call jquery"/>
          <p:cNvSpPr/>
          <p:nvPr/>
        </p:nvSpPr>
        <p:spPr>
          <a:xfrm>
            <a:off x="8101584" y="1783080"/>
            <a:ext cx="228600" cy="228600"/>
          </a:xfrm>
          <a:prstGeom prst="roundRect">
            <a:avLst>
              <a:gd name="adj" fmla="val 16000"/>
            </a:avLst>
          </a:prstGeom>
          <a:solidFill>
            <a:schemeClr val="accent3"/>
          </a:solidFill>
          <a:ln/>
        </p:spPr>
      </p:sp>
      <p:sp>
        <p:nvSpPr>
          <p:cNvPr id="24" name="call php"/>
          <p:cNvSpPr/>
          <p:nvPr/>
        </p:nvSpPr>
        <p:spPr>
          <a:xfrm>
            <a:off x="8385048" y="1783080"/>
            <a:ext cx="228600" cy="228600"/>
          </a:xfrm>
          <a:prstGeom prst="roundRect">
            <a:avLst>
              <a:gd name="adj" fmla="val 16000"/>
            </a:avLst>
          </a:prstGeom>
          <a:solidFill>
            <a:schemeClr val="accent3"/>
          </a:solidFill>
          <a:ln/>
        </p:spPr>
      </p:sp>
      <p:sp>
        <p:nvSpPr>
          <p:cNvPr id="25" name="call android"/>
          <p:cNvSpPr/>
          <p:nvPr/>
        </p:nvSpPr>
        <p:spPr>
          <a:xfrm>
            <a:off x="8668512" y="1783080"/>
            <a:ext cx="228600" cy="228600"/>
          </a:xfrm>
          <a:prstGeom prst="roundRect">
            <a:avLst>
              <a:gd name="adj" fmla="val 16000"/>
            </a:avLst>
          </a:prstGeom>
          <a:solidFill>
            <a:schemeClr val="accent3"/>
          </a:solidFill>
          <a:ln/>
        </p:spPr>
      </p:sp>
      <p:sp>
        <p:nvSpPr>
          <p:cNvPr id="26" name="call html"/>
          <p:cNvSpPr/>
          <p:nvPr/>
        </p:nvSpPr>
        <p:spPr>
          <a:xfrm>
            <a:off x="8951976" y="1783080"/>
            <a:ext cx="228600" cy="228600"/>
          </a:xfrm>
          <a:prstGeom prst="roundRect">
            <a:avLst>
              <a:gd name="adj" fmla="val 16000"/>
            </a:avLst>
          </a:prstGeom>
          <a:solidFill>
            <a:schemeClr val="accent3"/>
          </a:solidFill>
          <a:ln/>
        </p:spPr>
      </p:sp>
      <p:sp>
        <p:nvSpPr>
          <p:cNvPr id="27" name="call sql"/>
          <p:cNvSpPr/>
          <p:nvPr/>
        </p:nvSpPr>
        <p:spPr>
          <a:xfrm>
            <a:off x="6400800" y="2066544"/>
            <a:ext cx="228600" cy="228600"/>
          </a:xfrm>
          <a:prstGeom prst="roundRect">
            <a:avLst>
              <a:gd name="adj" fmla="val 16000"/>
            </a:avLst>
          </a:prstGeom>
          <a:solidFill>
            <a:schemeClr val="accent1"/>
          </a:solidFill>
          <a:ln/>
        </p:spPr>
      </p:sp>
      <p:sp>
        <p:nvSpPr>
          <p:cNvPr id="28" name="call git"/>
          <p:cNvSpPr/>
          <p:nvPr/>
        </p:nvSpPr>
        <p:spPr>
          <a:xfrm>
            <a:off x="6684264" y="2066544"/>
            <a:ext cx="228600" cy="228600"/>
          </a:xfrm>
          <a:prstGeom prst="roundRect">
            <a:avLst>
              <a:gd name="adj" fmla="val 16000"/>
            </a:avLst>
          </a:prstGeom>
          <a:solidFill>
            <a:schemeClr val="accent3"/>
          </a:solidFill>
          <a:ln/>
        </p:spPr>
      </p:sp>
      <p:sp>
        <p:nvSpPr>
          <p:cNvPr id="29" name="call css"/>
          <p:cNvSpPr/>
          <p:nvPr/>
        </p:nvSpPr>
        <p:spPr>
          <a:xfrm>
            <a:off x="6967728" y="2066544"/>
            <a:ext cx="228600" cy="228600"/>
          </a:xfrm>
          <a:prstGeom prst="roundRect">
            <a:avLst>
              <a:gd name="adj" fmla="val 16000"/>
            </a:avLst>
          </a:prstGeom>
          <a:solidFill>
            <a:schemeClr val="accent3"/>
          </a:solidFill>
          <a:ln/>
        </p:spPr>
      </p:sp>
      <p:sp>
        <p:nvSpPr>
          <p:cNvPr id="30" name="call string"/>
          <p:cNvSpPr/>
          <p:nvPr/>
        </p:nvSpPr>
        <p:spPr>
          <a:xfrm>
            <a:off x="7251192" y="2066544"/>
            <a:ext cx="228600" cy="228600"/>
          </a:xfrm>
          <a:prstGeom prst="roundRect">
            <a:avLst>
              <a:gd name="adj" fmla="val 16000"/>
            </a:avLst>
          </a:prstGeom>
          <a:solidFill>
            <a:schemeClr val="accent3"/>
          </a:solidFill>
          <a:ln/>
        </p:spPr>
      </p:sp>
      <p:sp>
        <p:nvSpPr>
          <p:cNvPr id="31" name="call c"/>
          <p:cNvSpPr/>
          <p:nvPr/>
        </p:nvSpPr>
        <p:spPr>
          <a:xfrm>
            <a:off x="7534656" y="2066544"/>
            <a:ext cx="228600" cy="228600"/>
          </a:xfrm>
          <a:prstGeom prst="roundRect">
            <a:avLst>
              <a:gd name="adj" fmla="val 16000"/>
            </a:avLst>
          </a:prstGeom>
          <a:solidFill>
            <a:schemeClr val="accent3"/>
          </a:solidFill>
          <a:ln/>
        </p:spPr>
      </p:sp>
      <p:sp>
        <p:nvSpPr>
          <p:cNvPr id="32" name="call mysql"/>
          <p:cNvSpPr/>
          <p:nvPr/>
        </p:nvSpPr>
        <p:spPr>
          <a:xfrm>
            <a:off x="7818120" y="2066544"/>
            <a:ext cx="228600" cy="228600"/>
          </a:xfrm>
          <a:prstGeom prst="roundRect">
            <a:avLst>
              <a:gd name="adj" fmla="val 16000"/>
            </a:avLst>
          </a:prstGeom>
          <a:solidFill>
            <a:schemeClr val="accent3"/>
          </a:solidFill>
          <a:ln/>
        </p:spPr>
      </p:sp>
      <p:sp>
        <p:nvSpPr>
          <p:cNvPr id="33" name="call sql-server"/>
          <p:cNvSpPr/>
          <p:nvPr/>
        </p:nvSpPr>
        <p:spPr>
          <a:xfrm>
            <a:off x="8101584" y="2066544"/>
            <a:ext cx="228600" cy="228600"/>
          </a:xfrm>
          <a:prstGeom prst="roundRect">
            <a:avLst>
              <a:gd name="adj" fmla="val 16000"/>
            </a:avLst>
          </a:prstGeom>
          <a:solidFill>
            <a:schemeClr val="accent3"/>
          </a:solidFill>
          <a:ln/>
        </p:spPr>
      </p:sp>
      <p:sp>
        <p:nvSpPr>
          <p:cNvPr id="34" name="call iphone"/>
          <p:cNvSpPr/>
          <p:nvPr/>
        </p:nvSpPr>
        <p:spPr>
          <a:xfrm>
            <a:off x="8385048" y="2066544"/>
            <a:ext cx="228600" cy="228600"/>
          </a:xfrm>
          <a:prstGeom prst="roundRect">
            <a:avLst>
              <a:gd name="adj" fmla="val 16000"/>
            </a:avLst>
          </a:prstGeom>
          <a:solidFill>
            <a:schemeClr val="accent3"/>
          </a:solidFill>
          <a:ln/>
        </p:spPr>
      </p:sp>
      <p:sp>
        <p:nvSpPr>
          <p:cNvPr id="35" name="call ruby"/>
          <p:cNvSpPr/>
          <p:nvPr/>
        </p:nvSpPr>
        <p:spPr>
          <a:xfrm>
            <a:off x="8668512" y="2066544"/>
            <a:ext cx="228600" cy="228600"/>
          </a:xfrm>
          <a:prstGeom prst="roundRect">
            <a:avLst>
              <a:gd name="adj" fmla="val 16000"/>
            </a:avLst>
          </a:prstGeom>
          <a:solidFill>
            <a:schemeClr val="accent3"/>
          </a:solidFill>
          <a:ln/>
        </p:spPr>
      </p:sp>
      <p:sp>
        <p:nvSpPr>
          <p:cNvPr id="36" name="call objective-c"/>
          <p:cNvSpPr/>
          <p:nvPr/>
        </p:nvSpPr>
        <p:spPr>
          <a:xfrm>
            <a:off x="8951976" y="2066544"/>
            <a:ext cx="228600" cy="228600"/>
          </a:xfrm>
          <a:prstGeom prst="roundRect">
            <a:avLst>
              <a:gd name="adj" fmla="val 16000"/>
            </a:avLst>
          </a:prstGeom>
          <a:solidFill>
            <a:schemeClr val="accent3"/>
          </a:solidFill>
          <a:ln/>
        </p:spPr>
      </p:sp>
      <p:sp>
        <p:nvSpPr>
          <p:cNvPr id="37" name="call linux"/>
          <p:cNvSpPr/>
          <p:nvPr/>
        </p:nvSpPr>
        <p:spPr>
          <a:xfrm>
            <a:off x="6400800" y="2350008"/>
            <a:ext cx="228600" cy="228600"/>
          </a:xfrm>
          <a:prstGeom prst="roundRect">
            <a:avLst>
              <a:gd name="adj" fmla="val 16000"/>
            </a:avLst>
          </a:prstGeom>
          <a:solidFill>
            <a:schemeClr val="accent3"/>
          </a:solidFill>
          <a:ln/>
        </p:spPr>
      </p:sp>
      <p:sp>
        <p:nvSpPr>
          <p:cNvPr id="38" name="call arrays"/>
          <p:cNvSpPr/>
          <p:nvPr/>
        </p:nvSpPr>
        <p:spPr>
          <a:xfrm>
            <a:off x="6684264" y="2350008"/>
            <a:ext cx="228600" cy="228600"/>
          </a:xfrm>
          <a:prstGeom prst="roundRect">
            <a:avLst>
              <a:gd name="adj" fmla="val 16000"/>
            </a:avLst>
          </a:prstGeom>
          <a:solidFill>
            <a:schemeClr val="accent3"/>
          </a:solidFill>
          <a:ln/>
        </p:spPr>
      </p:sp>
      <p:sp>
        <p:nvSpPr>
          <p:cNvPr id="39" name="call asp.net"/>
          <p:cNvSpPr/>
          <p:nvPr/>
        </p:nvSpPr>
        <p:spPr>
          <a:xfrm>
            <a:off x="6967728" y="2350008"/>
            <a:ext cx="228600" cy="228600"/>
          </a:xfrm>
          <a:prstGeom prst="roundRect">
            <a:avLst>
              <a:gd name="adj" fmla="val 16000"/>
            </a:avLst>
          </a:prstGeom>
          <a:solidFill>
            <a:schemeClr val="accent3"/>
          </a:solidFill>
          <a:ln/>
        </p:spPr>
      </p:sp>
      <p:sp>
        <p:nvSpPr>
          <p:cNvPr id="40" name="call ruby-on-rails"/>
          <p:cNvSpPr/>
          <p:nvPr/>
        </p:nvSpPr>
        <p:spPr>
          <a:xfrm>
            <a:off x="7251192" y="2350008"/>
            <a:ext cx="228600" cy="228600"/>
          </a:xfrm>
          <a:prstGeom prst="roundRect">
            <a:avLst>
              <a:gd name="adj" fmla="val 16000"/>
            </a:avLst>
          </a:prstGeom>
          <a:solidFill>
            <a:schemeClr val="accent3"/>
          </a:solidFill>
          <a:ln/>
        </p:spPr>
      </p:sp>
      <p:sp>
        <p:nvSpPr>
          <p:cNvPr id="41" name="call bash"/>
          <p:cNvSpPr/>
          <p:nvPr/>
        </p:nvSpPr>
        <p:spPr>
          <a:xfrm>
            <a:off x="7534656" y="2350008"/>
            <a:ext cx="228600" cy="228600"/>
          </a:xfrm>
          <a:prstGeom prst="roundRect">
            <a:avLst>
              <a:gd name="adj" fmla="val 16000"/>
            </a:avLst>
          </a:prstGeom>
          <a:solidFill>
            <a:schemeClr val="accent3"/>
          </a:solidFill>
          <a:ln/>
        </p:spPr>
      </p:sp>
      <p:sp>
        <p:nvSpPr>
          <p:cNvPr id="42" name="call windows"/>
          <p:cNvSpPr/>
          <p:nvPr/>
        </p:nvSpPr>
        <p:spPr>
          <a:xfrm>
            <a:off x="7818120" y="2350008"/>
            <a:ext cx="228600" cy="228600"/>
          </a:xfrm>
          <a:prstGeom prst="roundRect">
            <a:avLst>
              <a:gd name="adj" fmla="val 16000"/>
            </a:avLst>
          </a:prstGeom>
          <a:solidFill>
            <a:schemeClr val="accent3"/>
          </a:solidFill>
          <a:ln/>
        </p:spPr>
      </p:sp>
      <p:sp>
        <p:nvSpPr>
          <p:cNvPr id="43" name="call database"/>
          <p:cNvSpPr/>
          <p:nvPr/>
        </p:nvSpPr>
        <p:spPr>
          <a:xfrm>
            <a:off x="8101584" y="2350008"/>
            <a:ext cx="228600" cy="228600"/>
          </a:xfrm>
          <a:prstGeom prst="roundRect">
            <a:avLst>
              <a:gd name="adj" fmla="val 16000"/>
            </a:avLst>
          </a:prstGeom>
          <a:solidFill>
            <a:schemeClr val="accent3"/>
          </a:solidFill>
          <a:ln/>
        </p:spPr>
      </p:sp>
      <p:sp>
        <p:nvSpPr>
          <p:cNvPr id="44" name="call visual-studio"/>
          <p:cNvSpPr/>
          <p:nvPr/>
        </p:nvSpPr>
        <p:spPr>
          <a:xfrm>
            <a:off x="8385048" y="2350008"/>
            <a:ext cx="228600" cy="228600"/>
          </a:xfrm>
          <a:prstGeom prst="roundRect">
            <a:avLst>
              <a:gd name="adj" fmla="val 16000"/>
            </a:avLst>
          </a:prstGeom>
          <a:solidFill>
            <a:schemeClr val="accent3"/>
          </a:solidFill>
          <a:ln/>
        </p:spPr>
      </p:sp>
      <p:sp>
        <p:nvSpPr>
          <p:cNvPr id="45" name="call performance"/>
          <p:cNvSpPr/>
          <p:nvPr/>
        </p:nvSpPr>
        <p:spPr>
          <a:xfrm>
            <a:off x="8668512" y="2350008"/>
            <a:ext cx="228600" cy="228600"/>
          </a:xfrm>
          <a:prstGeom prst="roundRect">
            <a:avLst>
              <a:gd name="adj" fmla="val 16000"/>
            </a:avLst>
          </a:prstGeom>
          <a:solidFill>
            <a:schemeClr val="accent3"/>
          </a:solidFill>
          <a:ln/>
        </p:spPr>
      </p:sp>
      <p:sp>
        <p:nvSpPr>
          <p:cNvPr id="46" name="call ios"/>
          <p:cNvSpPr/>
          <p:nvPr/>
        </p:nvSpPr>
        <p:spPr>
          <a:xfrm>
            <a:off x="8951976" y="2350008"/>
            <a:ext cx="228600" cy="228600"/>
          </a:xfrm>
          <a:prstGeom prst="roundRect">
            <a:avLst>
              <a:gd name="adj" fmla="val 16000"/>
            </a:avLst>
          </a:prstGeom>
          <a:solidFill>
            <a:schemeClr val="accent3"/>
          </a:solidFill>
          <a:ln/>
        </p:spPr>
      </p:sp>
      <p:sp>
        <p:nvSpPr>
          <p:cNvPr id="47" name="call eclipse"/>
          <p:cNvSpPr/>
          <p:nvPr/>
        </p:nvSpPr>
        <p:spPr>
          <a:xfrm>
            <a:off x="6400800" y="2633472"/>
            <a:ext cx="228600" cy="228600"/>
          </a:xfrm>
          <a:prstGeom prst="roundRect">
            <a:avLst>
              <a:gd name="adj" fmla="val 16000"/>
            </a:avLst>
          </a:prstGeom>
          <a:solidFill>
            <a:schemeClr val="accent3"/>
          </a:solidFill>
          <a:ln/>
        </p:spPr>
      </p:sp>
      <p:sp>
        <p:nvSpPr>
          <p:cNvPr id="48" name="call regex"/>
          <p:cNvSpPr/>
          <p:nvPr/>
        </p:nvSpPr>
        <p:spPr>
          <a:xfrm>
            <a:off x="6684264" y="2633472"/>
            <a:ext cx="228600" cy="228600"/>
          </a:xfrm>
          <a:prstGeom prst="roundRect">
            <a:avLst>
              <a:gd name="adj" fmla="val 16000"/>
            </a:avLst>
          </a:prstGeom>
          <a:solidFill>
            <a:schemeClr val="accent3"/>
          </a:solidFill>
          <a:ln/>
        </p:spPr>
      </p:sp>
      <p:sp>
        <p:nvSpPr>
          <p:cNvPr id="49" name="call wpf"/>
          <p:cNvSpPr/>
          <p:nvPr/>
        </p:nvSpPr>
        <p:spPr>
          <a:xfrm>
            <a:off x="6967728" y="2633472"/>
            <a:ext cx="228600" cy="228600"/>
          </a:xfrm>
          <a:prstGeom prst="roundRect">
            <a:avLst>
              <a:gd name="adj" fmla="val 16000"/>
            </a:avLst>
          </a:prstGeom>
          <a:solidFill>
            <a:schemeClr val="accent3"/>
          </a:solidFill>
          <a:ln/>
        </p:spPr>
      </p:sp>
      <p:sp>
        <p:nvSpPr>
          <p:cNvPr id="50" name="call asp.net-mvc"/>
          <p:cNvSpPr/>
          <p:nvPr/>
        </p:nvSpPr>
        <p:spPr>
          <a:xfrm>
            <a:off x="7251192" y="2633472"/>
            <a:ext cx="228600" cy="228600"/>
          </a:xfrm>
          <a:prstGeom prst="roundRect">
            <a:avLst>
              <a:gd name="adj" fmla="val 16000"/>
            </a:avLst>
          </a:prstGeom>
          <a:solidFill>
            <a:schemeClr val="accent3"/>
          </a:solidFill>
          <a:ln/>
        </p:spPr>
      </p:sp>
      <p:sp>
        <p:nvSpPr>
          <p:cNvPr id="51" name="call django"/>
          <p:cNvSpPr/>
          <p:nvPr/>
        </p:nvSpPr>
        <p:spPr>
          <a:xfrm>
            <a:off x="7534656" y="2633472"/>
            <a:ext cx="228600" cy="228600"/>
          </a:xfrm>
          <a:prstGeom prst="roundRect">
            <a:avLst>
              <a:gd name="adj" fmla="val 16000"/>
            </a:avLst>
          </a:prstGeom>
          <a:solidFill>
            <a:schemeClr val="accent3"/>
          </a:solidFill>
          <a:ln/>
        </p:spPr>
      </p:sp>
      <p:sp>
        <p:nvSpPr>
          <p:cNvPr id="52" name="call algorithm"/>
          <p:cNvSpPr/>
          <p:nvPr/>
        </p:nvSpPr>
        <p:spPr>
          <a:xfrm>
            <a:off x="7818120" y="2633472"/>
            <a:ext cx="228600" cy="228600"/>
          </a:xfrm>
          <a:prstGeom prst="roundRect">
            <a:avLst>
              <a:gd name="adj" fmla="val 16000"/>
            </a:avLst>
          </a:prstGeom>
          <a:solidFill>
            <a:schemeClr val="accent3"/>
          </a:solidFill>
          <a:ln/>
        </p:spPr>
      </p:sp>
      <p:sp>
        <p:nvSpPr>
          <p:cNvPr id="53" name="call shell"/>
          <p:cNvSpPr/>
          <p:nvPr/>
        </p:nvSpPr>
        <p:spPr>
          <a:xfrm>
            <a:off x="8101584" y="2633472"/>
            <a:ext cx="228600" cy="228600"/>
          </a:xfrm>
          <a:prstGeom prst="roundRect">
            <a:avLst>
              <a:gd name="adj" fmla="val 16000"/>
            </a:avLst>
          </a:prstGeom>
          <a:solidFill>
            <a:schemeClr val="accent3"/>
          </a:solidFill>
          <a:ln/>
        </p:spPr>
      </p:sp>
      <p:sp>
        <p:nvSpPr>
          <p:cNvPr id="54" name="call vim"/>
          <p:cNvSpPr/>
          <p:nvPr/>
        </p:nvSpPr>
        <p:spPr>
          <a:xfrm>
            <a:off x="8385048" y="2633472"/>
            <a:ext cx="228600" cy="228600"/>
          </a:xfrm>
          <a:prstGeom prst="roundRect">
            <a:avLst>
              <a:gd name="adj" fmla="val 16000"/>
            </a:avLst>
          </a:prstGeom>
          <a:solidFill>
            <a:schemeClr val="accent3"/>
          </a:solidFill>
          <a:ln/>
        </p:spPr>
      </p:sp>
      <p:sp>
        <p:nvSpPr>
          <p:cNvPr id="55" name="call multithreading"/>
          <p:cNvSpPr/>
          <p:nvPr/>
        </p:nvSpPr>
        <p:spPr>
          <a:xfrm>
            <a:off x="8668512" y="2633472"/>
            <a:ext cx="228600" cy="228600"/>
          </a:xfrm>
          <a:prstGeom prst="roundRect">
            <a:avLst>
              <a:gd name="adj" fmla="val 16000"/>
            </a:avLst>
          </a:prstGeom>
          <a:solidFill>
            <a:schemeClr val="accent3"/>
          </a:solidFill>
          <a:ln/>
        </p:spPr>
      </p:sp>
      <p:sp>
        <p:nvSpPr>
          <p:cNvPr id="56" name="call tsql"/>
          <p:cNvSpPr/>
          <p:nvPr/>
        </p:nvSpPr>
        <p:spPr>
          <a:xfrm>
            <a:off x="8951976" y="2633472"/>
            <a:ext cx="228600" cy="228600"/>
          </a:xfrm>
          <a:prstGeom prst="roundRect">
            <a:avLst>
              <a:gd name="adj" fmla="val 16000"/>
            </a:avLst>
          </a:prstGeom>
          <a:solidFill>
            <a:schemeClr val="accent3"/>
          </a:solidFill>
          <a:ln/>
        </p:spPr>
      </p:sp>
      <p:sp>
        <p:nvSpPr>
          <p:cNvPr id="57" name="call cocoa-touch"/>
          <p:cNvSpPr/>
          <p:nvPr/>
        </p:nvSpPr>
        <p:spPr>
          <a:xfrm>
            <a:off x="6400800" y="2916936"/>
            <a:ext cx="228600" cy="228600"/>
          </a:xfrm>
          <a:prstGeom prst="roundRect">
            <a:avLst>
              <a:gd name="adj" fmla="val 16000"/>
            </a:avLst>
          </a:prstGeom>
          <a:solidFill>
            <a:schemeClr val="accent3"/>
          </a:solidFill>
          <a:ln/>
        </p:spPr>
      </p:sp>
      <p:sp>
        <p:nvSpPr>
          <p:cNvPr id="58" name="call xml"/>
          <p:cNvSpPr/>
          <p:nvPr/>
        </p:nvSpPr>
        <p:spPr>
          <a:xfrm>
            <a:off x="6684264" y="2916936"/>
            <a:ext cx="228600" cy="228600"/>
          </a:xfrm>
          <a:prstGeom prst="roundRect">
            <a:avLst>
              <a:gd name="adj" fmla="val 16000"/>
            </a:avLst>
          </a:prstGeom>
          <a:solidFill>
            <a:schemeClr val="accent3"/>
          </a:solidFill>
          <a:ln/>
        </p:spPr>
      </p:sp>
      <p:sp>
        <p:nvSpPr>
          <p:cNvPr id="59" name="call datetime"/>
          <p:cNvSpPr/>
          <p:nvPr/>
        </p:nvSpPr>
        <p:spPr>
          <a:xfrm>
            <a:off x="6967728" y="2916936"/>
            <a:ext cx="228600" cy="228600"/>
          </a:xfrm>
          <a:prstGeom prst="roundRect">
            <a:avLst>
              <a:gd name="adj" fmla="val 16000"/>
            </a:avLst>
          </a:prstGeom>
          <a:solidFill>
            <a:schemeClr val="accent2"/>
          </a:solidFill>
          <a:ln/>
        </p:spPr>
      </p:sp>
      <p:sp>
        <p:nvSpPr>
          <p:cNvPr id="60" name="call svn"/>
          <p:cNvSpPr/>
          <p:nvPr/>
        </p:nvSpPr>
        <p:spPr>
          <a:xfrm>
            <a:off x="7251192" y="2916936"/>
            <a:ext cx="228600" cy="228600"/>
          </a:xfrm>
          <a:prstGeom prst="roundRect">
            <a:avLst>
              <a:gd name="adj" fmla="val 16000"/>
            </a:avLst>
          </a:prstGeom>
          <a:solidFill>
            <a:schemeClr val="accent3"/>
          </a:solidFill>
          <a:ln/>
        </p:spPr>
      </p:sp>
      <p:sp>
        <p:nvSpPr>
          <p:cNvPr id="61" name="call oop"/>
          <p:cNvSpPr/>
          <p:nvPr/>
        </p:nvSpPr>
        <p:spPr>
          <a:xfrm>
            <a:off x="7534656" y="2916936"/>
            <a:ext cx="228600" cy="228600"/>
          </a:xfrm>
          <a:prstGeom prst="roundRect">
            <a:avLst>
              <a:gd name="adj" fmla="val 16000"/>
            </a:avLst>
          </a:prstGeom>
          <a:solidFill>
            <a:schemeClr val="accent3"/>
          </a:solidFill>
          <a:ln/>
        </p:spPr>
      </p:sp>
      <p:sp>
        <p:nvSpPr>
          <p:cNvPr id="62" name="call json"/>
          <p:cNvSpPr/>
          <p:nvPr/>
        </p:nvSpPr>
        <p:spPr>
          <a:xfrm>
            <a:off x="7818120" y="2916936"/>
            <a:ext cx="228600" cy="228600"/>
          </a:xfrm>
          <a:prstGeom prst="roundRect">
            <a:avLst>
              <a:gd name="adj" fmla="val 16000"/>
            </a:avLst>
          </a:prstGeom>
          <a:solidFill>
            <a:schemeClr val="accent3"/>
          </a:solidFill>
          <a:ln/>
        </p:spPr>
      </p:sp>
      <p:sp>
        <p:nvSpPr>
          <p:cNvPr id="63" name="call list"/>
          <p:cNvSpPr/>
          <p:nvPr/>
        </p:nvSpPr>
        <p:spPr>
          <a:xfrm>
            <a:off x="8101584" y="2916936"/>
            <a:ext cx="228600" cy="228600"/>
          </a:xfrm>
          <a:prstGeom prst="roundRect">
            <a:avLst>
              <a:gd name="adj" fmla="val 16000"/>
            </a:avLst>
          </a:prstGeom>
          <a:solidFill>
            <a:schemeClr val="accent3"/>
          </a:solidFill>
          <a:ln/>
        </p:spPr>
      </p:sp>
      <p:sp>
        <p:nvSpPr>
          <p:cNvPr id="64" name="call unix"/>
          <p:cNvSpPr/>
          <p:nvPr/>
        </p:nvSpPr>
        <p:spPr>
          <a:xfrm>
            <a:off x="8385048" y="2916936"/>
            <a:ext cx="228600" cy="228600"/>
          </a:xfrm>
          <a:prstGeom prst="roundRect">
            <a:avLst>
              <a:gd name="adj" fmla="val 16000"/>
            </a:avLst>
          </a:prstGeom>
          <a:solidFill>
            <a:schemeClr val="accent3"/>
          </a:solidFill>
          <a:ln/>
        </p:spPr>
      </p:sp>
      <p:sp>
        <p:nvSpPr>
          <p:cNvPr id="65" name="call file"/>
          <p:cNvSpPr/>
          <p:nvPr/>
        </p:nvSpPr>
        <p:spPr>
          <a:xfrm>
            <a:off x="8668512" y="2916936"/>
            <a:ext cx="228600" cy="228600"/>
          </a:xfrm>
          <a:prstGeom prst="roundRect">
            <a:avLst>
              <a:gd name="adj" fmla="val 16000"/>
            </a:avLst>
          </a:prstGeom>
          <a:solidFill>
            <a:schemeClr val="accent3"/>
          </a:solidFill>
          <a:ln/>
        </p:spPr>
      </p:sp>
      <p:sp>
        <p:nvSpPr>
          <p:cNvPr id="66" name="call linq"/>
          <p:cNvSpPr/>
          <p:nvPr/>
        </p:nvSpPr>
        <p:spPr>
          <a:xfrm>
            <a:off x="8951976" y="2916936"/>
            <a:ext cx="228600" cy="228600"/>
          </a:xfrm>
          <a:prstGeom prst="roundRect">
            <a:avLst>
              <a:gd name="adj" fmla="val 16000"/>
            </a:avLst>
          </a:prstGeom>
          <a:solidFill>
            <a:schemeClr val="accent3"/>
          </a:solidFill>
          <a:ln/>
        </p:spPr>
      </p:sp>
      <p:sp>
        <p:nvSpPr>
          <p:cNvPr id="67" name="call unit-testing"/>
          <p:cNvSpPr/>
          <p:nvPr/>
        </p:nvSpPr>
        <p:spPr>
          <a:xfrm>
            <a:off x="6400800" y="3200400"/>
            <a:ext cx="228600" cy="228600"/>
          </a:xfrm>
          <a:prstGeom prst="roundRect">
            <a:avLst>
              <a:gd name="adj" fmla="val 16000"/>
            </a:avLst>
          </a:prstGeom>
          <a:solidFill>
            <a:schemeClr val="accent3"/>
          </a:solidFill>
          <a:ln/>
        </p:spPr>
      </p:sp>
      <p:sp>
        <p:nvSpPr>
          <p:cNvPr id="68" name="call language-agnostic"/>
          <p:cNvSpPr/>
          <p:nvPr/>
        </p:nvSpPr>
        <p:spPr>
          <a:xfrm>
            <a:off x="6684264" y="3200400"/>
            <a:ext cx="228600" cy="228600"/>
          </a:xfrm>
          <a:prstGeom prst="roundRect">
            <a:avLst>
              <a:gd name="adj" fmla="val 16000"/>
            </a:avLst>
          </a:prstGeom>
          <a:solidFill>
            <a:schemeClr val="accent3"/>
          </a:solidFill>
          <a:ln/>
        </p:spPr>
      </p:sp>
      <p:sp>
        <p:nvSpPr>
          <p:cNvPr id="69" name="call version-control"/>
          <p:cNvSpPr/>
          <p:nvPr/>
        </p:nvSpPr>
        <p:spPr>
          <a:xfrm>
            <a:off x="6967728" y="3200400"/>
            <a:ext cx="228600" cy="228600"/>
          </a:xfrm>
          <a:prstGeom prst="roundRect">
            <a:avLst>
              <a:gd name="adj" fmla="val 16000"/>
            </a:avLst>
          </a:prstGeom>
          <a:solidFill>
            <a:schemeClr val="accent3"/>
          </a:solidFill>
          <a:ln/>
        </p:spPr>
      </p:sp>
      <p:sp>
        <p:nvSpPr>
          <p:cNvPr id="70" name="call http"/>
          <p:cNvSpPr/>
          <p:nvPr/>
        </p:nvSpPr>
        <p:spPr>
          <a:xfrm>
            <a:off x="7251192" y="3200400"/>
            <a:ext cx="228600" cy="228600"/>
          </a:xfrm>
          <a:prstGeom prst="roundRect">
            <a:avLst>
              <a:gd name="adj" fmla="val 16000"/>
            </a:avLst>
          </a:prstGeom>
          <a:solidFill>
            <a:schemeClr val="accent3"/>
          </a:solidFill>
          <a:ln/>
        </p:spPr>
      </p:sp>
      <p:sp>
        <p:nvSpPr>
          <p:cNvPr id="71" name="call debugging"/>
          <p:cNvSpPr/>
          <p:nvPr/>
        </p:nvSpPr>
        <p:spPr>
          <a:xfrm>
            <a:off x="7534656" y="3200400"/>
            <a:ext cx="228600" cy="228600"/>
          </a:xfrm>
          <a:prstGeom prst="roundRect">
            <a:avLst>
              <a:gd name="adj" fmla="val 16000"/>
            </a:avLst>
          </a:prstGeom>
          <a:solidFill>
            <a:schemeClr val="accent3"/>
          </a:solidFill>
          <a:ln/>
        </p:spPr>
      </p:sp>
      <p:sp>
        <p:nvSpPr>
          <p:cNvPr id="72" name="call date"/>
          <p:cNvSpPr/>
          <p:nvPr/>
        </p:nvSpPr>
        <p:spPr>
          <a:xfrm>
            <a:off x="7818120" y="3200400"/>
            <a:ext cx="228600" cy="228600"/>
          </a:xfrm>
          <a:prstGeom prst="roundRect">
            <a:avLst>
              <a:gd name="adj" fmla="val 16000"/>
            </a:avLst>
          </a:prstGeom>
          <a:solidFill>
            <a:schemeClr val="accent3"/>
          </a:solidFill>
          <a:ln/>
        </p:spPr>
      </p:sp>
      <p:sp>
        <p:nvSpPr>
          <p:cNvPr id="73" name="call command-line"/>
          <p:cNvSpPr/>
          <p:nvPr/>
        </p:nvSpPr>
        <p:spPr>
          <a:xfrm>
            <a:off x="8101584" y="3200400"/>
            <a:ext cx="228600" cy="228600"/>
          </a:xfrm>
          <a:prstGeom prst="roundRect">
            <a:avLst>
              <a:gd name="adj" fmla="val 16000"/>
            </a:avLst>
          </a:prstGeom>
          <a:solidFill>
            <a:schemeClr val="accent3"/>
          </a:solidFill>
          <a:ln/>
        </p:spPr>
      </p:sp>
      <p:sp>
        <p:nvSpPr>
          <p:cNvPr id="74" name="call generics"/>
          <p:cNvSpPr/>
          <p:nvPr/>
        </p:nvSpPr>
        <p:spPr>
          <a:xfrm>
            <a:off x="8385048" y="3200400"/>
            <a:ext cx="228600" cy="228600"/>
          </a:xfrm>
          <a:prstGeom prst="roundRect">
            <a:avLst>
              <a:gd name="adj" fmla="val 16000"/>
            </a:avLst>
          </a:prstGeom>
          <a:solidFill>
            <a:schemeClr val="accent3"/>
          </a:solidFill>
          <a:ln/>
        </p:spPr>
      </p:sp>
      <p:sp>
        <p:nvSpPr>
          <p:cNvPr id="75" name="call r"/>
          <p:cNvSpPr/>
          <p:nvPr/>
        </p:nvSpPr>
        <p:spPr>
          <a:xfrm>
            <a:off x="8668512" y="3200400"/>
            <a:ext cx="228600" cy="228600"/>
          </a:xfrm>
          <a:prstGeom prst="roundRect">
            <a:avLst>
              <a:gd name="adj" fmla="val 16000"/>
            </a:avLst>
          </a:prstGeom>
          <a:solidFill>
            <a:schemeClr val="accent3"/>
          </a:solidFill>
          <a:ln/>
        </p:spPr>
      </p:sp>
      <p:sp>
        <p:nvSpPr>
          <p:cNvPr id="76" name="call syntax"/>
          <p:cNvSpPr/>
          <p:nvPr/>
        </p:nvSpPr>
        <p:spPr>
          <a:xfrm>
            <a:off x="8951976" y="3200400"/>
            <a:ext cx="228600" cy="228600"/>
          </a:xfrm>
          <a:prstGeom prst="roundRect">
            <a:avLst>
              <a:gd name="adj" fmla="val 16000"/>
            </a:avLst>
          </a:prstGeom>
          <a:solidFill>
            <a:schemeClr val="accent3"/>
          </a:solidFill>
          <a:ln/>
        </p:spPr>
      </p:sp>
      <p:sp>
        <p:nvSpPr>
          <p:cNvPr id="77" name="call exception"/>
          <p:cNvSpPr/>
          <p:nvPr/>
        </p:nvSpPr>
        <p:spPr>
          <a:xfrm>
            <a:off x="6400800" y="3483864"/>
            <a:ext cx="228600" cy="228600"/>
          </a:xfrm>
          <a:prstGeom prst="roundRect">
            <a:avLst>
              <a:gd name="adj" fmla="val 16000"/>
            </a:avLst>
          </a:prstGeom>
          <a:solidFill>
            <a:schemeClr val="accent3"/>
          </a:solidFill>
          <a:ln/>
        </p:spPr>
      </p:sp>
      <p:sp>
        <p:nvSpPr>
          <p:cNvPr id="78" name="call macos"/>
          <p:cNvSpPr/>
          <p:nvPr/>
        </p:nvSpPr>
        <p:spPr>
          <a:xfrm>
            <a:off x="6684264" y="3483864"/>
            <a:ext cx="228600" cy="228600"/>
          </a:xfrm>
          <a:prstGeom prst="roundRect">
            <a:avLst>
              <a:gd name="adj" fmla="val 16000"/>
            </a:avLst>
          </a:prstGeom>
          <a:solidFill>
            <a:schemeClr val="accent3"/>
          </a:solidFill>
          <a:ln/>
        </p:spPr>
      </p:sp>
      <p:sp>
        <p:nvSpPr>
          <p:cNvPr id="79" name="call reflection"/>
          <p:cNvSpPr/>
          <p:nvPr/>
        </p:nvSpPr>
        <p:spPr>
          <a:xfrm>
            <a:off x="6967728" y="3483864"/>
            <a:ext cx="228600" cy="228600"/>
          </a:xfrm>
          <a:prstGeom prst="roundRect">
            <a:avLst>
              <a:gd name="adj" fmla="val 16000"/>
            </a:avLst>
          </a:prstGeom>
          <a:solidFill>
            <a:schemeClr val="accent3"/>
          </a:solidFill>
          <a:ln/>
        </p:spPr>
      </p:sp>
      <p:sp>
        <p:nvSpPr>
          <p:cNvPr id="80" name="call winforms"/>
          <p:cNvSpPr/>
          <p:nvPr/>
        </p:nvSpPr>
        <p:spPr>
          <a:xfrm>
            <a:off x="7251192" y="3483864"/>
            <a:ext cx="228600" cy="228600"/>
          </a:xfrm>
          <a:prstGeom prst="roundRect">
            <a:avLst>
              <a:gd name="adj" fmla="val 16000"/>
            </a:avLst>
          </a:prstGeom>
          <a:solidFill>
            <a:schemeClr val="accent3"/>
          </a:solidFill>
          <a:ln/>
        </p:spPr>
      </p:sp>
      <p:sp>
        <p:nvSpPr>
          <p:cNvPr id="81" name="call postgresql"/>
          <p:cNvSpPr/>
          <p:nvPr/>
        </p:nvSpPr>
        <p:spPr>
          <a:xfrm>
            <a:off x="7534656" y="3483864"/>
            <a:ext cx="228600" cy="228600"/>
          </a:xfrm>
          <a:prstGeom prst="roundRect">
            <a:avLst>
              <a:gd name="adj" fmla="val 16000"/>
            </a:avLst>
          </a:prstGeom>
          <a:solidFill>
            <a:schemeClr val="accent3"/>
          </a:solidFill>
          <a:ln/>
        </p:spPr>
      </p:sp>
      <p:sp>
        <p:nvSpPr>
          <p:cNvPr id="82" name="call ajax"/>
          <p:cNvSpPr/>
          <p:nvPr/>
        </p:nvSpPr>
        <p:spPr>
          <a:xfrm>
            <a:off x="7818120" y="3483864"/>
            <a:ext cx="228600" cy="228600"/>
          </a:xfrm>
          <a:prstGeom prst="roundRect">
            <a:avLst>
              <a:gd name="adj" fmla="val 16000"/>
            </a:avLst>
          </a:prstGeom>
          <a:solidFill>
            <a:schemeClr val="accent3"/>
          </a:solidFill>
          <a:ln/>
        </p:spPr>
      </p:sp>
      <p:sp>
        <p:nvSpPr>
          <p:cNvPr id="83" name="call math"/>
          <p:cNvSpPr/>
          <p:nvPr/>
        </p:nvSpPr>
        <p:spPr>
          <a:xfrm>
            <a:off x="8101584" y="3483864"/>
            <a:ext cx="228600" cy="228600"/>
          </a:xfrm>
          <a:prstGeom prst="roundRect">
            <a:avLst>
              <a:gd name="adj" fmla="val 16000"/>
            </a:avLst>
          </a:prstGeom>
          <a:solidFill>
            <a:schemeClr val="accent3"/>
          </a:solidFill>
          <a:ln/>
        </p:spPr>
      </p:sp>
      <p:sp>
        <p:nvSpPr>
          <p:cNvPr id="84" name="call class"/>
          <p:cNvSpPr/>
          <p:nvPr/>
        </p:nvSpPr>
        <p:spPr>
          <a:xfrm>
            <a:off x="8385048" y="3483864"/>
            <a:ext cx="228600" cy="228600"/>
          </a:xfrm>
          <a:prstGeom prst="roundRect">
            <a:avLst>
              <a:gd name="adj" fmla="val 16000"/>
            </a:avLst>
          </a:prstGeom>
          <a:solidFill>
            <a:schemeClr val="accent3"/>
          </a:solidFill>
          <a:ln/>
        </p:spPr>
      </p:sp>
      <p:sp>
        <p:nvSpPr>
          <p:cNvPr id="85" name="call dictionary"/>
          <p:cNvSpPr/>
          <p:nvPr/>
        </p:nvSpPr>
        <p:spPr>
          <a:xfrm>
            <a:off x="8668512" y="3483864"/>
            <a:ext cx="228600" cy="228600"/>
          </a:xfrm>
          <a:prstGeom prst="roundRect">
            <a:avLst>
              <a:gd name="adj" fmla="val 16000"/>
            </a:avLst>
          </a:prstGeom>
          <a:solidFill>
            <a:schemeClr val="accent3"/>
          </a:solidFill>
          <a:ln/>
        </p:spPr>
      </p:sp>
      <p:sp>
        <p:nvSpPr>
          <p:cNvPr id="86" name="call function"/>
          <p:cNvSpPr/>
          <p:nvPr/>
        </p:nvSpPr>
        <p:spPr>
          <a:xfrm>
            <a:off x="8951976" y="3483864"/>
            <a:ext cx="228600" cy="228600"/>
          </a:xfrm>
          <a:prstGeom prst="roundRect">
            <a:avLst>
              <a:gd name="adj" fmla="val 16000"/>
            </a:avLst>
          </a:prstGeom>
          <a:solidFill>
            <a:schemeClr val="accent3"/>
          </a:solidFill>
          <a:ln/>
        </p:spPr>
      </p:sp>
      <p:sp>
        <p:nvSpPr>
          <p:cNvPr id="87" name="call sorting"/>
          <p:cNvSpPr/>
          <p:nvPr/>
        </p:nvSpPr>
        <p:spPr>
          <a:xfrm>
            <a:off x="6400800" y="3767328"/>
            <a:ext cx="228600" cy="228600"/>
          </a:xfrm>
          <a:prstGeom prst="roundRect">
            <a:avLst>
              <a:gd name="adj" fmla="val 16000"/>
            </a:avLst>
          </a:prstGeom>
          <a:solidFill>
            <a:schemeClr val="accent3"/>
          </a:solidFill>
          <a:ln/>
        </p:spPr>
      </p:sp>
      <p:sp>
        <p:nvSpPr>
          <p:cNvPr id="88" name="call security"/>
          <p:cNvSpPr/>
          <p:nvPr/>
        </p:nvSpPr>
        <p:spPr>
          <a:xfrm>
            <a:off x="6684264" y="3767328"/>
            <a:ext cx="228600" cy="228600"/>
          </a:xfrm>
          <a:prstGeom prst="roundRect">
            <a:avLst>
              <a:gd name="adj" fmla="val 16000"/>
            </a:avLst>
          </a:prstGeom>
          <a:solidFill>
            <a:schemeClr val="accent3"/>
          </a:solidFill>
          <a:ln/>
        </p:spPr>
      </p:sp>
      <p:sp>
        <p:nvSpPr>
          <p:cNvPr id="89" name="call design-patterns"/>
          <p:cNvSpPr/>
          <p:nvPr/>
        </p:nvSpPr>
        <p:spPr>
          <a:xfrm>
            <a:off x="6967728" y="3767328"/>
            <a:ext cx="228600" cy="228600"/>
          </a:xfrm>
          <a:prstGeom prst="roundRect">
            <a:avLst>
              <a:gd name="adj" fmla="val 16000"/>
            </a:avLst>
          </a:prstGeom>
          <a:solidFill>
            <a:schemeClr val="accent3"/>
          </a:solidFill>
          <a:ln/>
        </p:spPr>
      </p:sp>
      <p:sp>
        <p:nvSpPr>
          <p:cNvPr id="90" name="call cocoa"/>
          <p:cNvSpPr/>
          <p:nvPr/>
        </p:nvSpPr>
        <p:spPr>
          <a:xfrm>
            <a:off x="7251192" y="3767328"/>
            <a:ext cx="228600" cy="228600"/>
          </a:xfrm>
          <a:prstGeom prst="roundRect">
            <a:avLst>
              <a:gd name="adj" fmla="val 16000"/>
            </a:avLst>
          </a:prstGeom>
          <a:solidFill>
            <a:schemeClr val="accent3"/>
          </a:solidFill>
          <a:ln/>
        </p:spPr>
      </p:sp>
      <p:sp>
        <p:nvSpPr>
          <p:cNvPr id="91" name="call collections"/>
          <p:cNvSpPr/>
          <p:nvPr/>
        </p:nvSpPr>
        <p:spPr>
          <a:xfrm>
            <a:off x="7534656" y="3767328"/>
            <a:ext cx="228600" cy="228600"/>
          </a:xfrm>
          <a:prstGeom prst="roundRect">
            <a:avLst>
              <a:gd name="adj" fmla="val 16000"/>
            </a:avLst>
          </a:prstGeom>
          <a:solidFill>
            <a:schemeClr val="accent3"/>
          </a:solidFill>
          <a:ln/>
        </p:spPr>
      </p:sp>
      <p:sp>
        <p:nvSpPr>
          <p:cNvPr id="92" name="call url"/>
          <p:cNvSpPr/>
          <p:nvPr/>
        </p:nvSpPr>
        <p:spPr>
          <a:xfrm>
            <a:off x="7818120" y="3767328"/>
            <a:ext cx="228600" cy="228600"/>
          </a:xfrm>
          <a:prstGeom prst="roundRect">
            <a:avLst>
              <a:gd name="adj" fmla="val 16000"/>
            </a:avLst>
          </a:prstGeom>
          <a:solidFill>
            <a:schemeClr val="accent3"/>
          </a:solidFill>
          <a:ln/>
        </p:spPr>
      </p:sp>
      <p:sp>
        <p:nvSpPr>
          <p:cNvPr id="93" name="call image"/>
          <p:cNvSpPr/>
          <p:nvPr/>
        </p:nvSpPr>
        <p:spPr>
          <a:xfrm>
            <a:off x="8101584" y="3767328"/>
            <a:ext cx="228600" cy="228600"/>
          </a:xfrm>
          <a:prstGeom prst="roundRect">
            <a:avLst>
              <a:gd name="adj" fmla="val 16000"/>
            </a:avLst>
          </a:prstGeom>
          <a:solidFill>
            <a:schemeClr val="accent3"/>
          </a:solidFill>
          <a:ln/>
        </p:spPr>
      </p:sp>
      <p:sp>
        <p:nvSpPr>
          <p:cNvPr id="94" name="call enums"/>
          <p:cNvSpPr/>
          <p:nvPr/>
        </p:nvSpPr>
        <p:spPr>
          <a:xfrm>
            <a:off x="8385048" y="3767328"/>
            <a:ext cx="228600" cy="228600"/>
          </a:xfrm>
          <a:prstGeom prst="roundRect">
            <a:avLst>
              <a:gd name="adj" fmla="val 16000"/>
            </a:avLst>
          </a:prstGeom>
          <a:solidFill>
            <a:schemeClr val="accent3"/>
          </a:solidFill>
          <a:ln/>
        </p:spPr>
      </p:sp>
      <p:sp>
        <p:nvSpPr>
          <p:cNvPr id="95" name="call scala"/>
          <p:cNvSpPr/>
          <p:nvPr/>
        </p:nvSpPr>
        <p:spPr>
          <a:xfrm>
            <a:off x="8668512" y="3767328"/>
            <a:ext cx="228600" cy="228600"/>
          </a:xfrm>
          <a:prstGeom prst="roundRect">
            <a:avLst>
              <a:gd name="adj" fmla="val 16000"/>
            </a:avLst>
          </a:prstGeom>
          <a:solidFill>
            <a:schemeClr val="accent3"/>
          </a:solidFill>
          <a:ln/>
        </p:spPr>
      </p:sp>
      <p:sp>
        <p:nvSpPr>
          <p:cNvPr id="96" name="call oracle"/>
          <p:cNvSpPr/>
          <p:nvPr/>
        </p:nvSpPr>
        <p:spPr>
          <a:xfrm>
            <a:off x="8951976" y="3767328"/>
            <a:ext cx="228600" cy="228600"/>
          </a:xfrm>
          <a:prstGeom prst="roundRect">
            <a:avLst>
              <a:gd name="adj" fmla="val 16000"/>
            </a:avLst>
          </a:prstGeom>
          <a:solidFill>
            <a:schemeClr val="accent3"/>
          </a:solidFill>
          <a:ln/>
        </p:spPr>
      </p:sp>
      <p:sp>
        <p:nvSpPr>
          <p:cNvPr id="97" name="call xcode"/>
          <p:cNvSpPr/>
          <p:nvPr/>
        </p:nvSpPr>
        <p:spPr>
          <a:xfrm>
            <a:off x="6400800" y="4050792"/>
            <a:ext cx="228600" cy="228600"/>
          </a:xfrm>
          <a:prstGeom prst="roundRect">
            <a:avLst>
              <a:gd name="adj" fmla="val 16000"/>
            </a:avLst>
          </a:prstGeom>
          <a:solidFill>
            <a:schemeClr val="accent3"/>
          </a:solidFill>
          <a:ln/>
        </p:spPr>
      </p:sp>
      <p:sp>
        <p:nvSpPr>
          <p:cNvPr id="98" name="call html5"/>
          <p:cNvSpPr/>
          <p:nvPr/>
        </p:nvSpPr>
        <p:spPr>
          <a:xfrm>
            <a:off x="6684264" y="4050792"/>
            <a:ext cx="228600" cy="228600"/>
          </a:xfrm>
          <a:prstGeom prst="roundRect">
            <a:avLst>
              <a:gd name="adj" fmla="val 16000"/>
            </a:avLst>
          </a:prstGeom>
          <a:solidFill>
            <a:schemeClr val="accent3"/>
          </a:solidFill>
          <a:ln/>
        </p:spPr>
      </p:sp>
      <p:sp>
        <p:nvSpPr>
          <p:cNvPr id="99" name="call coding-style"/>
          <p:cNvSpPr/>
          <p:nvPr/>
        </p:nvSpPr>
        <p:spPr>
          <a:xfrm>
            <a:off x="6967728" y="4050792"/>
            <a:ext cx="228600" cy="228600"/>
          </a:xfrm>
          <a:prstGeom prst="roundRect">
            <a:avLst>
              <a:gd name="adj" fmla="val 16000"/>
            </a:avLst>
          </a:prstGeom>
          <a:solidFill>
            <a:schemeClr val="accent3"/>
          </a:solidFill>
          <a:ln/>
        </p:spPr>
      </p:sp>
      <p:sp>
        <p:nvSpPr>
          <p:cNvPr id="100" name="call sql-server-2005"/>
          <p:cNvSpPr/>
          <p:nvPr/>
        </p:nvSpPr>
        <p:spPr>
          <a:xfrm>
            <a:off x="7251192" y="4050792"/>
            <a:ext cx="228600" cy="228600"/>
          </a:xfrm>
          <a:prstGeom prst="roundRect">
            <a:avLst>
              <a:gd name="adj" fmla="val 16000"/>
            </a:avLst>
          </a:prstGeom>
          <a:solidFill>
            <a:schemeClr val="accent3"/>
          </a:solidFill>
          <a:ln/>
        </p:spPr>
      </p:sp>
      <p:sp>
        <p:nvSpPr>
          <p:cNvPr id="101" name="call visual-studio-2008"/>
          <p:cNvSpPr/>
          <p:nvPr/>
        </p:nvSpPr>
        <p:spPr>
          <a:xfrm>
            <a:off x="7534656" y="4050792"/>
            <a:ext cx="228600" cy="228600"/>
          </a:xfrm>
          <a:prstGeom prst="roundRect">
            <a:avLst>
              <a:gd name="adj" fmla="val 16000"/>
            </a:avLst>
          </a:prstGeom>
          <a:solidFill>
            <a:schemeClr val="accent3"/>
          </a:solidFill>
          <a:ln/>
        </p:spPr>
      </p:sp>
      <p:sp>
        <p:nvSpPr>
          <p:cNvPr id="102" name="call types"/>
          <p:cNvSpPr/>
          <p:nvPr/>
        </p:nvSpPr>
        <p:spPr>
          <a:xfrm>
            <a:off x="7818120" y="4050792"/>
            <a:ext cx="228600" cy="228600"/>
          </a:xfrm>
          <a:prstGeom prst="roundRect">
            <a:avLst>
              <a:gd name="adj" fmla="val 16000"/>
            </a:avLst>
          </a:prstGeom>
          <a:solidFill>
            <a:schemeClr val="accent3"/>
          </a:solidFill>
          <a:ln/>
        </p:spPr>
      </p:sp>
      <p:sp>
        <p:nvSpPr>
          <p:cNvPr id="103" name="call maven-2"/>
          <p:cNvSpPr/>
          <p:nvPr/>
        </p:nvSpPr>
        <p:spPr>
          <a:xfrm>
            <a:off x="8101584" y="4050792"/>
            <a:ext cx="228600" cy="228600"/>
          </a:xfrm>
          <a:prstGeom prst="roundRect">
            <a:avLst>
              <a:gd name="adj" fmla="val 16000"/>
            </a:avLst>
          </a:prstGeom>
          <a:solidFill>
            <a:schemeClr val="accent3"/>
          </a:solidFill>
          <a:ln/>
        </p:spPr>
      </p:sp>
      <p:sp>
        <p:nvSpPr>
          <p:cNvPr id="104" name="call logging"/>
          <p:cNvSpPr/>
          <p:nvPr/>
        </p:nvSpPr>
        <p:spPr>
          <a:xfrm>
            <a:off x="8385048" y="4050792"/>
            <a:ext cx="228600" cy="228600"/>
          </a:xfrm>
          <a:prstGeom prst="roundRect">
            <a:avLst>
              <a:gd name="adj" fmla="val 16000"/>
            </a:avLst>
          </a:prstGeom>
          <a:solidFill>
            <a:schemeClr val="accent3"/>
          </a:solidFill>
          <a:ln/>
        </p:spPr>
      </p:sp>
      <p:sp>
        <p:nvSpPr>
          <p:cNvPr id="105" name="call batch-file"/>
          <p:cNvSpPr/>
          <p:nvPr/>
        </p:nvSpPr>
        <p:spPr>
          <a:xfrm>
            <a:off x="8668512" y="4050792"/>
            <a:ext cx="228600" cy="228600"/>
          </a:xfrm>
          <a:prstGeom prst="roundRect">
            <a:avLst>
              <a:gd name="adj" fmla="val 16000"/>
            </a:avLst>
          </a:prstGeom>
          <a:solidFill>
            <a:schemeClr val="accent3"/>
          </a:solidFill>
          <a:ln/>
        </p:spPr>
      </p:sp>
      <p:sp>
        <p:nvSpPr>
          <p:cNvPr id="106" name="call dom"/>
          <p:cNvSpPr/>
          <p:nvPr/>
        </p:nvSpPr>
        <p:spPr>
          <a:xfrm>
            <a:off x="8951976" y="4050792"/>
            <a:ext cx="228600" cy="228600"/>
          </a:xfrm>
          <a:prstGeom prst="roundRect">
            <a:avLst>
              <a:gd name="adj" fmla="val 16000"/>
            </a:avLst>
          </a:prstGeom>
          <a:solidFill>
            <a:schemeClr val="accent3"/>
          </a:solidFill>
          <a:ln/>
        </p:spPr>
      </p:sp>
      <p:sp>
        <p:nvSpPr>
          <p:cNvPr id="107" name="call scripting"/>
          <p:cNvSpPr/>
          <p:nvPr/>
        </p:nvSpPr>
        <p:spPr>
          <a:xfrm>
            <a:off x="6400800" y="4334256"/>
            <a:ext cx="228600" cy="228600"/>
          </a:xfrm>
          <a:prstGeom prst="roundRect">
            <a:avLst>
              <a:gd name="adj" fmla="val 16000"/>
            </a:avLst>
          </a:prstGeom>
          <a:solidFill>
            <a:schemeClr val="accent3"/>
          </a:solidFill>
          <a:ln/>
        </p:spPr>
      </p:sp>
      <p:sp>
        <p:nvSpPr>
          <p:cNvPr id="108" name="call parsing"/>
          <p:cNvSpPr/>
          <p:nvPr/>
        </p:nvSpPr>
        <p:spPr>
          <a:xfrm>
            <a:off x="6684264" y="4334256"/>
            <a:ext cx="228600" cy="228600"/>
          </a:xfrm>
          <a:prstGeom prst="roundRect">
            <a:avLst>
              <a:gd name="adj" fmla="val 16000"/>
            </a:avLst>
          </a:prstGeom>
          <a:solidFill>
            <a:schemeClr val="accent3"/>
          </a:solidFill>
          <a:ln/>
        </p:spPr>
      </p:sp>
      <p:sp>
        <p:nvSpPr>
          <p:cNvPr id="109" name="call rest"/>
          <p:cNvSpPr/>
          <p:nvPr/>
        </p:nvSpPr>
        <p:spPr>
          <a:xfrm>
            <a:off x="6967728" y="4334256"/>
            <a:ext cx="228600" cy="228600"/>
          </a:xfrm>
          <a:prstGeom prst="roundRect">
            <a:avLst>
              <a:gd name="adj" fmla="val 16000"/>
            </a:avLst>
          </a:prstGeom>
          <a:solidFill>
            <a:schemeClr val="accent3"/>
          </a:solidFill>
          <a:ln/>
        </p:spPr>
      </p:sp>
      <p:sp>
        <p:nvSpPr>
          <p:cNvPr id="110" name="call sqlite"/>
          <p:cNvSpPr/>
          <p:nvPr/>
        </p:nvSpPr>
        <p:spPr>
          <a:xfrm>
            <a:off x="7251192" y="4334256"/>
            <a:ext cx="228600" cy="228600"/>
          </a:xfrm>
          <a:prstGeom prst="roundRect">
            <a:avLst>
              <a:gd name="adj" fmla="val 16000"/>
            </a:avLst>
          </a:prstGeom>
          <a:solidFill>
            <a:schemeClr val="accent3"/>
          </a:solidFill>
          <a:ln/>
        </p:spPr>
      </p:sp>
      <p:sp>
        <p:nvSpPr>
          <p:cNvPr id="111" name="call vb.net"/>
          <p:cNvSpPr/>
          <p:nvPr/>
        </p:nvSpPr>
        <p:spPr>
          <a:xfrm>
            <a:off x="7534656" y="4334256"/>
            <a:ext cx="228600" cy="228600"/>
          </a:xfrm>
          <a:prstGeom prst="roundRect">
            <a:avLst>
              <a:gd name="adj" fmla="val 16000"/>
            </a:avLst>
          </a:prstGeom>
          <a:solidFill>
            <a:schemeClr val="accent3"/>
          </a:solidFill>
          <a:ln/>
        </p:spPr>
      </p:sp>
      <p:sp>
        <p:nvSpPr>
          <p:cNvPr id="112" name="call events"/>
          <p:cNvSpPr/>
          <p:nvPr/>
        </p:nvSpPr>
        <p:spPr>
          <a:xfrm>
            <a:off x="7818120" y="4334256"/>
            <a:ext cx="228600" cy="228600"/>
          </a:xfrm>
          <a:prstGeom prst="roundRect">
            <a:avLst>
              <a:gd name="adj" fmla="val 16000"/>
            </a:avLst>
          </a:prstGeom>
          <a:solidFill>
            <a:schemeClr val="accent3"/>
          </a:solidFill>
          <a:ln/>
        </p:spPr>
      </p:sp>
      <p:sp>
        <p:nvSpPr>
          <p:cNvPr id="113" name="call inheritance"/>
          <p:cNvSpPr/>
          <p:nvPr/>
        </p:nvSpPr>
        <p:spPr>
          <a:xfrm>
            <a:off x="8101584" y="4334256"/>
            <a:ext cx="228600" cy="228600"/>
          </a:xfrm>
          <a:prstGeom prst="roundRect">
            <a:avLst>
              <a:gd name="adj" fmla="val 16000"/>
            </a:avLst>
          </a:prstGeom>
          <a:solidFill>
            <a:schemeClr val="accent3"/>
          </a:solidFill>
          <a:ln/>
        </p:spPr>
      </p:sp>
      <p:sp>
        <p:nvSpPr>
          <p:cNvPr id="114" name="call testing"/>
          <p:cNvSpPr/>
          <p:nvPr/>
        </p:nvSpPr>
        <p:spPr>
          <a:xfrm>
            <a:off x="8385048" y="4334256"/>
            <a:ext cx="228600" cy="228600"/>
          </a:xfrm>
          <a:prstGeom prst="roundRect">
            <a:avLst>
              <a:gd name="adj" fmla="val 16000"/>
            </a:avLst>
          </a:prstGeom>
          <a:solidFill>
            <a:schemeClr val="accent3"/>
          </a:solidFill>
          <a:ln/>
        </p:spPr>
      </p:sp>
      <p:sp>
        <p:nvSpPr>
          <p:cNvPr id="115" name="call random"/>
          <p:cNvSpPr/>
          <p:nvPr/>
        </p:nvSpPr>
        <p:spPr>
          <a:xfrm>
            <a:off x="8668512" y="4334256"/>
            <a:ext cx="228600" cy="228600"/>
          </a:xfrm>
          <a:prstGeom prst="roundRect">
            <a:avLst>
              <a:gd name="adj" fmla="val 16000"/>
            </a:avLst>
          </a:prstGeom>
          <a:solidFill>
            <a:schemeClr val="accent3"/>
          </a:solidFill>
          <a:ln/>
        </p:spPr>
      </p:sp>
      <p:sp>
        <p:nvSpPr>
          <p:cNvPr id="116" name="call file-io"/>
          <p:cNvSpPr/>
          <p:nvPr/>
        </p:nvSpPr>
        <p:spPr>
          <a:xfrm>
            <a:off x="8951976" y="4334256"/>
            <a:ext cx="228600" cy="228600"/>
          </a:xfrm>
          <a:prstGeom prst="roundRect">
            <a:avLst>
              <a:gd name="adj" fmla="val 16000"/>
            </a:avLst>
          </a:prstGeom>
          <a:solidFill>
            <a:schemeClr val="accent3"/>
          </a:solidFill>
          <a:ln/>
        </p:spPr>
      </p:sp>
      <p:sp>
        <p:nvSpPr>
          <p:cNvPr id="117" name="Shape 115"/>
          <p:cNvSpPr/>
          <p:nvPr/>
        </p:nvSpPr>
        <p:spPr>
          <a:xfrm>
            <a:off x="9464040" y="1874520"/>
            <a:ext cx="201168" cy="201168"/>
          </a:xfrm>
          <a:prstGeom prst="roundRect">
            <a:avLst>
              <a:gd name="adj" fmla="val 18182"/>
            </a:avLst>
          </a:prstGeom>
          <a:solidFill>
            <a:schemeClr val="accent2"/>
          </a:solidFill>
          <a:ln/>
        </p:spPr>
      </p:sp>
      <p:sp>
        <p:nvSpPr>
          <p:cNvPr id="118" name="Text 116"/>
          <p:cNvSpPr txBox="1"/>
          <p:nvPr/>
        </p:nvSpPr>
        <p:spPr>
          <a:xfrm>
            <a:off x="9765792" y="1810512"/>
            <a:ext cx="1874520" cy="548640"/>
          </a:xfrm>
          <a:prstGeom prst="rect">
            <a:avLst/>
          </a:prstGeom>
          <a:noFill/>
          <a:ln/>
        </p:spPr>
        <p:txBody>
          <a:bodyPr wrap="square" lIns="0" tIns="0" rIns="0" bIns="0" rtlCol="0" anchor="t"/>
          <a:lstStyle/>
          <a:p>
            <a:pPr indent="0" marL="0">
              <a:buNone/>
            </a:pPr>
            <a:r>
              <a:rPr lang="en-US" sz="1300" dirty="0">
                <a:solidFill>
                  <a:schemeClr val="tx1"/>
                </a:solidFill>
              </a:rPr>
              <a:t>Right yes: c#, datetime</a:t>
            </a:r>
            <a:endParaRPr lang="en-US" sz="1300" dirty="0"/>
          </a:p>
        </p:txBody>
      </p:sp>
      <p:sp>
        <p:nvSpPr>
          <p:cNvPr id="119" name="Shape 117"/>
          <p:cNvSpPr/>
          <p:nvPr/>
        </p:nvSpPr>
        <p:spPr>
          <a:xfrm>
            <a:off x="9464040" y="2560320"/>
            <a:ext cx="201168" cy="201168"/>
          </a:xfrm>
          <a:prstGeom prst="roundRect">
            <a:avLst>
              <a:gd name="adj" fmla="val 18182"/>
            </a:avLst>
          </a:prstGeom>
          <a:solidFill>
            <a:schemeClr val="accent1"/>
          </a:solidFill>
          <a:ln/>
        </p:spPr>
      </p:sp>
      <p:sp>
        <p:nvSpPr>
          <p:cNvPr id="120" name="Text 118"/>
          <p:cNvSpPr txBox="1"/>
          <p:nvPr/>
        </p:nvSpPr>
        <p:spPr>
          <a:xfrm>
            <a:off x="9765792" y="2496312"/>
            <a:ext cx="1874520" cy="548640"/>
          </a:xfrm>
          <a:prstGeom prst="rect">
            <a:avLst/>
          </a:prstGeom>
          <a:noFill/>
          <a:ln/>
        </p:spPr>
        <p:txBody>
          <a:bodyPr wrap="square" lIns="0" tIns="0" rIns="0" bIns="0" rtlCol="0" anchor="t"/>
          <a:lstStyle/>
          <a:p>
            <a:pPr indent="0" marL="0">
              <a:buNone/>
            </a:pPr>
            <a:r>
              <a:rPr lang="en-US" sz="1300" dirty="0">
                <a:solidFill>
                  <a:schemeClr val="tx1"/>
                </a:solidFill>
              </a:rPr>
              <a:t>Wrong: missed .net, said sql</a:t>
            </a:r>
            <a:endParaRPr lang="en-US" sz="1300" dirty="0"/>
          </a:p>
        </p:txBody>
      </p:sp>
      <p:sp>
        <p:nvSpPr>
          <p:cNvPr id="121" name="Shape 119"/>
          <p:cNvSpPr/>
          <p:nvPr/>
        </p:nvSpPr>
        <p:spPr>
          <a:xfrm>
            <a:off x="9464040" y="3246120"/>
            <a:ext cx="201168" cy="201168"/>
          </a:xfrm>
          <a:prstGeom prst="roundRect">
            <a:avLst>
              <a:gd name="adj" fmla="val 18182"/>
            </a:avLst>
          </a:prstGeom>
          <a:solidFill>
            <a:schemeClr val="accent3"/>
          </a:solidFill>
          <a:ln/>
        </p:spPr>
      </p:sp>
      <p:sp>
        <p:nvSpPr>
          <p:cNvPr id="122" name="Text 120"/>
          <p:cNvSpPr txBox="1"/>
          <p:nvPr/>
        </p:nvSpPr>
        <p:spPr>
          <a:xfrm>
            <a:off x="9765792" y="3182112"/>
            <a:ext cx="1874520" cy="548640"/>
          </a:xfrm>
          <a:prstGeom prst="rect">
            <a:avLst/>
          </a:prstGeom>
          <a:noFill/>
          <a:ln/>
        </p:spPr>
        <p:txBody>
          <a:bodyPr wrap="square" lIns="0" tIns="0" rIns="0" bIns="0" rtlCol="0" anchor="t"/>
          <a:lstStyle/>
          <a:p>
            <a:pPr indent="0" marL="0">
              <a:buNone/>
            </a:pPr>
            <a:r>
              <a:rPr lang="en-US" sz="1300" dirty="0">
                <a:solidFill>
                  <a:schemeClr val="tx1"/>
                </a:solidFill>
              </a:rPr>
              <a:t>Right no: the other 96</a:t>
            </a:r>
            <a:endParaRPr lang="en-US" sz="1300" dirty="0"/>
          </a:p>
        </p:txBody>
      </p:sp>
      <p:sp>
        <p:nvSpPr>
          <p:cNvPr id="123" name="hamming result"/>
          <p:cNvSpPr/>
          <p:nvPr/>
        </p:nvSpPr>
        <p:spPr>
          <a:xfrm>
            <a:off x="6172200" y="5257800"/>
            <a:ext cx="5440680" cy="777240"/>
          </a:xfrm>
          <a:prstGeom prst="roundRect">
            <a:avLst>
              <a:gd name="adj" fmla="val 9412"/>
            </a:avLst>
          </a:prstGeom>
          <a:solidFill>
            <a:schemeClr val="bg2"/>
          </a:solidFill>
          <a:ln/>
        </p:spPr>
      </p:sp>
      <p:sp>
        <p:nvSpPr>
          <p:cNvPr id="124" name="Text 122"/>
          <p:cNvSpPr txBox="1"/>
          <p:nvPr/>
        </p:nvSpPr>
        <p:spPr>
          <a:xfrm>
            <a:off x="6400800" y="5257800"/>
            <a:ext cx="5029200" cy="777240"/>
          </a:xfrm>
          <a:prstGeom prst="rect">
            <a:avLst/>
          </a:prstGeom>
          <a:noFill/>
          <a:ln/>
        </p:spPr>
        <p:txBody>
          <a:bodyPr wrap="square" lIns="0" tIns="0" rIns="0" bIns="0" rtlCol="0" anchor="ctr"/>
          <a:lstStyle/>
          <a:p>
            <a:pPr indent="0" marL="0">
              <a:buNone/>
            </a:pPr>
            <a:r>
              <a:rPr lang="en-US" sz="1500" b="1" dirty="0">
                <a:solidFill>
                  <a:schemeClr val="tx1"/>
                </a:solidFill>
              </a:rPr>
              <a:t>Hamming loss: </a:t>
            </a:r>
            <a:pPr indent="0" marL="0">
              <a:buNone/>
            </a:pPr>
            <a:r>
              <a:rPr lang="en-US" sz="1500" dirty="0">
                <a:solidFill>
                  <a:schemeClr val="tx1"/>
                </a:solidFill>
              </a:rPr>
              <a:t>2 wrong calls out of 100 = 2%</a:t>
            </a:r>
            <a:endParaRPr lang="en-US" sz="1500" dirty="0"/>
          </a:p>
        </p:txBody>
      </p:sp>
      <p:sp>
        <p:nvSpPr>
          <p:cNvPr id="125" name="Text 123"/>
          <p:cNvSpPr txBox="1"/>
          <p:nvPr/>
        </p:nvSpPr>
        <p:spPr>
          <a:xfrm>
            <a:off x="548640" y="6080760"/>
            <a:ext cx="11064240" cy="320040"/>
          </a:xfrm>
          <a:prstGeom prst="rect">
            <a:avLst/>
          </a:prstGeom>
          <a:noFill/>
          <a:ln/>
        </p:spPr>
        <p:txBody>
          <a:bodyPr wrap="square" lIns="0" tIns="0" rIns="0" bIns="0" rtlCol="0" anchor="t"/>
          <a:lstStyle/>
          <a:p>
            <a:pPr indent="0" marL="0">
              <a:buNone/>
            </a:pPr>
            <a:r>
              <a:rPr lang="en-US" sz="1200" dirty="0">
                <a:solidFill>
                  <a:schemeClr val="accent6"/>
                </a:solidFill>
              </a:rPr>
              <a:t>Most of the 100 calls are easy no’s, so Hamming loss is low for every model. The Jaccard score shows the differences better.</a:t>
            </a:r>
            <a:endParaRPr lang="en-US" sz="12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algn="l" indent="0" marL="0">
              <a:buNone/>
            </a:pPr>
            <a:r>
              <a:rPr lang="en-US" sz="3000" b="1" dirty="0">
                <a:solidFill>
                  <a:schemeClr val="tx1"/>
                </a:solidFill>
              </a:rPr>
              <a:t>Twelve models on the same test set</a:t>
            </a:r>
            <a:endParaRPr lang="en-US" sz="3000" dirty="0"/>
          </a:p>
        </p:txBody>
      </p:sp>
      <p:sp>
        <p:nvSpPr>
          <p:cNvPr id="3" name="Text 0"/>
          <p:cNvSpPr/>
          <p:nvPr>
            <p:ph idx="101" type="body" hasCustomPrompt="1"/>
          </p:nvPr>
        </p:nvSpPr>
        <p:spPr>
          <a:xfrm>
            <a:off x="548640" y="987552"/>
            <a:ext cx="11064240" cy="411480"/>
          </a:xfrm>
          <a:prstGeom prst="rect">
            <a:avLst/>
          </a:prstGeom>
          <a:noFill/>
          <a:ln/>
        </p:spPr>
        <p:txBody>
          <a:bodyPr wrap="square" lIns="0" tIns="0" rIns="0" bIns="0" rtlCol="0" anchor="ctr"/>
          <a:lstStyle/>
          <a:p>
            <a:pPr algn="l" indent="0" marL="0">
              <a:buNone/>
            </a:pPr>
            <a:r>
              <a:rPr lang="en-US" sz="1600" dirty="0">
                <a:solidFill>
                  <a:schemeClr val="accent6"/>
                </a:solidFill>
              </a:rPr>
              <a:t>Each ran as 100 one-vs-rest yes or no classifiers, without tuning</a:t>
            </a:r>
            <a:endParaRPr lang="en-US" sz="1600" dirty="0"/>
          </a:p>
        </p:txBody>
      </p:sp>
      <p:graphicFrame>
        <p:nvGraphicFramePr>
          <p:cNvPr id="4" name="Chart 0" descr=""/>
          <p:cNvGraphicFramePr/>
          <p:nvPr/>
        </p:nvGraphicFramePr>
        <p:xfrm>
          <a:off x="411480" y="1554480"/>
          <a:ext cx="603504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6629400" y="1554480"/>
          <a:ext cx="5120640" cy="4343400"/>
        </p:xfrm>
        <a:graphic xmlns:a="http://schemas.openxmlformats.org/drawingml/2006/main">
          <a:graphicData uri="http://schemas.openxmlformats.org/drawingml/2006/chart">
            <c:chart xmlns:c="http://schemas.openxmlformats.org/drawingml/2006/chart" r:id="rId2"/>
          </a:graphicData>
        </a:graphic>
      </p:graphicFrame>
      <p:sp>
        <p:nvSpPr>
          <p:cNvPr id="6" name="Text 2"/>
          <p:cNvSpPr txBox="1"/>
          <p:nvPr/>
        </p:nvSpPr>
        <p:spPr>
          <a:xfrm>
            <a:off x="548640" y="5925312"/>
            <a:ext cx="11064240" cy="411480"/>
          </a:xfrm>
          <a:prstGeom prst="rect">
            <a:avLst/>
          </a:prstGeom>
          <a:noFill/>
          <a:ln/>
        </p:spPr>
        <p:txBody>
          <a:bodyPr wrap="square" lIns="0" tIns="0" rIns="0" bIns="0" rtlCol="0" anchor="t"/>
          <a:lstStyle/>
          <a:p>
            <a:pPr indent="0" marL="0">
              <a:buNone/>
            </a:pPr>
            <a:r>
              <a:rPr lang="en-US" sz="1200" dirty="0">
                <a:solidFill>
                  <a:schemeClr val="accent6"/>
                </a:solidFill>
              </a:rPr>
              <a:t>The 2021 code labeled the three random forests 10, 100 and 1,000 trees, but all three were set to 1,000. The dummy guessed each tag at random, at that tag’s rate in the training data.</a:t>
            </a:r>
            <a:endParaRPr lang="en-US" sz="12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algn="l" indent="0" marL="0">
              <a:buNone/>
            </a:pPr>
            <a:r>
              <a:rPr lang="en-US" sz="3000" b="1" dirty="0">
                <a:solidFill>
                  <a:schemeClr val="tx1"/>
                </a:solidFill>
              </a:rPr>
              <a:t>Final model: LinearSVC</a:t>
            </a:r>
            <a:endParaRPr lang="en-US" sz="3000" dirty="0"/>
          </a:p>
        </p:txBody>
      </p:sp>
      <p:sp>
        <p:nvSpPr>
          <p:cNvPr id="3" name="Text 0"/>
          <p:cNvSpPr/>
          <p:nvPr>
            <p:ph idx="101" type="body" hasCustomPrompt="1"/>
          </p:nvPr>
        </p:nvSpPr>
        <p:spPr>
          <a:xfrm>
            <a:off x="548640" y="987552"/>
            <a:ext cx="11064240" cy="411480"/>
          </a:xfrm>
          <a:prstGeom prst="rect">
            <a:avLst/>
          </a:prstGeom>
          <a:noFill/>
          <a:ln/>
        </p:spPr>
        <p:txBody>
          <a:bodyPr wrap="square" lIns="0" tIns="0" rIns="0" bIns="0" rtlCol="0" anchor="ctr"/>
          <a:lstStyle/>
          <a:p>
            <a:pPr algn="l" indent="0" marL="0">
              <a:buNone/>
            </a:pPr>
            <a:r>
              <a:rPr lang="en-US" sz="1600" dirty="0">
                <a:solidFill>
                  <a:schemeClr val="accent6"/>
                </a:solidFill>
              </a:rPr>
              <a:t>Lowest Hamming loss and second-highest Jaccard score of the twelve</a:t>
            </a:r>
            <a:endParaRPr lang="en-US" sz="1600" dirty="0"/>
          </a:p>
        </p:txBody>
      </p:sp>
      <p:sp>
        <p:nvSpPr>
          <p:cNvPr id="4" name="Text 2"/>
          <p:cNvSpPr txBox="1"/>
          <p:nvPr/>
        </p:nvSpPr>
        <p:spPr>
          <a:xfrm>
            <a:off x="548640" y="1783080"/>
            <a:ext cx="5120640" cy="320040"/>
          </a:xfrm>
          <a:prstGeom prst="rect">
            <a:avLst/>
          </a:prstGeom>
          <a:noFill/>
          <a:ln/>
        </p:spPr>
        <p:txBody>
          <a:bodyPr wrap="square" lIns="0" tIns="0" rIns="0" bIns="0" rtlCol="0" anchor="t"/>
          <a:lstStyle/>
          <a:p>
            <a:pPr indent="0" marL="0">
              <a:buNone/>
            </a:pPr>
            <a:r>
              <a:rPr lang="en-US" sz="1600" b="1" dirty="0">
                <a:solidFill>
                  <a:schemeClr val="tx1"/>
                </a:solidFill>
              </a:rPr>
              <a:t>Grid search over C</a:t>
            </a:r>
            <a:endParaRPr lang="en-US" sz="1600" dirty="0"/>
          </a:p>
        </p:txBody>
      </p:sp>
      <p:sp>
        <p:nvSpPr>
          <p:cNvPr id="5" name="chip C = 1"/>
          <p:cNvSpPr/>
          <p:nvPr/>
        </p:nvSpPr>
        <p:spPr>
          <a:xfrm>
            <a:off x="548640" y="2240280"/>
            <a:ext cx="1143000" cy="457200"/>
          </a:xfrm>
          <a:prstGeom prst="roundRect">
            <a:avLst>
              <a:gd name="adj" fmla="val 12000"/>
            </a:avLst>
          </a:prstGeom>
          <a:solidFill>
            <a:schemeClr val="accent1"/>
          </a:solidFill>
          <a:ln/>
        </p:spPr>
        <p:txBody>
          <a:bodyPr wrap="square" lIns="0" tIns="0" rIns="0" bIns="0" rtlCol="0" anchor="ctr"/>
          <a:lstStyle/>
          <a:p>
            <a:pPr algn="ctr" indent="0" marL="0">
              <a:buNone/>
            </a:pPr>
            <a:r>
              <a:rPr lang="en-US" sz="1500" b="1" dirty="0">
                <a:solidFill>
                  <a:schemeClr val="tx1"/>
                </a:solidFill>
              </a:rPr>
              <a:t>C = 1</a:t>
            </a:r>
            <a:endParaRPr lang="en-US" sz="1500" dirty="0"/>
          </a:p>
        </p:txBody>
      </p:sp>
      <p:sp>
        <p:nvSpPr>
          <p:cNvPr id="6" name="chip C = 10"/>
          <p:cNvSpPr/>
          <p:nvPr/>
        </p:nvSpPr>
        <p:spPr>
          <a:xfrm>
            <a:off x="1828800" y="2240280"/>
            <a:ext cx="1143000" cy="457200"/>
          </a:xfrm>
          <a:prstGeom prst="roundRect">
            <a:avLst>
              <a:gd name="adj" fmla="val 12000"/>
            </a:avLst>
          </a:prstGeom>
          <a:solidFill>
            <a:schemeClr val="bg2"/>
          </a:solidFill>
          <a:ln/>
        </p:spPr>
        <p:txBody>
          <a:bodyPr wrap="square" lIns="0" tIns="0" rIns="0" bIns="0" rtlCol="0" anchor="ctr"/>
          <a:lstStyle/>
          <a:p>
            <a:pPr algn="ctr" indent="0" marL="0">
              <a:buNone/>
            </a:pPr>
            <a:r>
              <a:rPr lang="en-US" sz="1500" b="1" dirty="0">
                <a:solidFill>
                  <a:schemeClr val="tx1"/>
                </a:solidFill>
              </a:rPr>
              <a:t>C = 10</a:t>
            </a:r>
            <a:endParaRPr lang="en-US" sz="1500" dirty="0"/>
          </a:p>
        </p:txBody>
      </p:sp>
      <p:sp>
        <p:nvSpPr>
          <p:cNvPr id="7" name="chip C = 100"/>
          <p:cNvSpPr/>
          <p:nvPr/>
        </p:nvSpPr>
        <p:spPr>
          <a:xfrm>
            <a:off x="3108960" y="2240280"/>
            <a:ext cx="1143000" cy="457200"/>
          </a:xfrm>
          <a:prstGeom prst="roundRect">
            <a:avLst>
              <a:gd name="adj" fmla="val 12000"/>
            </a:avLst>
          </a:prstGeom>
          <a:solidFill>
            <a:schemeClr val="bg2"/>
          </a:solidFill>
          <a:ln/>
        </p:spPr>
        <p:txBody>
          <a:bodyPr wrap="square" lIns="0" tIns="0" rIns="0" bIns="0" rtlCol="0" anchor="ctr"/>
          <a:lstStyle/>
          <a:p>
            <a:pPr algn="ctr" indent="0" marL="0">
              <a:buNone/>
            </a:pPr>
            <a:r>
              <a:rPr lang="en-US" sz="1500" b="1" dirty="0">
                <a:solidFill>
                  <a:schemeClr val="tx1"/>
                </a:solidFill>
              </a:rPr>
              <a:t>C = 100</a:t>
            </a:r>
            <a:endParaRPr lang="en-US" sz="1500" dirty="0"/>
          </a:p>
        </p:txBody>
      </p:sp>
      <p:sp>
        <p:nvSpPr>
          <p:cNvPr id="8" name="chip C = 1,000"/>
          <p:cNvSpPr/>
          <p:nvPr/>
        </p:nvSpPr>
        <p:spPr>
          <a:xfrm>
            <a:off x="4389120" y="2240280"/>
            <a:ext cx="1143000" cy="457200"/>
          </a:xfrm>
          <a:prstGeom prst="roundRect">
            <a:avLst>
              <a:gd name="adj" fmla="val 12000"/>
            </a:avLst>
          </a:prstGeom>
          <a:solidFill>
            <a:schemeClr val="bg2"/>
          </a:solidFill>
          <a:ln/>
        </p:spPr>
        <p:txBody>
          <a:bodyPr wrap="square" lIns="0" tIns="0" rIns="0" bIns="0" rtlCol="0" anchor="ctr"/>
          <a:lstStyle/>
          <a:p>
            <a:pPr algn="ctr" indent="0" marL="0">
              <a:buNone/>
            </a:pPr>
            <a:r>
              <a:rPr lang="en-US" sz="1500" b="1" dirty="0">
                <a:solidFill>
                  <a:schemeClr val="tx1"/>
                </a:solidFill>
              </a:rPr>
              <a:t>C = 1,000</a:t>
            </a:r>
            <a:endParaRPr lang="en-US" sz="1500" dirty="0"/>
          </a:p>
        </p:txBody>
      </p:sp>
      <p:sp>
        <p:nvSpPr>
          <p:cNvPr id="9" name="Text 7"/>
          <p:cNvSpPr txBox="1"/>
          <p:nvPr/>
        </p:nvSpPr>
        <p:spPr>
          <a:xfrm>
            <a:off x="548640" y="2834640"/>
            <a:ext cx="5303520" cy="320040"/>
          </a:xfrm>
          <a:prstGeom prst="rect">
            <a:avLst/>
          </a:prstGeom>
          <a:noFill/>
          <a:ln/>
        </p:spPr>
        <p:txBody>
          <a:bodyPr wrap="square" lIns="0" tIns="0" rIns="0" bIns="0" rtlCol="0" anchor="t"/>
          <a:lstStyle/>
          <a:p>
            <a:pPr indent="0" marL="0">
              <a:buNone/>
            </a:pPr>
            <a:r>
              <a:rPr lang="en-US" sz="1400" dirty="0">
                <a:solidFill>
                  <a:schemeClr val="accent6"/>
                </a:solidFill>
              </a:rPr>
              <a:t>× 100 folds = 400 fits, about four minutes on 32 threads</a:t>
            </a:r>
            <a:endParaRPr lang="en-US" sz="1400" dirty="0"/>
          </a:p>
        </p:txBody>
      </p:sp>
      <p:sp>
        <p:nvSpPr>
          <p:cNvPr id="10" name="Text 8"/>
          <p:cNvSpPr txBox="1"/>
          <p:nvPr/>
        </p:nvSpPr>
        <p:spPr>
          <a:xfrm>
            <a:off x="548640" y="3383280"/>
            <a:ext cx="5120640" cy="1371600"/>
          </a:xfrm>
          <a:prstGeom prst="rect">
            <a:avLst/>
          </a:prstGeom>
          <a:noFill/>
          <a:ln/>
        </p:spPr>
        <p:txBody>
          <a:bodyPr wrap="square" lIns="0" tIns="0" rIns="0" bIns="0" rtlCol="0" anchor="t"/>
          <a:lstStyle/>
          <a:p>
            <a:pPr indent="0" marL="0">
              <a:spcAft>
                <a:spcPts val="1000"/>
              </a:spcAft>
              <a:buNone/>
            </a:pPr>
            <a:r>
              <a:rPr lang="en-US" sz="1500" dirty="0">
                <a:solidFill>
                  <a:schemeClr val="tx1"/>
                </a:solidFill>
              </a:rPr>
              <a:t>The best value was C = 1, the default, so the tuned model scored the same as the untuned one.</a:t>
            </a:r>
            <a:endParaRPr lang="en-US" sz="1500" dirty="0"/>
          </a:p>
          <a:p>
            <a:pPr indent="0" marL="0">
              <a:spcAft>
                <a:spcPts val="1000"/>
              </a:spcAft>
              <a:buNone/>
            </a:pPr>
            <a:r>
              <a:rPr lang="en-US" sz="1500" dirty="0">
                <a:solidFill>
                  <a:schemeClr val="tx1"/>
                </a:solidFill>
              </a:rPr>
              <a:t>100 folds was probably more than needed; the notebook notes that 15 gave similar results with much less load.</a:t>
            </a:r>
            <a:endParaRPr lang="en-US" sz="1500" dirty="0"/>
          </a:p>
        </p:txBody>
      </p:sp>
      <p:sp>
        <p:nvSpPr>
          <p:cNvPr id="11" name="top two"/>
          <p:cNvSpPr/>
          <p:nvPr/>
        </p:nvSpPr>
        <p:spPr>
          <a:xfrm>
            <a:off x="548640" y="4754880"/>
            <a:ext cx="5257800" cy="1051560"/>
          </a:xfrm>
          <a:prstGeom prst="roundRect">
            <a:avLst>
              <a:gd name="adj" fmla="val 6957"/>
            </a:avLst>
          </a:prstGeom>
          <a:solidFill>
            <a:schemeClr val="bg2"/>
          </a:solidFill>
          <a:ln/>
        </p:spPr>
      </p:sp>
      <p:sp>
        <p:nvSpPr>
          <p:cNvPr id="12" name="chip PassiveAggressive"/>
          <p:cNvSpPr/>
          <p:nvPr/>
        </p:nvSpPr>
        <p:spPr>
          <a:xfrm>
            <a:off x="731520" y="4864608"/>
            <a:ext cx="1691640" cy="347472"/>
          </a:xfrm>
          <a:prstGeom prst="roundRect">
            <a:avLst>
              <a:gd name="adj" fmla="val 15789"/>
            </a:avLst>
          </a:prstGeom>
          <a:solidFill>
            <a:schemeClr val="bg1"/>
          </a:solidFill>
          <a:ln/>
        </p:spPr>
        <p:txBody>
          <a:bodyPr wrap="square" lIns="0" tIns="0" rIns="0" bIns="0" rtlCol="0" anchor="ctr"/>
          <a:lstStyle/>
          <a:p>
            <a:pPr algn="ctr" indent="0" marL="0">
              <a:buNone/>
            </a:pPr>
            <a:r>
              <a:rPr lang="en-US" sz="1400" dirty="0">
                <a:solidFill>
                  <a:schemeClr val="tx1"/>
                </a:solidFill>
              </a:rPr>
              <a:t>PassiveAggressive</a:t>
            </a:r>
            <a:endParaRPr lang="en-US" sz="1400" dirty="0"/>
          </a:p>
        </p:txBody>
      </p:sp>
      <p:sp>
        <p:nvSpPr>
          <p:cNvPr id="13" name="Text 11"/>
          <p:cNvSpPr txBox="1"/>
          <p:nvPr/>
        </p:nvSpPr>
        <p:spPr>
          <a:xfrm>
            <a:off x="2606040" y="4864608"/>
            <a:ext cx="3108960" cy="347472"/>
          </a:xfrm>
          <a:prstGeom prst="rect">
            <a:avLst/>
          </a:prstGeom>
          <a:noFill/>
          <a:ln/>
        </p:spPr>
        <p:txBody>
          <a:bodyPr wrap="square" lIns="0" tIns="0" rIns="0" bIns="0" rtlCol="0" anchor="ctr"/>
          <a:lstStyle/>
          <a:p>
            <a:pPr indent="0" marL="0">
              <a:buNone/>
            </a:pPr>
            <a:r>
              <a:rPr lang="en-US" sz="1400" dirty="0">
                <a:solidFill>
                  <a:schemeClr val="tx1"/>
                </a:solidFill>
              </a:rPr>
              <a:t>Jaccard 48.5   ·   Hamming loss 1.19%</a:t>
            </a:r>
            <a:endParaRPr lang="en-US" sz="1400" dirty="0"/>
          </a:p>
        </p:txBody>
      </p:sp>
      <p:sp>
        <p:nvSpPr>
          <p:cNvPr id="14" name="chip LinearSVC"/>
          <p:cNvSpPr/>
          <p:nvPr/>
        </p:nvSpPr>
        <p:spPr>
          <a:xfrm>
            <a:off x="731520" y="5294376"/>
            <a:ext cx="1691640" cy="347472"/>
          </a:xfrm>
          <a:prstGeom prst="roundRect">
            <a:avLst>
              <a:gd name="adj" fmla="val 15789"/>
            </a:avLst>
          </a:prstGeom>
          <a:solidFill>
            <a:schemeClr val="accent1"/>
          </a:solidFill>
          <a:ln/>
        </p:spPr>
        <p:txBody>
          <a:bodyPr wrap="square" lIns="0" tIns="0" rIns="0" bIns="0" rtlCol="0" anchor="ctr"/>
          <a:lstStyle/>
          <a:p>
            <a:pPr algn="ctr" indent="0" marL="0">
              <a:buNone/>
            </a:pPr>
            <a:r>
              <a:rPr lang="en-US" sz="1400" b="1" dirty="0">
                <a:solidFill>
                  <a:schemeClr val="tx1"/>
                </a:solidFill>
              </a:rPr>
              <a:t>LinearSVC</a:t>
            </a:r>
            <a:endParaRPr lang="en-US" sz="1400" dirty="0"/>
          </a:p>
        </p:txBody>
      </p:sp>
      <p:sp>
        <p:nvSpPr>
          <p:cNvPr id="15" name="Text 13"/>
          <p:cNvSpPr txBox="1"/>
          <p:nvPr/>
        </p:nvSpPr>
        <p:spPr>
          <a:xfrm>
            <a:off x="2606040" y="5294376"/>
            <a:ext cx="3108960" cy="347472"/>
          </a:xfrm>
          <a:prstGeom prst="rect">
            <a:avLst/>
          </a:prstGeom>
          <a:noFill/>
          <a:ln/>
        </p:spPr>
        <p:txBody>
          <a:bodyPr wrap="square" lIns="0" tIns="0" rIns="0" bIns="0" rtlCol="0" anchor="ctr"/>
          <a:lstStyle/>
          <a:p>
            <a:pPr indent="0" marL="0">
              <a:buNone/>
            </a:pPr>
            <a:r>
              <a:rPr lang="en-US" sz="1400" dirty="0">
                <a:solidFill>
                  <a:schemeClr val="tx1"/>
                </a:solidFill>
              </a:rPr>
              <a:t>Jaccard 47.8   ·   Hamming loss 1.02%</a:t>
            </a:r>
            <a:endParaRPr lang="en-US" sz="1400" dirty="0"/>
          </a:p>
        </p:txBody>
      </p:sp>
      <p:sp>
        <p:nvSpPr>
          <p:cNvPr id="16" name="stat Jaccard score"/>
          <p:cNvSpPr/>
          <p:nvPr/>
        </p:nvSpPr>
        <p:spPr>
          <a:xfrm>
            <a:off x="6080760" y="1737360"/>
            <a:ext cx="2697480" cy="1920240"/>
          </a:xfrm>
          <a:prstGeom prst="roundRect">
            <a:avLst>
              <a:gd name="adj" fmla="val 3810"/>
            </a:avLst>
          </a:prstGeom>
          <a:solidFill>
            <a:schemeClr val="bg2"/>
          </a:solidFill>
          <a:ln/>
        </p:spPr>
      </p:sp>
      <p:sp>
        <p:nvSpPr>
          <p:cNvPr id="17" name="Text 15"/>
          <p:cNvSpPr txBox="1"/>
          <p:nvPr/>
        </p:nvSpPr>
        <p:spPr>
          <a:xfrm>
            <a:off x="6309360" y="1901952"/>
            <a:ext cx="2240280" cy="731520"/>
          </a:xfrm>
          <a:prstGeom prst="rect">
            <a:avLst/>
          </a:prstGeom>
          <a:noFill/>
          <a:ln/>
        </p:spPr>
        <p:txBody>
          <a:bodyPr wrap="square" lIns="0" tIns="0" rIns="0" bIns="0" rtlCol="0" anchor="ctr"/>
          <a:lstStyle/>
          <a:p>
            <a:pPr indent="0" marL="0">
              <a:buNone/>
            </a:pPr>
            <a:r>
              <a:rPr lang="en-US" sz="4000" b="1" dirty="0">
                <a:solidFill>
                  <a:schemeClr val="tx1"/>
                </a:solidFill>
              </a:rPr>
              <a:t>47.8</a:t>
            </a:r>
            <a:endParaRPr lang="en-US" sz="4000" dirty="0"/>
          </a:p>
        </p:txBody>
      </p:sp>
      <p:sp>
        <p:nvSpPr>
          <p:cNvPr id="18" name="Text 16"/>
          <p:cNvSpPr txBox="1"/>
          <p:nvPr/>
        </p:nvSpPr>
        <p:spPr>
          <a:xfrm>
            <a:off x="6309360" y="2651760"/>
            <a:ext cx="2240280" cy="320040"/>
          </a:xfrm>
          <a:prstGeom prst="rect">
            <a:avLst/>
          </a:prstGeom>
          <a:noFill/>
          <a:ln/>
        </p:spPr>
        <p:txBody>
          <a:bodyPr wrap="square" lIns="0" tIns="0" rIns="0" bIns="0" rtlCol="0" anchor="t"/>
          <a:lstStyle/>
          <a:p>
            <a:pPr indent="0" marL="0">
              <a:buNone/>
            </a:pPr>
            <a:r>
              <a:rPr lang="en-US" sz="1600" b="1" dirty="0">
                <a:solidFill>
                  <a:schemeClr val="tx1"/>
                </a:solidFill>
              </a:rPr>
              <a:t>Jaccard score</a:t>
            </a:r>
            <a:endParaRPr lang="en-US" sz="1600" dirty="0"/>
          </a:p>
        </p:txBody>
      </p:sp>
      <p:sp>
        <p:nvSpPr>
          <p:cNvPr id="19" name="Text 17"/>
          <p:cNvSpPr txBox="1"/>
          <p:nvPr/>
        </p:nvSpPr>
        <p:spPr>
          <a:xfrm>
            <a:off x="6309360" y="2999232"/>
            <a:ext cx="2240280" cy="548640"/>
          </a:xfrm>
          <a:prstGeom prst="rect">
            <a:avLst/>
          </a:prstGeom>
          <a:noFill/>
          <a:ln/>
        </p:spPr>
        <p:txBody>
          <a:bodyPr wrap="square" lIns="0" tIns="0" rIns="0" bIns="0" rtlCol="0" anchor="t"/>
          <a:lstStyle/>
          <a:p>
            <a:pPr indent="0" marL="0">
              <a:buNone/>
            </a:pPr>
            <a:r>
              <a:rPr lang="en-US" sz="1400" dirty="0">
                <a:solidFill>
                  <a:schemeClr val="accent6"/>
                </a:solidFill>
              </a:rPr>
              <a:t>Dummy model: 2.6</a:t>
            </a:r>
            <a:endParaRPr lang="en-US" sz="1400" dirty="0"/>
          </a:p>
        </p:txBody>
      </p:sp>
      <p:sp>
        <p:nvSpPr>
          <p:cNvPr id="20" name="stat Hamming loss"/>
          <p:cNvSpPr/>
          <p:nvPr/>
        </p:nvSpPr>
        <p:spPr>
          <a:xfrm>
            <a:off x="8915400" y="1737360"/>
            <a:ext cx="2697480" cy="1920240"/>
          </a:xfrm>
          <a:prstGeom prst="roundRect">
            <a:avLst>
              <a:gd name="adj" fmla="val 3810"/>
            </a:avLst>
          </a:prstGeom>
          <a:solidFill>
            <a:schemeClr val="bg2"/>
          </a:solidFill>
          <a:ln/>
        </p:spPr>
      </p:sp>
      <p:sp>
        <p:nvSpPr>
          <p:cNvPr id="21" name="Text 19"/>
          <p:cNvSpPr txBox="1"/>
          <p:nvPr/>
        </p:nvSpPr>
        <p:spPr>
          <a:xfrm>
            <a:off x="9144000" y="1901952"/>
            <a:ext cx="2240280" cy="731520"/>
          </a:xfrm>
          <a:prstGeom prst="rect">
            <a:avLst/>
          </a:prstGeom>
          <a:noFill/>
          <a:ln/>
        </p:spPr>
        <p:txBody>
          <a:bodyPr wrap="square" lIns="0" tIns="0" rIns="0" bIns="0" rtlCol="0" anchor="ctr"/>
          <a:lstStyle/>
          <a:p>
            <a:pPr indent="0" marL="0">
              <a:buNone/>
            </a:pPr>
            <a:r>
              <a:rPr lang="en-US" sz="4000" b="1" dirty="0">
                <a:solidFill>
                  <a:schemeClr val="tx1"/>
                </a:solidFill>
              </a:rPr>
              <a:t>1.02%</a:t>
            </a:r>
            <a:endParaRPr lang="en-US" sz="4000" dirty="0"/>
          </a:p>
        </p:txBody>
      </p:sp>
      <p:sp>
        <p:nvSpPr>
          <p:cNvPr id="22" name="Text 20"/>
          <p:cNvSpPr txBox="1"/>
          <p:nvPr/>
        </p:nvSpPr>
        <p:spPr>
          <a:xfrm>
            <a:off x="9144000" y="2651760"/>
            <a:ext cx="2240280" cy="320040"/>
          </a:xfrm>
          <a:prstGeom prst="rect">
            <a:avLst/>
          </a:prstGeom>
          <a:noFill/>
          <a:ln/>
        </p:spPr>
        <p:txBody>
          <a:bodyPr wrap="square" lIns="0" tIns="0" rIns="0" bIns="0" rtlCol="0" anchor="t"/>
          <a:lstStyle/>
          <a:p>
            <a:pPr indent="0" marL="0">
              <a:buNone/>
            </a:pPr>
            <a:r>
              <a:rPr lang="en-US" sz="1600" b="1" dirty="0">
                <a:solidFill>
                  <a:schemeClr val="tx1"/>
                </a:solidFill>
              </a:rPr>
              <a:t>Hamming loss</a:t>
            </a:r>
            <a:endParaRPr lang="en-US" sz="1600" dirty="0"/>
          </a:p>
        </p:txBody>
      </p:sp>
      <p:sp>
        <p:nvSpPr>
          <p:cNvPr id="23" name="Text 21"/>
          <p:cNvSpPr txBox="1"/>
          <p:nvPr/>
        </p:nvSpPr>
        <p:spPr>
          <a:xfrm>
            <a:off x="9144000" y="2999232"/>
            <a:ext cx="2240280" cy="548640"/>
          </a:xfrm>
          <a:prstGeom prst="rect">
            <a:avLst/>
          </a:prstGeom>
          <a:noFill/>
          <a:ln/>
        </p:spPr>
        <p:txBody>
          <a:bodyPr wrap="square" lIns="0" tIns="0" rIns="0" bIns="0" rtlCol="0" anchor="t"/>
          <a:lstStyle/>
          <a:p>
            <a:pPr indent="0" marL="0">
              <a:buNone/>
            </a:pPr>
            <a:r>
              <a:rPr lang="en-US" sz="1400" dirty="0">
                <a:solidFill>
                  <a:schemeClr val="accent6"/>
                </a:solidFill>
              </a:rPr>
              <a:t>Dummy model: 3.14%</a:t>
            </a:r>
            <a:endParaRPr lang="en-US" sz="1400" dirty="0"/>
          </a:p>
        </p:txBody>
      </p:sp>
      <p:sp>
        <p:nvSpPr>
          <p:cNvPr id="24" name="stat Precision"/>
          <p:cNvSpPr/>
          <p:nvPr/>
        </p:nvSpPr>
        <p:spPr>
          <a:xfrm>
            <a:off x="6080760" y="3794760"/>
            <a:ext cx="2697480" cy="1920240"/>
          </a:xfrm>
          <a:prstGeom prst="roundRect">
            <a:avLst>
              <a:gd name="adj" fmla="val 3810"/>
            </a:avLst>
          </a:prstGeom>
          <a:solidFill>
            <a:schemeClr val="bg2"/>
          </a:solidFill>
          <a:ln/>
        </p:spPr>
      </p:sp>
      <p:sp>
        <p:nvSpPr>
          <p:cNvPr id="25" name="Text 23"/>
          <p:cNvSpPr txBox="1"/>
          <p:nvPr/>
        </p:nvSpPr>
        <p:spPr>
          <a:xfrm>
            <a:off x="6309360" y="3959352"/>
            <a:ext cx="2240280" cy="731520"/>
          </a:xfrm>
          <a:prstGeom prst="rect">
            <a:avLst/>
          </a:prstGeom>
          <a:noFill/>
          <a:ln/>
        </p:spPr>
        <p:txBody>
          <a:bodyPr wrap="square" lIns="0" tIns="0" rIns="0" bIns="0" rtlCol="0" anchor="ctr"/>
          <a:lstStyle/>
          <a:p>
            <a:pPr indent="0" marL="0">
              <a:buNone/>
            </a:pPr>
            <a:r>
              <a:rPr lang="en-US" sz="4000" b="1" dirty="0">
                <a:solidFill>
                  <a:schemeClr val="tx1"/>
                </a:solidFill>
              </a:rPr>
              <a:t>85.5%</a:t>
            </a:r>
            <a:endParaRPr lang="en-US" sz="4000" dirty="0"/>
          </a:p>
        </p:txBody>
      </p:sp>
      <p:sp>
        <p:nvSpPr>
          <p:cNvPr id="26" name="Text 24"/>
          <p:cNvSpPr txBox="1"/>
          <p:nvPr/>
        </p:nvSpPr>
        <p:spPr>
          <a:xfrm>
            <a:off x="6309360" y="4709160"/>
            <a:ext cx="2240280" cy="320040"/>
          </a:xfrm>
          <a:prstGeom prst="rect">
            <a:avLst/>
          </a:prstGeom>
          <a:noFill/>
          <a:ln/>
        </p:spPr>
        <p:txBody>
          <a:bodyPr wrap="square" lIns="0" tIns="0" rIns="0" bIns="0" rtlCol="0" anchor="t"/>
          <a:lstStyle/>
          <a:p>
            <a:pPr indent="0" marL="0">
              <a:buNone/>
            </a:pPr>
            <a:r>
              <a:rPr lang="en-US" sz="1600" b="1" dirty="0">
                <a:solidFill>
                  <a:schemeClr val="tx1"/>
                </a:solidFill>
              </a:rPr>
              <a:t>Precision</a:t>
            </a:r>
            <a:endParaRPr lang="en-US" sz="1600" dirty="0"/>
          </a:p>
        </p:txBody>
      </p:sp>
      <p:sp>
        <p:nvSpPr>
          <p:cNvPr id="27" name="Text 25"/>
          <p:cNvSpPr txBox="1"/>
          <p:nvPr/>
        </p:nvSpPr>
        <p:spPr>
          <a:xfrm>
            <a:off x="6309360" y="5056632"/>
            <a:ext cx="2240280" cy="548640"/>
          </a:xfrm>
          <a:prstGeom prst="rect">
            <a:avLst/>
          </a:prstGeom>
          <a:noFill/>
          <a:ln/>
        </p:spPr>
        <p:txBody>
          <a:bodyPr wrap="square" lIns="0" tIns="0" rIns="0" bIns="0" rtlCol="0" anchor="t"/>
          <a:lstStyle/>
          <a:p>
            <a:pPr indent="0" marL="0">
              <a:buNone/>
            </a:pPr>
            <a:r>
              <a:rPr lang="en-US" sz="1400" dirty="0">
                <a:solidFill>
                  <a:schemeClr val="accent6"/>
                </a:solidFill>
              </a:rPr>
              <a:t>Share of predicted tags that were right</a:t>
            </a:r>
            <a:endParaRPr lang="en-US" sz="1400" dirty="0"/>
          </a:p>
        </p:txBody>
      </p:sp>
      <p:sp>
        <p:nvSpPr>
          <p:cNvPr id="28" name="stat Recall"/>
          <p:cNvSpPr/>
          <p:nvPr/>
        </p:nvSpPr>
        <p:spPr>
          <a:xfrm>
            <a:off x="8915400" y="3794760"/>
            <a:ext cx="2697480" cy="1920240"/>
          </a:xfrm>
          <a:prstGeom prst="roundRect">
            <a:avLst>
              <a:gd name="adj" fmla="val 3810"/>
            </a:avLst>
          </a:prstGeom>
          <a:solidFill>
            <a:schemeClr val="bg2"/>
          </a:solidFill>
          <a:ln/>
        </p:spPr>
      </p:sp>
      <p:sp>
        <p:nvSpPr>
          <p:cNvPr id="29" name="Text 27"/>
          <p:cNvSpPr txBox="1"/>
          <p:nvPr/>
        </p:nvSpPr>
        <p:spPr>
          <a:xfrm>
            <a:off x="9144000" y="3959352"/>
            <a:ext cx="2240280" cy="731520"/>
          </a:xfrm>
          <a:prstGeom prst="rect">
            <a:avLst/>
          </a:prstGeom>
          <a:noFill/>
          <a:ln/>
        </p:spPr>
        <p:txBody>
          <a:bodyPr wrap="square" lIns="0" tIns="0" rIns="0" bIns="0" rtlCol="0" anchor="ctr"/>
          <a:lstStyle/>
          <a:p>
            <a:pPr indent="0" marL="0">
              <a:buNone/>
            </a:pPr>
            <a:r>
              <a:rPr lang="en-US" sz="4000" b="1" dirty="0">
                <a:solidFill>
                  <a:schemeClr val="tx1"/>
                </a:solidFill>
              </a:rPr>
              <a:t>46.0%</a:t>
            </a:r>
            <a:endParaRPr lang="en-US" sz="4000" dirty="0"/>
          </a:p>
        </p:txBody>
      </p:sp>
      <p:sp>
        <p:nvSpPr>
          <p:cNvPr id="30" name="Text 28"/>
          <p:cNvSpPr txBox="1"/>
          <p:nvPr/>
        </p:nvSpPr>
        <p:spPr>
          <a:xfrm>
            <a:off x="9144000" y="4709160"/>
            <a:ext cx="2240280" cy="320040"/>
          </a:xfrm>
          <a:prstGeom prst="rect">
            <a:avLst/>
          </a:prstGeom>
          <a:noFill/>
          <a:ln/>
        </p:spPr>
        <p:txBody>
          <a:bodyPr wrap="square" lIns="0" tIns="0" rIns="0" bIns="0" rtlCol="0" anchor="t"/>
          <a:lstStyle/>
          <a:p>
            <a:pPr indent="0" marL="0">
              <a:buNone/>
            </a:pPr>
            <a:r>
              <a:rPr lang="en-US" sz="1600" b="1" dirty="0">
                <a:solidFill>
                  <a:schemeClr val="tx1"/>
                </a:solidFill>
              </a:rPr>
              <a:t>Recall</a:t>
            </a:r>
            <a:endParaRPr lang="en-US" sz="1600" dirty="0"/>
          </a:p>
        </p:txBody>
      </p:sp>
      <p:sp>
        <p:nvSpPr>
          <p:cNvPr id="31" name="Text 29"/>
          <p:cNvSpPr txBox="1"/>
          <p:nvPr/>
        </p:nvSpPr>
        <p:spPr>
          <a:xfrm>
            <a:off x="9144000" y="5056632"/>
            <a:ext cx="2240280" cy="548640"/>
          </a:xfrm>
          <a:prstGeom prst="rect">
            <a:avLst/>
          </a:prstGeom>
          <a:noFill/>
          <a:ln/>
        </p:spPr>
        <p:txBody>
          <a:bodyPr wrap="square" lIns="0" tIns="0" rIns="0" bIns="0" rtlCol="0" anchor="t"/>
          <a:lstStyle/>
          <a:p>
            <a:pPr indent="0" marL="0">
              <a:buNone/>
            </a:pPr>
            <a:r>
              <a:rPr lang="en-US" sz="1400" dirty="0">
                <a:solidFill>
                  <a:schemeClr val="accent6"/>
                </a:solidFill>
              </a:rPr>
              <a:t>Share of actual tags the model found</a:t>
            </a:r>
            <a:endParaRPr lang="en-US" sz="1400" dirty="0"/>
          </a:p>
        </p:txBody>
      </p:sp>
      <p:sp>
        <p:nvSpPr>
          <p:cNvPr id="32" name="Text 30"/>
          <p:cNvSpPr txBox="1"/>
          <p:nvPr/>
        </p:nvSpPr>
        <p:spPr>
          <a:xfrm>
            <a:off x="548640" y="5925312"/>
            <a:ext cx="11064240" cy="320040"/>
          </a:xfrm>
          <a:prstGeom prst="rect">
            <a:avLst/>
          </a:prstGeom>
          <a:noFill/>
          <a:ln/>
        </p:spPr>
        <p:txBody>
          <a:bodyPr wrap="square" lIns="0" tIns="0" rIns="0" bIns="0" rtlCol="0" anchor="t"/>
          <a:lstStyle/>
          <a:p>
            <a:pPr indent="0" marL="0">
              <a:buNone/>
            </a:pPr>
            <a:r>
              <a:rPr lang="en-US" sz="1200" dirty="0">
                <a:solidFill>
                  <a:schemeClr val="accent6"/>
                </a:solidFill>
              </a:rPr>
              <a:t>Precision and recall were added in 2026, from the notebook’s 100 per-tag confusion matrices.</a:t>
            </a:r>
            <a:endParaRPr lang="en-US" sz="12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algn="l" indent="0" marL="0">
              <a:buNone/>
            </a:pPr>
            <a:r>
              <a:rPr lang="en-US" sz="3000" b="1" dirty="0">
                <a:solidFill>
                  <a:schemeClr val="tx1"/>
                </a:solidFill>
              </a:rPr>
              <a:t>Most of its guesses were right, but it missed over half the tags</a:t>
            </a:r>
            <a:endParaRPr lang="en-US" sz="3000" dirty="0"/>
          </a:p>
        </p:txBody>
      </p:sp>
      <p:sp>
        <p:nvSpPr>
          <p:cNvPr id="3" name="Text 0"/>
          <p:cNvSpPr/>
          <p:nvPr>
            <p:ph idx="101" type="body" hasCustomPrompt="1"/>
          </p:nvPr>
        </p:nvSpPr>
        <p:spPr>
          <a:xfrm>
            <a:off x="548640" y="987552"/>
            <a:ext cx="11064240" cy="411480"/>
          </a:xfrm>
          <a:prstGeom prst="rect">
            <a:avLst/>
          </a:prstGeom>
          <a:noFill/>
          <a:ln/>
        </p:spPr>
        <p:txBody>
          <a:bodyPr wrap="square" lIns="0" tIns="0" rIns="0" bIns="0" rtlCol="0" anchor="ctr"/>
          <a:lstStyle/>
          <a:p>
            <a:pPr algn="l" indent="0" marL="0">
              <a:buNone/>
            </a:pPr>
            <a:r>
              <a:rPr lang="en-US" sz="1600" dirty="0">
                <a:solidFill>
                  <a:schemeClr val="accent6"/>
                </a:solidFill>
              </a:rPr>
              <a:t>All 100 tags across the 5,071 test questions</a:t>
            </a:r>
            <a:endParaRPr lang="en-US" sz="1600" dirty="0"/>
          </a:p>
        </p:txBody>
      </p:sp>
      <p:graphicFrame>
        <p:nvGraphicFramePr>
          <p:cNvPr id="4" name="Chart 0" descr=""/>
          <p:cNvGraphicFramePr/>
          <p:nvPr/>
        </p:nvGraphicFramePr>
        <p:xfrm>
          <a:off x="411480" y="1645920"/>
          <a:ext cx="7680960" cy="3840480"/>
        </p:xfrm>
        <a:graphic xmlns:a="http://schemas.openxmlformats.org/drawingml/2006/main">
          <a:graphicData uri="http://schemas.openxmlformats.org/drawingml/2006/chart">
            <c:chart xmlns:c="http://schemas.openxmlformats.org/drawingml/2006/chart" r:id="rId1"/>
          </a:graphicData>
        </a:graphic>
      </p:graphicFrame>
      <p:sp>
        <p:nvSpPr>
          <p:cNvPr id="5" name="stat Precision"/>
          <p:cNvSpPr/>
          <p:nvPr/>
        </p:nvSpPr>
        <p:spPr>
          <a:xfrm>
            <a:off x="8412480" y="1691640"/>
            <a:ext cx="3200400" cy="1828800"/>
          </a:xfrm>
          <a:prstGeom prst="roundRect">
            <a:avLst>
              <a:gd name="adj" fmla="val 4000"/>
            </a:avLst>
          </a:prstGeom>
          <a:solidFill>
            <a:schemeClr val="bg2"/>
          </a:solidFill>
          <a:ln/>
        </p:spPr>
      </p:sp>
      <p:sp>
        <p:nvSpPr>
          <p:cNvPr id="6" name="Text 3"/>
          <p:cNvSpPr txBox="1"/>
          <p:nvPr/>
        </p:nvSpPr>
        <p:spPr>
          <a:xfrm>
            <a:off x="8641080" y="1856232"/>
            <a:ext cx="2743200" cy="731520"/>
          </a:xfrm>
          <a:prstGeom prst="rect">
            <a:avLst/>
          </a:prstGeom>
          <a:noFill/>
          <a:ln/>
        </p:spPr>
        <p:txBody>
          <a:bodyPr wrap="square" lIns="0" tIns="0" rIns="0" bIns="0" rtlCol="0" anchor="ctr"/>
          <a:lstStyle/>
          <a:p>
            <a:pPr indent="0" marL="0">
              <a:buNone/>
            </a:pPr>
            <a:r>
              <a:rPr lang="en-US" sz="4000" b="1" dirty="0">
                <a:solidFill>
                  <a:schemeClr val="tx1"/>
                </a:solidFill>
              </a:rPr>
              <a:t>85.5%</a:t>
            </a:r>
            <a:endParaRPr lang="en-US" sz="4000" dirty="0"/>
          </a:p>
        </p:txBody>
      </p:sp>
      <p:sp>
        <p:nvSpPr>
          <p:cNvPr id="7" name="Text 4"/>
          <p:cNvSpPr txBox="1"/>
          <p:nvPr/>
        </p:nvSpPr>
        <p:spPr>
          <a:xfrm>
            <a:off x="8641080" y="2606040"/>
            <a:ext cx="2743200" cy="320040"/>
          </a:xfrm>
          <a:prstGeom prst="rect">
            <a:avLst/>
          </a:prstGeom>
          <a:noFill/>
          <a:ln/>
        </p:spPr>
        <p:txBody>
          <a:bodyPr wrap="square" lIns="0" tIns="0" rIns="0" bIns="0" rtlCol="0" anchor="t"/>
          <a:lstStyle/>
          <a:p>
            <a:pPr indent="0" marL="0">
              <a:buNone/>
            </a:pPr>
            <a:r>
              <a:rPr lang="en-US" sz="1600" b="1" dirty="0">
                <a:solidFill>
                  <a:schemeClr val="tx1"/>
                </a:solidFill>
              </a:rPr>
              <a:t>Precision</a:t>
            </a:r>
            <a:endParaRPr lang="en-US" sz="1600" dirty="0"/>
          </a:p>
        </p:txBody>
      </p:sp>
      <p:sp>
        <p:nvSpPr>
          <p:cNvPr id="8" name="Text 5"/>
          <p:cNvSpPr txBox="1"/>
          <p:nvPr/>
        </p:nvSpPr>
        <p:spPr>
          <a:xfrm>
            <a:off x="8641080" y="2953512"/>
            <a:ext cx="2743200" cy="457200"/>
          </a:xfrm>
          <a:prstGeom prst="rect">
            <a:avLst/>
          </a:prstGeom>
          <a:noFill/>
          <a:ln/>
        </p:spPr>
        <p:txBody>
          <a:bodyPr wrap="square" lIns="0" tIns="0" rIns="0" bIns="0" rtlCol="0" anchor="t"/>
          <a:lstStyle/>
          <a:p>
            <a:pPr indent="0" marL="0">
              <a:buNone/>
            </a:pPr>
            <a:r>
              <a:rPr lang="en-US" sz="1400" dirty="0">
                <a:solidFill>
                  <a:schemeClr val="accent6"/>
                </a:solidFill>
              </a:rPr>
              <a:t>3,842 of the 4,494 predicted tags were right</a:t>
            </a:r>
            <a:endParaRPr lang="en-US" sz="1400" dirty="0"/>
          </a:p>
        </p:txBody>
      </p:sp>
      <p:sp>
        <p:nvSpPr>
          <p:cNvPr id="9" name="stat Recall"/>
          <p:cNvSpPr/>
          <p:nvPr/>
        </p:nvSpPr>
        <p:spPr>
          <a:xfrm>
            <a:off x="8412480" y="3657600"/>
            <a:ext cx="3200400" cy="1828800"/>
          </a:xfrm>
          <a:prstGeom prst="roundRect">
            <a:avLst>
              <a:gd name="adj" fmla="val 4000"/>
            </a:avLst>
          </a:prstGeom>
          <a:solidFill>
            <a:schemeClr val="bg2"/>
          </a:solidFill>
          <a:ln/>
        </p:spPr>
      </p:sp>
      <p:sp>
        <p:nvSpPr>
          <p:cNvPr id="10" name="Text 7"/>
          <p:cNvSpPr txBox="1"/>
          <p:nvPr/>
        </p:nvSpPr>
        <p:spPr>
          <a:xfrm>
            <a:off x="8641080" y="3822192"/>
            <a:ext cx="2743200" cy="731520"/>
          </a:xfrm>
          <a:prstGeom prst="rect">
            <a:avLst/>
          </a:prstGeom>
          <a:noFill/>
          <a:ln/>
        </p:spPr>
        <p:txBody>
          <a:bodyPr wrap="square" lIns="0" tIns="0" rIns="0" bIns="0" rtlCol="0" anchor="ctr"/>
          <a:lstStyle/>
          <a:p>
            <a:pPr indent="0" marL="0">
              <a:buNone/>
            </a:pPr>
            <a:r>
              <a:rPr lang="en-US" sz="4000" b="1" dirty="0">
                <a:solidFill>
                  <a:schemeClr val="tx1"/>
                </a:solidFill>
              </a:rPr>
              <a:t>46.0%</a:t>
            </a:r>
            <a:endParaRPr lang="en-US" sz="4000" dirty="0"/>
          </a:p>
        </p:txBody>
      </p:sp>
      <p:sp>
        <p:nvSpPr>
          <p:cNvPr id="11" name="Text 8"/>
          <p:cNvSpPr txBox="1"/>
          <p:nvPr/>
        </p:nvSpPr>
        <p:spPr>
          <a:xfrm>
            <a:off x="8641080" y="4572000"/>
            <a:ext cx="2743200" cy="320040"/>
          </a:xfrm>
          <a:prstGeom prst="rect">
            <a:avLst/>
          </a:prstGeom>
          <a:noFill/>
          <a:ln/>
        </p:spPr>
        <p:txBody>
          <a:bodyPr wrap="square" lIns="0" tIns="0" rIns="0" bIns="0" rtlCol="0" anchor="t"/>
          <a:lstStyle/>
          <a:p>
            <a:pPr indent="0" marL="0">
              <a:buNone/>
            </a:pPr>
            <a:r>
              <a:rPr lang="en-US" sz="1600" b="1" dirty="0">
                <a:solidFill>
                  <a:schemeClr val="tx1"/>
                </a:solidFill>
              </a:rPr>
              <a:t>Recall</a:t>
            </a:r>
            <a:endParaRPr lang="en-US" sz="1600" dirty="0"/>
          </a:p>
        </p:txBody>
      </p:sp>
      <p:sp>
        <p:nvSpPr>
          <p:cNvPr id="12" name="Text 9"/>
          <p:cNvSpPr txBox="1"/>
          <p:nvPr/>
        </p:nvSpPr>
        <p:spPr>
          <a:xfrm>
            <a:off x="8641080" y="4919472"/>
            <a:ext cx="2743200" cy="457200"/>
          </a:xfrm>
          <a:prstGeom prst="rect">
            <a:avLst/>
          </a:prstGeom>
          <a:noFill/>
          <a:ln/>
        </p:spPr>
        <p:txBody>
          <a:bodyPr wrap="square" lIns="0" tIns="0" rIns="0" bIns="0" rtlCol="0" anchor="t"/>
          <a:lstStyle/>
          <a:p>
            <a:pPr indent="0" marL="0">
              <a:buNone/>
            </a:pPr>
            <a:r>
              <a:rPr lang="en-US" sz="1400" dirty="0">
                <a:solidFill>
                  <a:schemeClr val="accent6"/>
                </a:solidFill>
              </a:rPr>
              <a:t>3,842 of the 8,350 actual tags were found</a:t>
            </a:r>
            <a:endParaRPr lang="en-US" sz="1400" dirty="0"/>
          </a:p>
        </p:txBody>
      </p:sp>
      <p:sp>
        <p:nvSpPr>
          <p:cNvPr id="13" name="Text 10"/>
          <p:cNvSpPr txBox="1"/>
          <p:nvPr/>
        </p:nvSpPr>
        <p:spPr>
          <a:xfrm>
            <a:off x="548640" y="5715000"/>
            <a:ext cx="11064240" cy="548640"/>
          </a:xfrm>
          <a:prstGeom prst="rect">
            <a:avLst/>
          </a:prstGeom>
          <a:noFill/>
          <a:ln/>
        </p:spPr>
        <p:txBody>
          <a:bodyPr wrap="square" lIns="0" tIns="0" rIns="0" bIns="0" rtlCol="0" anchor="t"/>
          <a:lstStyle/>
          <a:p>
            <a:pPr indent="0" marL="0">
              <a:buNone/>
            </a:pPr>
            <a:r>
              <a:rPr lang="en-US" sz="1400" dirty="0">
                <a:solidFill>
                  <a:schemeClr val="tx1"/>
                </a:solidFill>
              </a:rPr>
              <a:t>Every tag used the same default cutoff. A separate cutoff for each tag could trade some precision for more recall.</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algn="l" indent="0" marL="0">
              <a:buNone/>
            </a:pPr>
            <a:r>
              <a:rPr lang="en-US" sz="3000" b="1" dirty="0">
                <a:solidFill>
                  <a:schemeClr val="tx1"/>
                </a:solidFill>
              </a:rPr>
              <a:t>Two tags up close: git and c#</a:t>
            </a:r>
            <a:endParaRPr lang="en-US" sz="3000" dirty="0"/>
          </a:p>
        </p:txBody>
      </p:sp>
      <p:sp>
        <p:nvSpPr>
          <p:cNvPr id="3" name="Text 0"/>
          <p:cNvSpPr/>
          <p:nvPr>
            <p:ph idx="101" type="body" hasCustomPrompt="1"/>
          </p:nvPr>
        </p:nvSpPr>
        <p:spPr>
          <a:xfrm>
            <a:off x="548640" y="987552"/>
            <a:ext cx="11064240" cy="411480"/>
          </a:xfrm>
          <a:prstGeom prst="rect">
            <a:avLst/>
          </a:prstGeom>
          <a:noFill/>
          <a:ln/>
        </p:spPr>
        <p:txBody>
          <a:bodyPr wrap="square" lIns="0" tIns="0" rIns="0" bIns="0" rtlCol="0" anchor="ctr"/>
          <a:lstStyle/>
          <a:p>
            <a:pPr algn="l" indent="0" marL="0">
              <a:buNone/>
            </a:pPr>
            <a:r>
              <a:rPr lang="en-US" sz="1600" dirty="0">
                <a:solidFill>
                  <a:schemeClr val="accent6"/>
                </a:solidFill>
              </a:rPr>
              <a:t>Each tag has its own yes or no model. Its confusion matrix shows where it went wrong.</a:t>
            </a:r>
            <a:endParaRPr lang="en-US" sz="1600" dirty="0"/>
          </a:p>
        </p:txBody>
      </p:sp>
      <p:sp>
        <p:nvSpPr>
          <p:cNvPr id="4" name="Text 2"/>
          <p:cNvSpPr txBox="1"/>
          <p:nvPr/>
        </p:nvSpPr>
        <p:spPr>
          <a:xfrm>
            <a:off x="1920240" y="1764792"/>
            <a:ext cx="1874520" cy="320040"/>
          </a:xfrm>
          <a:prstGeom prst="rect">
            <a:avLst/>
          </a:prstGeom>
          <a:noFill/>
          <a:ln/>
        </p:spPr>
        <p:txBody>
          <a:bodyPr wrap="square" lIns="0" tIns="0" rIns="0" bIns="0" rtlCol="0" anchor="t"/>
          <a:lstStyle/>
          <a:p>
            <a:pPr algn="ctr" indent="0" marL="0">
              <a:buNone/>
            </a:pPr>
            <a:r>
              <a:rPr lang="en-US" sz="1300" b="1" dirty="0">
                <a:solidFill>
                  <a:schemeClr val="accent6"/>
                </a:solidFill>
              </a:rPr>
              <a:t>Model said yes</a:t>
            </a:r>
            <a:endParaRPr lang="en-US" sz="1300" dirty="0"/>
          </a:p>
        </p:txBody>
      </p:sp>
      <p:sp>
        <p:nvSpPr>
          <p:cNvPr id="5" name="Text 3"/>
          <p:cNvSpPr txBox="1"/>
          <p:nvPr/>
        </p:nvSpPr>
        <p:spPr>
          <a:xfrm>
            <a:off x="3867912" y="1764792"/>
            <a:ext cx="1874520" cy="320040"/>
          </a:xfrm>
          <a:prstGeom prst="rect">
            <a:avLst/>
          </a:prstGeom>
          <a:noFill/>
          <a:ln/>
        </p:spPr>
        <p:txBody>
          <a:bodyPr wrap="square" lIns="0" tIns="0" rIns="0" bIns="0" rtlCol="0" anchor="t"/>
          <a:lstStyle/>
          <a:p>
            <a:pPr algn="ctr" indent="0" marL="0">
              <a:buNone/>
            </a:pPr>
            <a:r>
              <a:rPr lang="en-US" sz="1300" b="1" dirty="0">
                <a:solidFill>
                  <a:schemeClr val="accent6"/>
                </a:solidFill>
              </a:rPr>
              <a:t>Model said no</a:t>
            </a:r>
            <a:endParaRPr lang="en-US" sz="1300" dirty="0"/>
          </a:p>
        </p:txBody>
      </p:sp>
      <p:sp>
        <p:nvSpPr>
          <p:cNvPr id="6" name="Text 4"/>
          <p:cNvSpPr txBox="1"/>
          <p:nvPr/>
        </p:nvSpPr>
        <p:spPr>
          <a:xfrm>
            <a:off x="548640" y="2148840"/>
            <a:ext cx="1280160" cy="1051560"/>
          </a:xfrm>
          <a:prstGeom prst="rect">
            <a:avLst/>
          </a:prstGeom>
          <a:noFill/>
          <a:ln/>
        </p:spPr>
        <p:txBody>
          <a:bodyPr wrap="square" lIns="0" tIns="0" rIns="0" bIns="0" rtlCol="0" anchor="ctr"/>
          <a:lstStyle/>
          <a:p>
            <a:pPr indent="0" marL="0">
              <a:buNone/>
            </a:pPr>
            <a:r>
              <a:rPr lang="en-US" sz="1300" b="1" dirty="0">
                <a:solidFill>
                  <a:schemeClr val="accent6"/>
                </a:solidFill>
              </a:rPr>
              <a:t>Has git</a:t>
            </a:r>
            <a:endParaRPr lang="en-US" sz="1300" dirty="0"/>
          </a:p>
          <a:p>
            <a:pPr indent="0" marL="0">
              <a:buNone/>
            </a:pPr>
            <a:r>
              <a:rPr lang="en-US" sz="1300" b="1" dirty="0">
                <a:solidFill>
                  <a:schemeClr val="accent6"/>
                </a:solidFill>
              </a:rPr>
              <a:t>(170)</a:t>
            </a:r>
            <a:endParaRPr lang="en-US" sz="1300" dirty="0"/>
          </a:p>
        </p:txBody>
      </p:sp>
      <p:sp>
        <p:nvSpPr>
          <p:cNvPr id="7" name="Text 5"/>
          <p:cNvSpPr txBox="1"/>
          <p:nvPr/>
        </p:nvSpPr>
        <p:spPr>
          <a:xfrm>
            <a:off x="548640" y="3273552"/>
            <a:ext cx="1280160" cy="1051560"/>
          </a:xfrm>
          <a:prstGeom prst="rect">
            <a:avLst/>
          </a:prstGeom>
          <a:noFill/>
          <a:ln/>
        </p:spPr>
        <p:txBody>
          <a:bodyPr wrap="square" lIns="0" tIns="0" rIns="0" bIns="0" rtlCol="0" anchor="ctr"/>
          <a:lstStyle/>
          <a:p>
            <a:pPr indent="0" marL="0">
              <a:buNone/>
            </a:pPr>
            <a:r>
              <a:rPr lang="en-US" sz="1300" b="1" dirty="0">
                <a:solidFill>
                  <a:schemeClr val="accent6"/>
                </a:solidFill>
              </a:rPr>
              <a:t>Doesn’t</a:t>
            </a:r>
            <a:endParaRPr lang="en-US" sz="1300" dirty="0"/>
          </a:p>
          <a:p>
            <a:pPr indent="0" marL="0">
              <a:buNone/>
            </a:pPr>
            <a:r>
              <a:rPr lang="en-US" sz="1300" b="1" dirty="0">
                <a:solidFill>
                  <a:schemeClr val="accent6"/>
                </a:solidFill>
              </a:rPr>
              <a:t>(4,901)</a:t>
            </a:r>
            <a:endParaRPr lang="en-US" sz="1300" dirty="0"/>
          </a:p>
        </p:txBody>
      </p:sp>
      <p:sp>
        <p:nvSpPr>
          <p:cNvPr id="8" name="git found"/>
          <p:cNvSpPr/>
          <p:nvPr/>
        </p:nvSpPr>
        <p:spPr>
          <a:xfrm>
            <a:off x="1920240" y="2148840"/>
            <a:ext cx="1874520" cy="1051560"/>
          </a:xfrm>
          <a:prstGeom prst="roundRect">
            <a:avLst>
              <a:gd name="adj" fmla="val 5217"/>
            </a:avLst>
          </a:prstGeom>
          <a:solidFill>
            <a:schemeClr val="accent2"/>
          </a:solidFill>
          <a:ln/>
        </p:spPr>
        <p:txBody>
          <a:bodyPr wrap="square" lIns="0" tIns="0" rIns="0" bIns="0" rtlCol="0" anchor="ctr"/>
          <a:lstStyle/>
          <a:p>
            <a:pPr algn="ctr" indent="0" marL="0">
              <a:buNone/>
            </a:pPr>
            <a:r>
              <a:rPr lang="en-US" sz="2800" b="1" dirty="0">
                <a:solidFill>
                  <a:schemeClr val="bg1"/>
                </a:solidFill>
              </a:rPr>
              <a:t>148</a:t>
            </a:r>
            <a:endParaRPr lang="en-US" sz="2800" dirty="0"/>
          </a:p>
          <a:p>
            <a:pPr algn="ctr" indent="0" marL="0">
              <a:buNone/>
            </a:pPr>
            <a:r>
              <a:rPr lang="en-US" sz="1300" dirty="0">
                <a:solidFill>
                  <a:schemeClr val="bg1"/>
                </a:solidFill>
              </a:rPr>
              <a:t>found</a:t>
            </a:r>
            <a:endParaRPr lang="en-US" sz="2800" dirty="0"/>
          </a:p>
        </p:txBody>
      </p:sp>
      <p:sp>
        <p:nvSpPr>
          <p:cNvPr id="9" name="git missed"/>
          <p:cNvSpPr/>
          <p:nvPr/>
        </p:nvSpPr>
        <p:spPr>
          <a:xfrm>
            <a:off x="3867912" y="2148840"/>
            <a:ext cx="1874520" cy="1051560"/>
          </a:xfrm>
          <a:prstGeom prst="roundRect">
            <a:avLst>
              <a:gd name="adj" fmla="val 5217"/>
            </a:avLst>
          </a:prstGeom>
          <a:solidFill>
            <a:schemeClr val="accent3"/>
          </a:solidFill>
          <a:ln/>
        </p:spPr>
        <p:txBody>
          <a:bodyPr wrap="square" lIns="0" tIns="0" rIns="0" bIns="0" rtlCol="0" anchor="ctr"/>
          <a:lstStyle/>
          <a:p>
            <a:pPr algn="ctr" indent="0" marL="0">
              <a:buNone/>
            </a:pPr>
            <a:r>
              <a:rPr lang="en-US" sz="2800" b="1" dirty="0">
                <a:solidFill>
                  <a:schemeClr val="tx1"/>
                </a:solidFill>
              </a:rPr>
              <a:t>22</a:t>
            </a:r>
            <a:endParaRPr lang="en-US" sz="2800" dirty="0"/>
          </a:p>
          <a:p>
            <a:pPr algn="ctr" indent="0" marL="0">
              <a:buNone/>
            </a:pPr>
            <a:r>
              <a:rPr lang="en-US" sz="1300" dirty="0">
                <a:solidFill>
                  <a:schemeClr val="tx1"/>
                </a:solidFill>
              </a:rPr>
              <a:t>missed</a:t>
            </a:r>
            <a:endParaRPr lang="en-US" sz="2800" dirty="0"/>
          </a:p>
        </p:txBody>
      </p:sp>
      <p:sp>
        <p:nvSpPr>
          <p:cNvPr id="10" name="git wrong"/>
          <p:cNvSpPr/>
          <p:nvPr/>
        </p:nvSpPr>
        <p:spPr>
          <a:xfrm>
            <a:off x="1920240" y="3273552"/>
            <a:ext cx="1874520" cy="1051560"/>
          </a:xfrm>
          <a:prstGeom prst="roundRect">
            <a:avLst>
              <a:gd name="adj" fmla="val 5217"/>
            </a:avLst>
          </a:prstGeom>
          <a:solidFill>
            <a:schemeClr val="accent1"/>
          </a:solidFill>
          <a:ln/>
        </p:spPr>
        <p:txBody>
          <a:bodyPr wrap="square" lIns="0" tIns="0" rIns="0" bIns="0" rtlCol="0" anchor="ctr"/>
          <a:lstStyle/>
          <a:p>
            <a:pPr algn="ctr" indent="0" marL="0">
              <a:buNone/>
            </a:pPr>
            <a:r>
              <a:rPr lang="en-US" sz="2800" b="1" dirty="0">
                <a:solidFill>
                  <a:schemeClr val="tx1"/>
                </a:solidFill>
              </a:rPr>
              <a:t>4</a:t>
            </a:r>
            <a:endParaRPr lang="en-US" sz="2800" dirty="0"/>
          </a:p>
          <a:p>
            <a:pPr algn="ctr" indent="0" marL="0">
              <a:buNone/>
            </a:pPr>
            <a:r>
              <a:rPr lang="en-US" sz="1300" dirty="0">
                <a:solidFill>
                  <a:schemeClr val="tx1"/>
                </a:solidFill>
              </a:rPr>
              <a:t>wrong</a:t>
            </a:r>
            <a:endParaRPr lang="en-US" sz="2800" dirty="0"/>
          </a:p>
        </p:txBody>
      </p:sp>
      <p:sp>
        <p:nvSpPr>
          <p:cNvPr id="11" name="git correct no"/>
          <p:cNvSpPr/>
          <p:nvPr/>
        </p:nvSpPr>
        <p:spPr>
          <a:xfrm>
            <a:off x="3867912" y="3273552"/>
            <a:ext cx="1874520" cy="1051560"/>
          </a:xfrm>
          <a:prstGeom prst="roundRect">
            <a:avLst>
              <a:gd name="adj" fmla="val 5217"/>
            </a:avLst>
          </a:prstGeom>
          <a:solidFill>
            <a:schemeClr val="bg2"/>
          </a:solidFill>
          <a:ln/>
        </p:spPr>
        <p:txBody>
          <a:bodyPr wrap="square" lIns="0" tIns="0" rIns="0" bIns="0" rtlCol="0" anchor="ctr"/>
          <a:lstStyle/>
          <a:p>
            <a:pPr algn="ctr" indent="0" marL="0">
              <a:buNone/>
            </a:pPr>
            <a:r>
              <a:rPr lang="en-US" sz="2800" b="1" dirty="0">
                <a:solidFill>
                  <a:schemeClr val="tx1"/>
                </a:solidFill>
              </a:rPr>
              <a:t>4,897</a:t>
            </a:r>
            <a:endParaRPr lang="en-US" sz="2800" dirty="0"/>
          </a:p>
          <a:p>
            <a:pPr algn="ctr" indent="0" marL="0">
              <a:buNone/>
            </a:pPr>
            <a:r>
              <a:rPr lang="en-US" sz="1300" dirty="0">
                <a:solidFill>
                  <a:schemeClr val="tx1"/>
                </a:solidFill>
              </a:rPr>
              <a:t>correct no</a:t>
            </a:r>
            <a:endParaRPr lang="en-US" sz="2800" dirty="0"/>
          </a:p>
        </p:txBody>
      </p:sp>
      <p:sp>
        <p:nvSpPr>
          <p:cNvPr id="12" name="Text 10"/>
          <p:cNvSpPr txBox="1"/>
          <p:nvPr/>
        </p:nvSpPr>
        <p:spPr>
          <a:xfrm>
            <a:off x="548640" y="4572000"/>
            <a:ext cx="5193792" cy="1097280"/>
          </a:xfrm>
          <a:prstGeom prst="rect">
            <a:avLst/>
          </a:prstGeom>
          <a:noFill/>
          <a:ln/>
        </p:spPr>
        <p:txBody>
          <a:bodyPr wrap="square" lIns="0" tIns="0" rIns="0" bIns="0" rtlCol="0" anchor="t"/>
          <a:lstStyle/>
          <a:p>
            <a:pPr indent="0" marL="0">
              <a:spcAft>
                <a:spcPts val="400"/>
              </a:spcAft>
              <a:buNone/>
            </a:pPr>
            <a:r>
              <a:rPr lang="en-US" sz="1400" b="1" dirty="0">
                <a:solidFill>
                  <a:schemeClr val="tx1"/>
                </a:solidFill>
              </a:rPr>
              <a:t>Precision 97%   ·   Recall 87%</a:t>
            </a:r>
            <a:endParaRPr lang="en-US" sz="1400" dirty="0"/>
          </a:p>
          <a:p>
            <a:pPr indent="0" marL="0">
              <a:spcAft>
                <a:spcPts val="400"/>
              </a:spcAft>
              <a:buNone/>
            </a:pPr>
            <a:r>
              <a:rPr lang="en-US" sz="1400" dirty="0">
                <a:solidFill>
                  <a:schemeClr val="tx1"/>
                </a:solidFill>
              </a:rPr>
              <a:t>“git” was the strongest word for this tag, and the model missed only 22 of 170.</a:t>
            </a:r>
            <a:endParaRPr lang="en-US" sz="1400" dirty="0"/>
          </a:p>
        </p:txBody>
      </p:sp>
      <p:sp>
        <p:nvSpPr>
          <p:cNvPr id="13" name="Text 11"/>
          <p:cNvSpPr txBox="1"/>
          <p:nvPr/>
        </p:nvSpPr>
        <p:spPr>
          <a:xfrm>
            <a:off x="7543800" y="1764792"/>
            <a:ext cx="1874520" cy="320040"/>
          </a:xfrm>
          <a:prstGeom prst="rect">
            <a:avLst/>
          </a:prstGeom>
          <a:noFill/>
          <a:ln/>
        </p:spPr>
        <p:txBody>
          <a:bodyPr wrap="square" lIns="0" tIns="0" rIns="0" bIns="0" rtlCol="0" anchor="t"/>
          <a:lstStyle/>
          <a:p>
            <a:pPr algn="ctr" indent="0" marL="0">
              <a:buNone/>
            </a:pPr>
            <a:r>
              <a:rPr lang="en-US" sz="1300" b="1" dirty="0">
                <a:solidFill>
                  <a:schemeClr val="accent6"/>
                </a:solidFill>
              </a:rPr>
              <a:t>Model said yes</a:t>
            </a:r>
            <a:endParaRPr lang="en-US" sz="1300" dirty="0"/>
          </a:p>
        </p:txBody>
      </p:sp>
      <p:sp>
        <p:nvSpPr>
          <p:cNvPr id="14" name="Text 12"/>
          <p:cNvSpPr txBox="1"/>
          <p:nvPr/>
        </p:nvSpPr>
        <p:spPr>
          <a:xfrm>
            <a:off x="9491472" y="1764792"/>
            <a:ext cx="1874520" cy="320040"/>
          </a:xfrm>
          <a:prstGeom prst="rect">
            <a:avLst/>
          </a:prstGeom>
          <a:noFill/>
          <a:ln/>
        </p:spPr>
        <p:txBody>
          <a:bodyPr wrap="square" lIns="0" tIns="0" rIns="0" bIns="0" rtlCol="0" anchor="t"/>
          <a:lstStyle/>
          <a:p>
            <a:pPr algn="ctr" indent="0" marL="0">
              <a:buNone/>
            </a:pPr>
            <a:r>
              <a:rPr lang="en-US" sz="1300" b="1" dirty="0">
                <a:solidFill>
                  <a:schemeClr val="accent6"/>
                </a:solidFill>
              </a:rPr>
              <a:t>Model said no</a:t>
            </a:r>
            <a:endParaRPr lang="en-US" sz="1300" dirty="0"/>
          </a:p>
        </p:txBody>
      </p:sp>
      <p:sp>
        <p:nvSpPr>
          <p:cNvPr id="15" name="Text 13"/>
          <p:cNvSpPr txBox="1"/>
          <p:nvPr/>
        </p:nvSpPr>
        <p:spPr>
          <a:xfrm>
            <a:off x="6172200" y="2148840"/>
            <a:ext cx="1280160" cy="1051560"/>
          </a:xfrm>
          <a:prstGeom prst="rect">
            <a:avLst/>
          </a:prstGeom>
          <a:noFill/>
          <a:ln/>
        </p:spPr>
        <p:txBody>
          <a:bodyPr wrap="square" lIns="0" tIns="0" rIns="0" bIns="0" rtlCol="0" anchor="ctr"/>
          <a:lstStyle/>
          <a:p>
            <a:pPr indent="0" marL="0">
              <a:buNone/>
            </a:pPr>
            <a:r>
              <a:rPr lang="en-US" sz="1300" b="1" dirty="0">
                <a:solidFill>
                  <a:schemeClr val="accent6"/>
                </a:solidFill>
              </a:rPr>
              <a:t>Has c#</a:t>
            </a:r>
            <a:endParaRPr lang="en-US" sz="1300" dirty="0"/>
          </a:p>
          <a:p>
            <a:pPr indent="0" marL="0">
              <a:buNone/>
            </a:pPr>
            <a:r>
              <a:rPr lang="en-US" sz="1300" b="1" dirty="0">
                <a:solidFill>
                  <a:schemeClr val="accent6"/>
                </a:solidFill>
              </a:rPr>
              <a:t>(597)</a:t>
            </a:r>
            <a:endParaRPr lang="en-US" sz="1300" dirty="0"/>
          </a:p>
        </p:txBody>
      </p:sp>
      <p:sp>
        <p:nvSpPr>
          <p:cNvPr id="16" name="Text 14"/>
          <p:cNvSpPr txBox="1"/>
          <p:nvPr/>
        </p:nvSpPr>
        <p:spPr>
          <a:xfrm>
            <a:off x="6172200" y="3273552"/>
            <a:ext cx="1280160" cy="1051560"/>
          </a:xfrm>
          <a:prstGeom prst="rect">
            <a:avLst/>
          </a:prstGeom>
          <a:noFill/>
          <a:ln/>
        </p:spPr>
        <p:txBody>
          <a:bodyPr wrap="square" lIns="0" tIns="0" rIns="0" bIns="0" rtlCol="0" anchor="ctr"/>
          <a:lstStyle/>
          <a:p>
            <a:pPr indent="0" marL="0">
              <a:buNone/>
            </a:pPr>
            <a:r>
              <a:rPr lang="en-US" sz="1300" b="1" dirty="0">
                <a:solidFill>
                  <a:schemeClr val="accent6"/>
                </a:solidFill>
              </a:rPr>
              <a:t>Doesn’t</a:t>
            </a:r>
            <a:endParaRPr lang="en-US" sz="1300" dirty="0"/>
          </a:p>
          <a:p>
            <a:pPr indent="0" marL="0">
              <a:buNone/>
            </a:pPr>
            <a:r>
              <a:rPr lang="en-US" sz="1300" b="1" dirty="0">
                <a:solidFill>
                  <a:schemeClr val="accent6"/>
                </a:solidFill>
              </a:rPr>
              <a:t>(4,474)</a:t>
            </a:r>
            <a:endParaRPr lang="en-US" sz="1300" dirty="0"/>
          </a:p>
        </p:txBody>
      </p:sp>
      <p:sp>
        <p:nvSpPr>
          <p:cNvPr id="17" name="c# found"/>
          <p:cNvSpPr/>
          <p:nvPr/>
        </p:nvSpPr>
        <p:spPr>
          <a:xfrm>
            <a:off x="7543800" y="2148840"/>
            <a:ext cx="1874520" cy="1051560"/>
          </a:xfrm>
          <a:prstGeom prst="roundRect">
            <a:avLst>
              <a:gd name="adj" fmla="val 5217"/>
            </a:avLst>
          </a:prstGeom>
          <a:solidFill>
            <a:schemeClr val="accent2"/>
          </a:solidFill>
          <a:ln/>
        </p:spPr>
        <p:txBody>
          <a:bodyPr wrap="square" lIns="0" tIns="0" rIns="0" bIns="0" rtlCol="0" anchor="ctr"/>
          <a:lstStyle/>
          <a:p>
            <a:pPr algn="ctr" indent="0" marL="0">
              <a:buNone/>
            </a:pPr>
            <a:r>
              <a:rPr lang="en-US" sz="2800" b="1" dirty="0">
                <a:solidFill>
                  <a:schemeClr val="bg1"/>
                </a:solidFill>
              </a:rPr>
              <a:t>183</a:t>
            </a:r>
            <a:endParaRPr lang="en-US" sz="2800" dirty="0"/>
          </a:p>
          <a:p>
            <a:pPr algn="ctr" indent="0" marL="0">
              <a:buNone/>
            </a:pPr>
            <a:r>
              <a:rPr lang="en-US" sz="1300" dirty="0">
                <a:solidFill>
                  <a:schemeClr val="bg1"/>
                </a:solidFill>
              </a:rPr>
              <a:t>found</a:t>
            </a:r>
            <a:endParaRPr lang="en-US" sz="2800" dirty="0"/>
          </a:p>
        </p:txBody>
      </p:sp>
      <p:sp>
        <p:nvSpPr>
          <p:cNvPr id="18" name="c# missed"/>
          <p:cNvSpPr/>
          <p:nvPr/>
        </p:nvSpPr>
        <p:spPr>
          <a:xfrm>
            <a:off x="9491472" y="2148840"/>
            <a:ext cx="1874520" cy="1051560"/>
          </a:xfrm>
          <a:prstGeom prst="roundRect">
            <a:avLst>
              <a:gd name="adj" fmla="val 5217"/>
            </a:avLst>
          </a:prstGeom>
          <a:solidFill>
            <a:schemeClr val="accent3"/>
          </a:solidFill>
          <a:ln/>
        </p:spPr>
        <p:txBody>
          <a:bodyPr wrap="square" lIns="0" tIns="0" rIns="0" bIns="0" rtlCol="0" anchor="ctr"/>
          <a:lstStyle/>
          <a:p>
            <a:pPr algn="ctr" indent="0" marL="0">
              <a:buNone/>
            </a:pPr>
            <a:r>
              <a:rPr lang="en-US" sz="2800" b="1" dirty="0">
                <a:solidFill>
                  <a:schemeClr val="tx1"/>
                </a:solidFill>
              </a:rPr>
              <a:t>414</a:t>
            </a:r>
            <a:endParaRPr lang="en-US" sz="2800" dirty="0"/>
          </a:p>
          <a:p>
            <a:pPr algn="ctr" indent="0" marL="0">
              <a:buNone/>
            </a:pPr>
            <a:r>
              <a:rPr lang="en-US" sz="1300" dirty="0">
                <a:solidFill>
                  <a:schemeClr val="tx1"/>
                </a:solidFill>
              </a:rPr>
              <a:t>missed</a:t>
            </a:r>
            <a:endParaRPr lang="en-US" sz="2800" dirty="0"/>
          </a:p>
        </p:txBody>
      </p:sp>
      <p:sp>
        <p:nvSpPr>
          <p:cNvPr id="19" name="c# wrong"/>
          <p:cNvSpPr/>
          <p:nvPr/>
        </p:nvSpPr>
        <p:spPr>
          <a:xfrm>
            <a:off x="7543800" y="3273552"/>
            <a:ext cx="1874520" cy="1051560"/>
          </a:xfrm>
          <a:prstGeom prst="roundRect">
            <a:avLst>
              <a:gd name="adj" fmla="val 5217"/>
            </a:avLst>
          </a:prstGeom>
          <a:solidFill>
            <a:schemeClr val="accent1"/>
          </a:solidFill>
          <a:ln/>
        </p:spPr>
        <p:txBody>
          <a:bodyPr wrap="square" lIns="0" tIns="0" rIns="0" bIns="0" rtlCol="0" anchor="ctr"/>
          <a:lstStyle/>
          <a:p>
            <a:pPr algn="ctr" indent="0" marL="0">
              <a:buNone/>
            </a:pPr>
            <a:r>
              <a:rPr lang="en-US" sz="2800" b="1" dirty="0">
                <a:solidFill>
                  <a:schemeClr val="tx1"/>
                </a:solidFill>
              </a:rPr>
              <a:t>91</a:t>
            </a:r>
            <a:endParaRPr lang="en-US" sz="2800" dirty="0"/>
          </a:p>
          <a:p>
            <a:pPr algn="ctr" indent="0" marL="0">
              <a:buNone/>
            </a:pPr>
            <a:r>
              <a:rPr lang="en-US" sz="1300" dirty="0">
                <a:solidFill>
                  <a:schemeClr val="tx1"/>
                </a:solidFill>
              </a:rPr>
              <a:t>wrong</a:t>
            </a:r>
            <a:endParaRPr lang="en-US" sz="2800" dirty="0"/>
          </a:p>
        </p:txBody>
      </p:sp>
      <p:sp>
        <p:nvSpPr>
          <p:cNvPr id="20" name="c# correct no"/>
          <p:cNvSpPr/>
          <p:nvPr/>
        </p:nvSpPr>
        <p:spPr>
          <a:xfrm>
            <a:off x="9491472" y="3273552"/>
            <a:ext cx="1874520" cy="1051560"/>
          </a:xfrm>
          <a:prstGeom prst="roundRect">
            <a:avLst>
              <a:gd name="adj" fmla="val 5217"/>
            </a:avLst>
          </a:prstGeom>
          <a:solidFill>
            <a:schemeClr val="bg2"/>
          </a:solidFill>
          <a:ln/>
        </p:spPr>
        <p:txBody>
          <a:bodyPr wrap="square" lIns="0" tIns="0" rIns="0" bIns="0" rtlCol="0" anchor="ctr"/>
          <a:lstStyle/>
          <a:p>
            <a:pPr algn="ctr" indent="0" marL="0">
              <a:buNone/>
            </a:pPr>
            <a:r>
              <a:rPr lang="en-US" sz="2800" b="1" dirty="0">
                <a:solidFill>
                  <a:schemeClr val="tx1"/>
                </a:solidFill>
              </a:rPr>
              <a:t>4,383</a:t>
            </a:r>
            <a:endParaRPr lang="en-US" sz="2800" dirty="0"/>
          </a:p>
          <a:p>
            <a:pPr algn="ctr" indent="0" marL="0">
              <a:buNone/>
            </a:pPr>
            <a:r>
              <a:rPr lang="en-US" sz="1300" dirty="0">
                <a:solidFill>
                  <a:schemeClr val="tx1"/>
                </a:solidFill>
              </a:rPr>
              <a:t>correct no</a:t>
            </a:r>
            <a:endParaRPr lang="en-US" sz="2800" dirty="0"/>
          </a:p>
        </p:txBody>
      </p:sp>
      <p:sp>
        <p:nvSpPr>
          <p:cNvPr id="21" name="Text 19"/>
          <p:cNvSpPr txBox="1"/>
          <p:nvPr/>
        </p:nvSpPr>
        <p:spPr>
          <a:xfrm>
            <a:off x="6172200" y="4572000"/>
            <a:ext cx="5193792" cy="1097280"/>
          </a:xfrm>
          <a:prstGeom prst="rect">
            <a:avLst/>
          </a:prstGeom>
          <a:noFill/>
          <a:ln/>
        </p:spPr>
        <p:txBody>
          <a:bodyPr wrap="square" lIns="0" tIns="0" rIns="0" bIns="0" rtlCol="0" anchor="t"/>
          <a:lstStyle/>
          <a:p>
            <a:pPr indent="0" marL="0">
              <a:spcAft>
                <a:spcPts val="400"/>
              </a:spcAft>
              <a:buNone/>
            </a:pPr>
            <a:r>
              <a:rPr lang="en-US" sz="1400" b="1" dirty="0">
                <a:solidFill>
                  <a:schemeClr val="tx1"/>
                </a:solidFill>
              </a:rPr>
              <a:t>Precision 67%   ·   Recall 31%</a:t>
            </a:r>
            <a:endParaRPr lang="en-US" sz="1400" dirty="0"/>
          </a:p>
          <a:p>
            <a:pPr indent="0" marL="0">
              <a:spcAft>
                <a:spcPts val="400"/>
              </a:spcAft>
              <a:buNone/>
            </a:pPr>
            <a:r>
              <a:rPr lang="en-US" sz="1400" dirty="0">
                <a:solidFill>
                  <a:schemeClr val="tx1"/>
                </a:solidFill>
              </a:rPr>
              <a:t>The cleanup dropped “C#” from titles when it was capitalized (slide 14).</a:t>
            </a:r>
            <a:endParaRPr lang="en-US" sz="1400" dirty="0"/>
          </a:p>
        </p:txBody>
      </p:sp>
      <p:sp>
        <p:nvSpPr>
          <p:cNvPr id="22" name="formulas"/>
          <p:cNvSpPr/>
          <p:nvPr/>
        </p:nvSpPr>
        <p:spPr>
          <a:xfrm>
            <a:off x="548640" y="5257800"/>
            <a:ext cx="11064240" cy="731520"/>
          </a:xfrm>
          <a:prstGeom prst="roundRect">
            <a:avLst>
              <a:gd name="adj" fmla="val 10000"/>
            </a:avLst>
          </a:prstGeom>
          <a:solidFill>
            <a:schemeClr val="bg2"/>
          </a:solidFill>
          <a:ln/>
        </p:spPr>
      </p:sp>
      <p:sp>
        <p:nvSpPr>
          <p:cNvPr id="23" name="Text 21"/>
          <p:cNvSpPr txBox="1"/>
          <p:nvPr/>
        </p:nvSpPr>
        <p:spPr>
          <a:xfrm>
            <a:off x="777240" y="5257800"/>
            <a:ext cx="10607040" cy="731520"/>
          </a:xfrm>
          <a:prstGeom prst="rect">
            <a:avLst/>
          </a:prstGeom>
          <a:noFill/>
          <a:ln/>
        </p:spPr>
        <p:txBody>
          <a:bodyPr wrap="square" lIns="0" tIns="0" rIns="0" bIns="0" rtlCol="0" anchor="ctr"/>
          <a:lstStyle/>
          <a:p>
            <a:pPr indent="0" marL="0">
              <a:buNone/>
            </a:pPr>
            <a:r>
              <a:rPr lang="en-US" sz="1500" b="1" dirty="0">
                <a:solidFill>
                  <a:schemeClr val="tx1"/>
                </a:solidFill>
              </a:rPr>
              <a:t>Precision</a:t>
            </a:r>
            <a:pPr indent="0" marL="0">
              <a:buNone/>
            </a:pPr>
            <a:r>
              <a:rPr lang="en-US" sz="1500" dirty="0">
                <a:solidFill>
                  <a:schemeClr val="tx1"/>
                </a:solidFill>
              </a:rPr>
              <a:t> = found ÷ (found + wrong)          </a:t>
            </a:r>
            <a:pPr indent="0" marL="0">
              <a:buNone/>
            </a:pPr>
            <a:r>
              <a:rPr lang="en-US" sz="1500" b="1" dirty="0">
                <a:solidFill>
                  <a:schemeClr val="tx1"/>
                </a:solidFill>
              </a:rPr>
              <a:t>Recall</a:t>
            </a:r>
            <a:pPr indent="0" marL="0">
              <a:buNone/>
            </a:pPr>
            <a:r>
              <a:rPr lang="en-US" sz="1500" dirty="0">
                <a:solidFill>
                  <a:schemeClr val="tx1"/>
                </a:solidFill>
              </a:rPr>
              <a:t> = found ÷ (found + missed)</a:t>
            </a:r>
            <a:endParaRPr lang="en-US" sz="15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algn="l" indent="0" marL="0">
              <a:buNone/>
            </a:pPr>
            <a:r>
              <a:rPr lang="en-US" sz="3000" b="1" dirty="0">
                <a:solidFill>
                  <a:schemeClr val="tx1"/>
                </a:solidFill>
              </a:rPr>
              <a:t>Where it worked and where it didn’t</a:t>
            </a:r>
            <a:endParaRPr lang="en-US" sz="3000" dirty="0"/>
          </a:p>
        </p:txBody>
      </p:sp>
      <p:sp>
        <p:nvSpPr>
          <p:cNvPr id="3" name="Text 0"/>
          <p:cNvSpPr/>
          <p:nvPr>
            <p:ph idx="101" type="body" hasCustomPrompt="1"/>
          </p:nvPr>
        </p:nvSpPr>
        <p:spPr>
          <a:xfrm>
            <a:off x="548640" y="987552"/>
            <a:ext cx="11064240" cy="411480"/>
          </a:xfrm>
          <a:prstGeom prst="rect">
            <a:avLst/>
          </a:prstGeom>
          <a:noFill/>
          <a:ln/>
        </p:spPr>
        <p:txBody>
          <a:bodyPr wrap="square" lIns="0" tIns="0" rIns="0" bIns="0" rtlCol="0" anchor="ctr"/>
          <a:lstStyle/>
          <a:p>
            <a:pPr algn="l" indent="0" marL="0">
              <a:buNone/>
            </a:pPr>
            <a:r>
              <a:rPr lang="en-US" sz="1600" dirty="0">
                <a:solidFill>
                  <a:schemeClr val="accent6"/>
                </a:solidFill>
              </a:rPr>
              <a:t>Recall: the share of questions with the tag that the model caught</a:t>
            </a:r>
            <a:endParaRPr lang="en-US" sz="1600" dirty="0"/>
          </a:p>
        </p:txBody>
      </p:sp>
      <p:graphicFrame>
        <p:nvGraphicFramePr>
          <p:cNvPr id="4" name="Chart 0" descr=""/>
          <p:cNvGraphicFramePr/>
          <p:nvPr/>
        </p:nvGraphicFramePr>
        <p:xfrm>
          <a:off x="411480" y="1508760"/>
          <a:ext cx="5577840" cy="338328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6172200" y="1508760"/>
          <a:ext cx="5577840" cy="3383280"/>
        </p:xfrm>
        <a:graphic xmlns:a="http://schemas.openxmlformats.org/drawingml/2006/main">
          <a:graphicData uri="http://schemas.openxmlformats.org/drawingml/2006/chart">
            <c:chart xmlns:c="http://schemas.openxmlformats.org/drawingml/2006/chart" r:id="rId2"/>
          </a:graphicData>
        </a:graphic>
      </p:graphicFrame>
      <p:sp>
        <p:nvSpPr>
          <p:cNvPr id="6" name="Text 2"/>
          <p:cNvSpPr txBox="1"/>
          <p:nvPr/>
        </p:nvSpPr>
        <p:spPr>
          <a:xfrm>
            <a:off x="548640" y="5029200"/>
            <a:ext cx="11064240" cy="320040"/>
          </a:xfrm>
          <a:prstGeom prst="rect">
            <a:avLst/>
          </a:prstGeom>
          <a:noFill/>
          <a:ln/>
        </p:spPr>
        <p:txBody>
          <a:bodyPr wrap="square" lIns="0" tIns="0" rIns="0" bIns="0" rtlCol="0" anchor="t"/>
          <a:lstStyle/>
          <a:p>
            <a:pPr indent="0" marL="0">
              <a:buNone/>
            </a:pPr>
            <a:r>
              <a:rPr lang="en-US" sz="1400" b="1" dirty="0">
                <a:solidFill>
                  <a:schemeClr val="tx1"/>
                </a:solidFill>
              </a:rPr>
              <a:t>Never predicted correctly (11 tags), mostly broad topics</a:t>
            </a:r>
            <a:endParaRPr lang="en-US" sz="1400" dirty="0"/>
          </a:p>
        </p:txBody>
      </p:sp>
      <p:sp>
        <p:nvSpPr>
          <p:cNvPr id="7" name="chip oop"/>
          <p:cNvSpPr/>
          <p:nvPr/>
        </p:nvSpPr>
        <p:spPr>
          <a:xfrm>
            <a:off x="548640" y="5440680"/>
            <a:ext cx="520111"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oop</a:t>
            </a:r>
            <a:endParaRPr lang="en-US" sz="1400" dirty="0"/>
          </a:p>
        </p:txBody>
      </p:sp>
      <p:sp>
        <p:nvSpPr>
          <p:cNvPr id="8" name="chip class"/>
          <p:cNvSpPr/>
          <p:nvPr/>
        </p:nvSpPr>
        <p:spPr>
          <a:xfrm>
            <a:off x="1178479" y="5440680"/>
            <a:ext cx="683971"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class</a:t>
            </a:r>
            <a:endParaRPr lang="en-US" sz="1400" dirty="0"/>
          </a:p>
        </p:txBody>
      </p:sp>
      <p:sp>
        <p:nvSpPr>
          <p:cNvPr id="9" name="chip file"/>
          <p:cNvSpPr/>
          <p:nvPr/>
        </p:nvSpPr>
        <p:spPr>
          <a:xfrm>
            <a:off x="1972178" y="5440680"/>
            <a:ext cx="602041"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file</a:t>
            </a:r>
            <a:endParaRPr lang="en-US" sz="1400" dirty="0"/>
          </a:p>
        </p:txBody>
      </p:sp>
      <p:sp>
        <p:nvSpPr>
          <p:cNvPr id="10" name="chip math"/>
          <p:cNvSpPr/>
          <p:nvPr/>
        </p:nvSpPr>
        <p:spPr>
          <a:xfrm>
            <a:off x="2683947" y="5440680"/>
            <a:ext cx="602041"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math</a:t>
            </a:r>
            <a:endParaRPr lang="en-US" sz="1400" dirty="0"/>
          </a:p>
        </p:txBody>
      </p:sp>
      <p:sp>
        <p:nvSpPr>
          <p:cNvPr id="11" name="chip coding-style"/>
          <p:cNvSpPr/>
          <p:nvPr/>
        </p:nvSpPr>
        <p:spPr>
          <a:xfrm>
            <a:off x="3395716" y="5440680"/>
            <a:ext cx="1257483"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coding-style</a:t>
            </a:r>
            <a:endParaRPr lang="en-US" sz="1400" dirty="0"/>
          </a:p>
        </p:txBody>
      </p:sp>
      <p:sp>
        <p:nvSpPr>
          <p:cNvPr id="12" name="chip language-agnostic"/>
          <p:cNvSpPr/>
          <p:nvPr/>
        </p:nvSpPr>
        <p:spPr>
          <a:xfrm>
            <a:off x="4762927" y="5440680"/>
            <a:ext cx="1667134"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language-agnostic</a:t>
            </a:r>
            <a:endParaRPr lang="en-US" sz="1400" dirty="0"/>
          </a:p>
        </p:txBody>
      </p:sp>
      <p:sp>
        <p:nvSpPr>
          <p:cNvPr id="13" name="chip file-io"/>
          <p:cNvSpPr/>
          <p:nvPr/>
        </p:nvSpPr>
        <p:spPr>
          <a:xfrm>
            <a:off x="6539789" y="5440680"/>
            <a:ext cx="847832"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file-io</a:t>
            </a:r>
            <a:endParaRPr lang="en-US" sz="1400" dirty="0"/>
          </a:p>
        </p:txBody>
      </p:sp>
      <p:sp>
        <p:nvSpPr>
          <p:cNvPr id="14" name="chip types"/>
          <p:cNvSpPr/>
          <p:nvPr/>
        </p:nvSpPr>
        <p:spPr>
          <a:xfrm>
            <a:off x="548640" y="5870448"/>
            <a:ext cx="683971"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types</a:t>
            </a:r>
            <a:endParaRPr lang="en-US" sz="1400" dirty="0"/>
          </a:p>
        </p:txBody>
      </p:sp>
      <p:sp>
        <p:nvSpPr>
          <p:cNvPr id="15" name="chip scripting"/>
          <p:cNvSpPr/>
          <p:nvPr/>
        </p:nvSpPr>
        <p:spPr>
          <a:xfrm>
            <a:off x="1342339" y="5870448"/>
            <a:ext cx="1011692"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scripting</a:t>
            </a:r>
            <a:endParaRPr lang="en-US" sz="1400" dirty="0"/>
          </a:p>
        </p:txBody>
      </p:sp>
      <p:sp>
        <p:nvSpPr>
          <p:cNvPr id="16" name="chip cocoa-touch"/>
          <p:cNvSpPr/>
          <p:nvPr/>
        </p:nvSpPr>
        <p:spPr>
          <a:xfrm>
            <a:off x="2463759" y="5870448"/>
            <a:ext cx="1175553"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cocoa-touch</a:t>
            </a:r>
            <a:endParaRPr lang="en-US" sz="1400" dirty="0"/>
          </a:p>
        </p:txBody>
      </p:sp>
      <p:sp>
        <p:nvSpPr>
          <p:cNvPr id="17" name="chip visual-studio-2008"/>
          <p:cNvSpPr/>
          <p:nvPr/>
        </p:nvSpPr>
        <p:spPr>
          <a:xfrm>
            <a:off x="3749040" y="5870448"/>
            <a:ext cx="1749064"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visual-studio-2008</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algn="l" indent="0" marL="0">
              <a:buNone/>
            </a:pPr>
            <a:r>
              <a:rPr lang="en-US" sz="3000" b="1" dirty="0">
                <a:solidFill>
                  <a:schemeClr val="tx1"/>
                </a:solidFill>
              </a:rPr>
              <a:t>What the model learned</a:t>
            </a:r>
            <a:endParaRPr lang="en-US" sz="3000" dirty="0"/>
          </a:p>
        </p:txBody>
      </p:sp>
      <p:sp>
        <p:nvSpPr>
          <p:cNvPr id="3" name="Text 0"/>
          <p:cNvSpPr/>
          <p:nvPr>
            <p:ph idx="101" type="body" hasCustomPrompt="1"/>
          </p:nvPr>
        </p:nvSpPr>
        <p:spPr>
          <a:xfrm>
            <a:off x="548640" y="987552"/>
            <a:ext cx="11064240" cy="411480"/>
          </a:xfrm>
          <a:prstGeom prst="rect">
            <a:avLst/>
          </a:prstGeom>
          <a:noFill/>
          <a:ln/>
        </p:spPr>
        <p:txBody>
          <a:bodyPr wrap="square" lIns="0" tIns="0" rIns="0" bIns="0" rtlCol="0" anchor="ctr"/>
          <a:lstStyle/>
          <a:p>
            <a:pPr algn="l" indent="0" marL="0">
              <a:buNone/>
            </a:pPr>
            <a:r>
              <a:rPr lang="en-US" sz="1600" dirty="0">
                <a:solidFill>
                  <a:schemeClr val="accent6"/>
                </a:solidFill>
              </a:rPr>
              <a:t>The eight title words with the most weight for each tag, strongest first</a:t>
            </a:r>
            <a:endParaRPr lang="en-US" sz="1600" dirty="0"/>
          </a:p>
        </p:txBody>
      </p:sp>
      <p:sp>
        <p:nvSpPr>
          <p:cNvPr id="4" name="chip git"/>
          <p:cNvSpPr/>
          <p:nvPr/>
        </p:nvSpPr>
        <p:spPr>
          <a:xfrm>
            <a:off x="548640" y="1645920"/>
            <a:ext cx="11887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400" b="1" dirty="0">
                <a:solidFill>
                  <a:schemeClr val="bg1"/>
                </a:solidFill>
              </a:rPr>
              <a:t>git</a:t>
            </a:r>
            <a:endParaRPr lang="en-US" sz="1400" dirty="0"/>
          </a:p>
        </p:txBody>
      </p:sp>
      <p:sp>
        <p:nvSpPr>
          <p:cNvPr id="5" name="chip git"/>
          <p:cNvSpPr/>
          <p:nvPr/>
        </p:nvSpPr>
        <p:spPr>
          <a:xfrm>
            <a:off x="1920240" y="1645920"/>
            <a:ext cx="520111"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git</a:t>
            </a:r>
            <a:endParaRPr lang="en-US" sz="1400" dirty="0"/>
          </a:p>
        </p:txBody>
      </p:sp>
      <p:sp>
        <p:nvSpPr>
          <p:cNvPr id="6" name="chip github"/>
          <p:cNvSpPr/>
          <p:nvPr/>
        </p:nvSpPr>
        <p:spPr>
          <a:xfrm>
            <a:off x="2531791" y="1645920"/>
            <a:ext cx="765901"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github</a:t>
            </a:r>
            <a:endParaRPr lang="en-US" sz="1400" dirty="0"/>
          </a:p>
        </p:txBody>
      </p:sp>
      <p:sp>
        <p:nvSpPr>
          <p:cNvPr id="7" name="chip commit"/>
          <p:cNvSpPr/>
          <p:nvPr/>
        </p:nvSpPr>
        <p:spPr>
          <a:xfrm>
            <a:off x="3389132" y="1645920"/>
            <a:ext cx="765901"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commit</a:t>
            </a:r>
            <a:endParaRPr lang="en-US" sz="1400" dirty="0"/>
          </a:p>
        </p:txBody>
      </p:sp>
      <p:sp>
        <p:nvSpPr>
          <p:cNvPr id="8" name="chip branch"/>
          <p:cNvSpPr/>
          <p:nvPr/>
        </p:nvSpPr>
        <p:spPr>
          <a:xfrm>
            <a:off x="4246474" y="1645920"/>
            <a:ext cx="765901"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branch</a:t>
            </a:r>
            <a:endParaRPr lang="en-US" sz="1400" dirty="0"/>
          </a:p>
        </p:txBody>
      </p:sp>
      <p:sp>
        <p:nvSpPr>
          <p:cNvPr id="9" name="chip repo"/>
          <p:cNvSpPr/>
          <p:nvPr/>
        </p:nvSpPr>
        <p:spPr>
          <a:xfrm>
            <a:off x="5103815" y="1645920"/>
            <a:ext cx="602041"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repo</a:t>
            </a:r>
            <a:endParaRPr lang="en-US" sz="1400" dirty="0"/>
          </a:p>
        </p:txBody>
      </p:sp>
      <p:sp>
        <p:nvSpPr>
          <p:cNvPr id="10" name="chip repository"/>
          <p:cNvSpPr/>
          <p:nvPr/>
        </p:nvSpPr>
        <p:spPr>
          <a:xfrm>
            <a:off x="5797296" y="1645920"/>
            <a:ext cx="1093622"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repository</a:t>
            </a:r>
            <a:endParaRPr lang="en-US" sz="1400" dirty="0"/>
          </a:p>
        </p:txBody>
      </p:sp>
      <p:sp>
        <p:nvSpPr>
          <p:cNvPr id="11" name="chip remote"/>
          <p:cNvSpPr/>
          <p:nvPr/>
        </p:nvSpPr>
        <p:spPr>
          <a:xfrm>
            <a:off x="6982358" y="1645920"/>
            <a:ext cx="765901"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remote</a:t>
            </a:r>
            <a:endParaRPr lang="en-US" sz="1400" dirty="0"/>
          </a:p>
        </p:txBody>
      </p:sp>
      <p:sp>
        <p:nvSpPr>
          <p:cNvPr id="12" name="chip master"/>
          <p:cNvSpPr/>
          <p:nvPr/>
        </p:nvSpPr>
        <p:spPr>
          <a:xfrm>
            <a:off x="7839700" y="1645920"/>
            <a:ext cx="765901"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master</a:t>
            </a:r>
            <a:endParaRPr lang="en-US" sz="1400" dirty="0"/>
          </a:p>
        </p:txBody>
      </p:sp>
      <p:sp>
        <p:nvSpPr>
          <p:cNvPr id="13" name="chip android"/>
          <p:cNvSpPr/>
          <p:nvPr/>
        </p:nvSpPr>
        <p:spPr>
          <a:xfrm>
            <a:off x="548640" y="2194560"/>
            <a:ext cx="11887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400" b="1" dirty="0">
                <a:solidFill>
                  <a:schemeClr val="bg1"/>
                </a:solidFill>
              </a:rPr>
              <a:t>android</a:t>
            </a:r>
            <a:endParaRPr lang="en-US" sz="1400" dirty="0"/>
          </a:p>
        </p:txBody>
      </p:sp>
      <p:sp>
        <p:nvSpPr>
          <p:cNvPr id="14" name="chip android"/>
          <p:cNvSpPr/>
          <p:nvPr/>
        </p:nvSpPr>
        <p:spPr>
          <a:xfrm>
            <a:off x="1920240" y="2194560"/>
            <a:ext cx="847832"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android</a:t>
            </a:r>
            <a:endParaRPr lang="en-US" sz="1400" dirty="0"/>
          </a:p>
        </p:txBody>
      </p:sp>
      <p:sp>
        <p:nvSpPr>
          <p:cNvPr id="15" name="chip activity"/>
          <p:cNvSpPr/>
          <p:nvPr/>
        </p:nvSpPr>
        <p:spPr>
          <a:xfrm>
            <a:off x="2859512" y="2194560"/>
            <a:ext cx="929762"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activity</a:t>
            </a:r>
            <a:endParaRPr lang="en-US" sz="1400" dirty="0"/>
          </a:p>
        </p:txBody>
      </p:sp>
      <p:sp>
        <p:nvSpPr>
          <p:cNvPr id="16" name="chip webview"/>
          <p:cNvSpPr/>
          <p:nvPr/>
        </p:nvSpPr>
        <p:spPr>
          <a:xfrm>
            <a:off x="3880714" y="2194560"/>
            <a:ext cx="847832"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webview</a:t>
            </a:r>
            <a:endParaRPr lang="en-US" sz="1400" dirty="0"/>
          </a:p>
        </p:txBody>
      </p:sp>
      <p:sp>
        <p:nvSpPr>
          <p:cNvPr id="17" name="chip edittext"/>
          <p:cNvSpPr/>
          <p:nvPr/>
        </p:nvSpPr>
        <p:spPr>
          <a:xfrm>
            <a:off x="4819985" y="2194560"/>
            <a:ext cx="929762"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edittext</a:t>
            </a:r>
            <a:endParaRPr lang="en-US" sz="1400" dirty="0"/>
          </a:p>
        </p:txBody>
      </p:sp>
      <p:sp>
        <p:nvSpPr>
          <p:cNvPr id="18" name="chip textview"/>
          <p:cNvSpPr/>
          <p:nvPr/>
        </p:nvSpPr>
        <p:spPr>
          <a:xfrm>
            <a:off x="5841187" y="2194560"/>
            <a:ext cx="929762"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textview</a:t>
            </a:r>
            <a:endParaRPr lang="en-US" sz="1400" dirty="0"/>
          </a:p>
        </p:txBody>
      </p:sp>
      <p:sp>
        <p:nvSpPr>
          <p:cNvPr id="19" name="chip intent"/>
          <p:cNvSpPr/>
          <p:nvPr/>
        </p:nvSpPr>
        <p:spPr>
          <a:xfrm>
            <a:off x="6862389" y="2194560"/>
            <a:ext cx="765901"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intent</a:t>
            </a:r>
            <a:endParaRPr lang="en-US" sz="1400" dirty="0"/>
          </a:p>
        </p:txBody>
      </p:sp>
      <p:sp>
        <p:nvSpPr>
          <p:cNvPr id="20" name="chip listview"/>
          <p:cNvSpPr/>
          <p:nvPr/>
        </p:nvSpPr>
        <p:spPr>
          <a:xfrm>
            <a:off x="7719731" y="2194560"/>
            <a:ext cx="929762"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listview</a:t>
            </a:r>
            <a:endParaRPr lang="en-US" sz="1400" dirty="0"/>
          </a:p>
        </p:txBody>
      </p:sp>
      <p:sp>
        <p:nvSpPr>
          <p:cNvPr id="21" name="chip emulator"/>
          <p:cNvSpPr/>
          <p:nvPr/>
        </p:nvSpPr>
        <p:spPr>
          <a:xfrm>
            <a:off x="8740932" y="2194560"/>
            <a:ext cx="929762"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emulator</a:t>
            </a:r>
            <a:endParaRPr lang="en-US" sz="1400" dirty="0"/>
          </a:p>
        </p:txBody>
      </p:sp>
      <p:sp>
        <p:nvSpPr>
          <p:cNvPr id="22" name="chip python"/>
          <p:cNvSpPr/>
          <p:nvPr/>
        </p:nvSpPr>
        <p:spPr>
          <a:xfrm>
            <a:off x="548640" y="2743200"/>
            <a:ext cx="11887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400" b="1" dirty="0">
                <a:solidFill>
                  <a:schemeClr val="bg1"/>
                </a:solidFill>
              </a:rPr>
              <a:t>python</a:t>
            </a:r>
            <a:endParaRPr lang="en-US" sz="1400" dirty="0"/>
          </a:p>
        </p:txBody>
      </p:sp>
      <p:sp>
        <p:nvSpPr>
          <p:cNvPr id="23" name="chip python"/>
          <p:cNvSpPr/>
          <p:nvPr/>
        </p:nvSpPr>
        <p:spPr>
          <a:xfrm>
            <a:off x="1920240" y="2743200"/>
            <a:ext cx="765901"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python</a:t>
            </a:r>
            <a:endParaRPr lang="en-US" sz="1400" dirty="0"/>
          </a:p>
        </p:txBody>
      </p:sp>
      <p:sp>
        <p:nvSpPr>
          <p:cNvPr id="24" name="chip matplotlib"/>
          <p:cNvSpPr/>
          <p:nvPr/>
        </p:nvSpPr>
        <p:spPr>
          <a:xfrm>
            <a:off x="2777581" y="2743200"/>
            <a:ext cx="1093622"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matplotlib</a:t>
            </a:r>
            <a:endParaRPr lang="en-US" sz="1400" dirty="0"/>
          </a:p>
        </p:txBody>
      </p:sp>
      <p:sp>
        <p:nvSpPr>
          <p:cNvPr id="25" name="chip numpy"/>
          <p:cNvSpPr/>
          <p:nvPr/>
        </p:nvSpPr>
        <p:spPr>
          <a:xfrm>
            <a:off x="3962644" y="2743200"/>
            <a:ext cx="683971"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numpy</a:t>
            </a:r>
            <a:endParaRPr lang="en-US" sz="1400" dirty="0"/>
          </a:p>
        </p:txBody>
      </p:sp>
      <p:sp>
        <p:nvSpPr>
          <p:cNvPr id="26" name="chip dict"/>
          <p:cNvSpPr/>
          <p:nvPr/>
        </p:nvSpPr>
        <p:spPr>
          <a:xfrm>
            <a:off x="4738055" y="2743200"/>
            <a:ext cx="602041"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dict</a:t>
            </a:r>
            <a:endParaRPr lang="en-US" sz="1400" dirty="0"/>
          </a:p>
        </p:txBody>
      </p:sp>
      <p:sp>
        <p:nvSpPr>
          <p:cNvPr id="27" name="chip django"/>
          <p:cNvSpPr/>
          <p:nvPr/>
        </p:nvSpPr>
        <p:spPr>
          <a:xfrm>
            <a:off x="5431536" y="2743200"/>
            <a:ext cx="765901"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django</a:t>
            </a:r>
            <a:endParaRPr lang="en-US" sz="1400" dirty="0"/>
          </a:p>
        </p:txBody>
      </p:sp>
      <p:sp>
        <p:nvSpPr>
          <p:cNvPr id="28" name="chip module"/>
          <p:cNvSpPr/>
          <p:nvPr/>
        </p:nvSpPr>
        <p:spPr>
          <a:xfrm>
            <a:off x="6288877" y="2743200"/>
            <a:ext cx="765901"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module</a:t>
            </a:r>
            <a:endParaRPr lang="en-US" sz="1400" dirty="0"/>
          </a:p>
        </p:txBody>
      </p:sp>
      <p:sp>
        <p:nvSpPr>
          <p:cNvPr id="29" name="chip none"/>
          <p:cNvSpPr/>
          <p:nvPr/>
        </p:nvSpPr>
        <p:spPr>
          <a:xfrm>
            <a:off x="7146219" y="2743200"/>
            <a:ext cx="602041"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none</a:t>
            </a:r>
            <a:endParaRPr lang="en-US" sz="1400" dirty="0"/>
          </a:p>
        </p:txBody>
      </p:sp>
      <p:sp>
        <p:nvSpPr>
          <p:cNvPr id="30" name="chip modules"/>
          <p:cNvSpPr/>
          <p:nvPr/>
        </p:nvSpPr>
        <p:spPr>
          <a:xfrm>
            <a:off x="7839700" y="2743200"/>
            <a:ext cx="847832"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modules</a:t>
            </a:r>
            <a:endParaRPr lang="en-US" sz="1400" dirty="0"/>
          </a:p>
        </p:txBody>
      </p:sp>
      <p:sp>
        <p:nvSpPr>
          <p:cNvPr id="31" name="chip java"/>
          <p:cNvSpPr/>
          <p:nvPr/>
        </p:nvSpPr>
        <p:spPr>
          <a:xfrm>
            <a:off x="548640" y="3291840"/>
            <a:ext cx="11887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400" b="1" dirty="0">
                <a:solidFill>
                  <a:schemeClr val="bg1"/>
                </a:solidFill>
              </a:rPr>
              <a:t>java</a:t>
            </a:r>
            <a:endParaRPr lang="en-US" sz="1400" dirty="0"/>
          </a:p>
        </p:txBody>
      </p:sp>
      <p:sp>
        <p:nvSpPr>
          <p:cNvPr id="32" name="chip java"/>
          <p:cNvSpPr/>
          <p:nvPr/>
        </p:nvSpPr>
        <p:spPr>
          <a:xfrm>
            <a:off x="1920240" y="3291840"/>
            <a:ext cx="602041"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java</a:t>
            </a:r>
            <a:endParaRPr lang="en-US" sz="1400" dirty="0"/>
          </a:p>
        </p:txBody>
      </p:sp>
      <p:sp>
        <p:nvSpPr>
          <p:cNvPr id="33" name="chip jpa"/>
          <p:cNvSpPr/>
          <p:nvPr/>
        </p:nvSpPr>
        <p:spPr>
          <a:xfrm>
            <a:off x="2613721" y="3291840"/>
            <a:ext cx="520111"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jpa</a:t>
            </a:r>
            <a:endParaRPr lang="en-US" sz="1400" dirty="0"/>
          </a:p>
        </p:txBody>
      </p:sp>
      <p:sp>
        <p:nvSpPr>
          <p:cNvPr id="34" name="chip spring"/>
          <p:cNvSpPr/>
          <p:nvPr/>
        </p:nvSpPr>
        <p:spPr>
          <a:xfrm>
            <a:off x="3225272" y="3291840"/>
            <a:ext cx="765901"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spring</a:t>
            </a:r>
            <a:endParaRPr lang="en-US" sz="1400" dirty="0"/>
          </a:p>
        </p:txBody>
      </p:sp>
      <p:sp>
        <p:nvSpPr>
          <p:cNvPr id="35" name="chip junit"/>
          <p:cNvSpPr/>
          <p:nvPr/>
        </p:nvSpPr>
        <p:spPr>
          <a:xfrm>
            <a:off x="4082613" y="3291840"/>
            <a:ext cx="683971"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junit</a:t>
            </a:r>
            <a:endParaRPr lang="en-US" sz="1400" dirty="0"/>
          </a:p>
        </p:txBody>
      </p:sp>
      <p:sp>
        <p:nvSpPr>
          <p:cNvPr id="36" name="chip jvm"/>
          <p:cNvSpPr/>
          <p:nvPr/>
        </p:nvSpPr>
        <p:spPr>
          <a:xfrm>
            <a:off x="4858024" y="3291840"/>
            <a:ext cx="520111"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jvm</a:t>
            </a:r>
            <a:endParaRPr lang="en-US" sz="1400" dirty="0"/>
          </a:p>
        </p:txBody>
      </p:sp>
      <p:sp>
        <p:nvSpPr>
          <p:cNvPr id="37" name="chip hibernate"/>
          <p:cNvSpPr/>
          <p:nvPr/>
        </p:nvSpPr>
        <p:spPr>
          <a:xfrm>
            <a:off x="5469575" y="3291840"/>
            <a:ext cx="1011692"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hibernate</a:t>
            </a:r>
            <a:endParaRPr lang="en-US" sz="1400" dirty="0"/>
          </a:p>
        </p:txBody>
      </p:sp>
      <p:sp>
        <p:nvSpPr>
          <p:cNvPr id="38" name="chip servlet"/>
          <p:cNvSpPr/>
          <p:nvPr/>
        </p:nvSpPr>
        <p:spPr>
          <a:xfrm>
            <a:off x="6572707" y="3291840"/>
            <a:ext cx="847832"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servlet</a:t>
            </a:r>
            <a:endParaRPr lang="en-US" sz="1400" dirty="0"/>
          </a:p>
        </p:txBody>
      </p:sp>
      <p:sp>
        <p:nvSpPr>
          <p:cNvPr id="39" name="chip arraylist"/>
          <p:cNvSpPr/>
          <p:nvPr/>
        </p:nvSpPr>
        <p:spPr>
          <a:xfrm>
            <a:off x="7511979" y="3291840"/>
            <a:ext cx="1011692"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arraylist</a:t>
            </a:r>
            <a:endParaRPr lang="en-US" sz="1400" dirty="0"/>
          </a:p>
        </p:txBody>
      </p:sp>
      <p:sp>
        <p:nvSpPr>
          <p:cNvPr id="40" name="chip css"/>
          <p:cNvSpPr/>
          <p:nvPr/>
        </p:nvSpPr>
        <p:spPr>
          <a:xfrm>
            <a:off x="548640" y="3840480"/>
            <a:ext cx="11887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400" b="1" dirty="0">
                <a:solidFill>
                  <a:schemeClr val="bg1"/>
                </a:solidFill>
              </a:rPr>
              <a:t>css</a:t>
            </a:r>
            <a:endParaRPr lang="en-US" sz="1400" dirty="0"/>
          </a:p>
        </p:txBody>
      </p:sp>
      <p:sp>
        <p:nvSpPr>
          <p:cNvPr id="41" name="chip css"/>
          <p:cNvSpPr/>
          <p:nvPr/>
        </p:nvSpPr>
        <p:spPr>
          <a:xfrm>
            <a:off x="1920240" y="3840480"/>
            <a:ext cx="520111"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css</a:t>
            </a:r>
            <a:endParaRPr lang="en-US" sz="1400" dirty="0"/>
          </a:p>
        </p:txBody>
      </p:sp>
      <p:sp>
        <p:nvSpPr>
          <p:cNvPr id="42" name="chip border"/>
          <p:cNvSpPr/>
          <p:nvPr/>
        </p:nvSpPr>
        <p:spPr>
          <a:xfrm>
            <a:off x="2531791" y="3840480"/>
            <a:ext cx="765901"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border</a:t>
            </a:r>
            <a:endParaRPr lang="en-US" sz="1400" dirty="0"/>
          </a:p>
        </p:txBody>
      </p:sp>
      <p:sp>
        <p:nvSpPr>
          <p:cNvPr id="43" name="chip divs"/>
          <p:cNvSpPr/>
          <p:nvPr/>
        </p:nvSpPr>
        <p:spPr>
          <a:xfrm>
            <a:off x="3389132" y="3840480"/>
            <a:ext cx="602041"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divs</a:t>
            </a:r>
            <a:endParaRPr lang="en-US" sz="1400" dirty="0"/>
          </a:p>
        </p:txBody>
      </p:sp>
      <p:sp>
        <p:nvSpPr>
          <p:cNvPr id="44" name="chip div"/>
          <p:cNvSpPr/>
          <p:nvPr/>
        </p:nvSpPr>
        <p:spPr>
          <a:xfrm>
            <a:off x="4082613" y="3840480"/>
            <a:ext cx="520111"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div</a:t>
            </a:r>
            <a:endParaRPr lang="en-US" sz="1400" dirty="0"/>
          </a:p>
        </p:txBody>
      </p:sp>
      <p:sp>
        <p:nvSpPr>
          <p:cNvPr id="45" name="chip font"/>
          <p:cNvSpPr/>
          <p:nvPr/>
        </p:nvSpPr>
        <p:spPr>
          <a:xfrm>
            <a:off x="4694164" y="3840480"/>
            <a:ext cx="602041"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font</a:t>
            </a:r>
            <a:endParaRPr lang="en-US" sz="1400" dirty="0"/>
          </a:p>
        </p:txBody>
      </p:sp>
      <p:sp>
        <p:nvSpPr>
          <p:cNvPr id="46" name="chip span"/>
          <p:cNvSpPr/>
          <p:nvPr/>
        </p:nvSpPr>
        <p:spPr>
          <a:xfrm>
            <a:off x="5387645" y="3840480"/>
            <a:ext cx="602041"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span</a:t>
            </a:r>
            <a:endParaRPr lang="en-US" sz="1400" dirty="0"/>
          </a:p>
        </p:txBody>
      </p:sp>
      <p:sp>
        <p:nvSpPr>
          <p:cNvPr id="47" name="chip align"/>
          <p:cNvSpPr/>
          <p:nvPr/>
        </p:nvSpPr>
        <p:spPr>
          <a:xfrm>
            <a:off x="6081126" y="3840480"/>
            <a:ext cx="683971"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align</a:t>
            </a:r>
            <a:endParaRPr lang="en-US" sz="1400" dirty="0"/>
          </a:p>
        </p:txBody>
      </p:sp>
      <p:sp>
        <p:nvSpPr>
          <p:cNvPr id="48" name="chip overflow"/>
          <p:cNvSpPr/>
          <p:nvPr/>
        </p:nvSpPr>
        <p:spPr>
          <a:xfrm>
            <a:off x="6856537" y="3840480"/>
            <a:ext cx="929762"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overflow</a:t>
            </a:r>
            <a:endParaRPr lang="en-US" sz="1400" dirty="0"/>
          </a:p>
        </p:txBody>
      </p:sp>
      <p:sp>
        <p:nvSpPr>
          <p:cNvPr id="49" name="chip sql"/>
          <p:cNvSpPr/>
          <p:nvPr/>
        </p:nvSpPr>
        <p:spPr>
          <a:xfrm>
            <a:off x="548640" y="4389120"/>
            <a:ext cx="11887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400" b="1" dirty="0">
                <a:solidFill>
                  <a:schemeClr val="bg1"/>
                </a:solidFill>
              </a:rPr>
              <a:t>sql</a:t>
            </a:r>
            <a:endParaRPr lang="en-US" sz="1400" dirty="0"/>
          </a:p>
        </p:txBody>
      </p:sp>
      <p:sp>
        <p:nvSpPr>
          <p:cNvPr id="50" name="chip sql"/>
          <p:cNvSpPr/>
          <p:nvPr/>
        </p:nvSpPr>
        <p:spPr>
          <a:xfrm>
            <a:off x="1920240" y="4389120"/>
            <a:ext cx="520111"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sql</a:t>
            </a:r>
            <a:endParaRPr lang="en-US" sz="1400" dirty="0"/>
          </a:p>
        </p:txBody>
      </p:sp>
      <p:sp>
        <p:nvSpPr>
          <p:cNvPr id="51" name="chip procedure"/>
          <p:cNvSpPr/>
          <p:nvPr/>
        </p:nvSpPr>
        <p:spPr>
          <a:xfrm>
            <a:off x="2531791" y="4389120"/>
            <a:ext cx="1011692"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procedure</a:t>
            </a:r>
            <a:endParaRPr lang="en-US" sz="1400" dirty="0"/>
          </a:p>
        </p:txBody>
      </p:sp>
      <p:sp>
        <p:nvSpPr>
          <p:cNvPr id="52" name="chip oracle"/>
          <p:cNvSpPr/>
          <p:nvPr/>
        </p:nvSpPr>
        <p:spPr>
          <a:xfrm>
            <a:off x="3634923" y="4389120"/>
            <a:ext cx="765901"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oracle</a:t>
            </a:r>
            <a:endParaRPr lang="en-US" sz="1400" dirty="0"/>
          </a:p>
        </p:txBody>
      </p:sp>
      <p:sp>
        <p:nvSpPr>
          <p:cNvPr id="53" name="chip inner"/>
          <p:cNvSpPr/>
          <p:nvPr/>
        </p:nvSpPr>
        <p:spPr>
          <a:xfrm>
            <a:off x="4492264" y="4389120"/>
            <a:ext cx="683971"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inner</a:t>
            </a:r>
            <a:endParaRPr lang="en-US" sz="1400" dirty="0"/>
          </a:p>
        </p:txBody>
      </p:sp>
      <p:sp>
        <p:nvSpPr>
          <p:cNvPr id="54" name="chip query"/>
          <p:cNvSpPr/>
          <p:nvPr/>
        </p:nvSpPr>
        <p:spPr>
          <a:xfrm>
            <a:off x="5267676" y="4389120"/>
            <a:ext cx="683971"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query</a:t>
            </a:r>
            <a:endParaRPr lang="en-US" sz="1400" dirty="0"/>
          </a:p>
        </p:txBody>
      </p:sp>
      <p:sp>
        <p:nvSpPr>
          <p:cNvPr id="55" name="chip t-sql"/>
          <p:cNvSpPr/>
          <p:nvPr/>
        </p:nvSpPr>
        <p:spPr>
          <a:xfrm>
            <a:off x="6043087" y="4389120"/>
            <a:ext cx="683971"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t-sql</a:t>
            </a:r>
            <a:endParaRPr lang="en-US" sz="1400" dirty="0"/>
          </a:p>
        </p:txBody>
      </p:sp>
      <p:sp>
        <p:nvSpPr>
          <p:cNvPr id="56" name="chip on"/>
          <p:cNvSpPr/>
          <p:nvPr/>
        </p:nvSpPr>
        <p:spPr>
          <a:xfrm>
            <a:off x="6818498" y="4389120"/>
            <a:ext cx="438180"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on</a:t>
            </a:r>
            <a:endParaRPr lang="en-US" sz="1400" dirty="0"/>
          </a:p>
        </p:txBody>
      </p:sp>
      <p:sp>
        <p:nvSpPr>
          <p:cNvPr id="57" name="chip by"/>
          <p:cNvSpPr/>
          <p:nvPr/>
        </p:nvSpPr>
        <p:spPr>
          <a:xfrm>
            <a:off x="7348118" y="4389120"/>
            <a:ext cx="438180"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by</a:t>
            </a:r>
            <a:endParaRPr lang="en-US" sz="1400" dirty="0"/>
          </a:p>
        </p:txBody>
      </p:sp>
      <p:sp>
        <p:nvSpPr>
          <p:cNvPr id="58" name="chip iphone"/>
          <p:cNvSpPr/>
          <p:nvPr/>
        </p:nvSpPr>
        <p:spPr>
          <a:xfrm>
            <a:off x="548640" y="4937760"/>
            <a:ext cx="11887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400" b="1" dirty="0">
                <a:solidFill>
                  <a:schemeClr val="bg1"/>
                </a:solidFill>
              </a:rPr>
              <a:t>iphone</a:t>
            </a:r>
            <a:endParaRPr lang="en-US" sz="1400" dirty="0"/>
          </a:p>
        </p:txBody>
      </p:sp>
      <p:sp>
        <p:nvSpPr>
          <p:cNvPr id="59" name="chip iphone"/>
          <p:cNvSpPr/>
          <p:nvPr/>
        </p:nvSpPr>
        <p:spPr>
          <a:xfrm>
            <a:off x="1920240" y="4937760"/>
            <a:ext cx="765901"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iphone</a:t>
            </a:r>
            <a:endParaRPr lang="en-US" sz="1400" dirty="0"/>
          </a:p>
        </p:txBody>
      </p:sp>
      <p:sp>
        <p:nvSpPr>
          <p:cNvPr id="60" name="chip uiscrollview"/>
          <p:cNvSpPr/>
          <p:nvPr/>
        </p:nvSpPr>
        <p:spPr>
          <a:xfrm>
            <a:off x="2777581" y="4937760"/>
            <a:ext cx="1257483"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uiscrollview</a:t>
            </a:r>
            <a:endParaRPr lang="en-US" sz="1400" dirty="0"/>
          </a:p>
        </p:txBody>
      </p:sp>
      <p:sp>
        <p:nvSpPr>
          <p:cNvPr id="61" name="chip uitableview"/>
          <p:cNvSpPr/>
          <p:nvPr/>
        </p:nvSpPr>
        <p:spPr>
          <a:xfrm>
            <a:off x="4126504" y="4937760"/>
            <a:ext cx="1175553"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uitableview</a:t>
            </a:r>
            <a:endParaRPr lang="en-US" sz="1400" dirty="0"/>
          </a:p>
        </p:txBody>
      </p:sp>
      <p:sp>
        <p:nvSpPr>
          <p:cNvPr id="62" name="chip uiview"/>
          <p:cNvSpPr/>
          <p:nvPr/>
        </p:nvSpPr>
        <p:spPr>
          <a:xfrm>
            <a:off x="5393497" y="4937760"/>
            <a:ext cx="765901"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uiview</a:t>
            </a:r>
            <a:endParaRPr lang="en-US" sz="1400" dirty="0"/>
          </a:p>
        </p:txBody>
      </p:sp>
      <p:sp>
        <p:nvSpPr>
          <p:cNvPr id="63" name="chip uibutton"/>
          <p:cNvSpPr/>
          <p:nvPr/>
        </p:nvSpPr>
        <p:spPr>
          <a:xfrm>
            <a:off x="6250838" y="4937760"/>
            <a:ext cx="929762"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uibutton</a:t>
            </a:r>
            <a:endParaRPr lang="en-US" sz="1400" dirty="0"/>
          </a:p>
        </p:txBody>
      </p:sp>
      <p:sp>
        <p:nvSpPr>
          <p:cNvPr id="64" name="chip uiimage"/>
          <p:cNvSpPr/>
          <p:nvPr/>
        </p:nvSpPr>
        <p:spPr>
          <a:xfrm>
            <a:off x="7272040" y="4937760"/>
            <a:ext cx="847832"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uiimage</a:t>
            </a:r>
            <a:endParaRPr lang="en-US" sz="1400" dirty="0"/>
          </a:p>
        </p:txBody>
      </p:sp>
      <p:sp>
        <p:nvSpPr>
          <p:cNvPr id="65" name="chip uilabel"/>
          <p:cNvSpPr/>
          <p:nvPr/>
        </p:nvSpPr>
        <p:spPr>
          <a:xfrm>
            <a:off x="8211312" y="4937760"/>
            <a:ext cx="847832"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uilabel</a:t>
            </a:r>
            <a:endParaRPr lang="en-US" sz="1400" dirty="0"/>
          </a:p>
        </p:txBody>
      </p:sp>
      <p:sp>
        <p:nvSpPr>
          <p:cNvPr id="66" name="chip ios"/>
          <p:cNvSpPr/>
          <p:nvPr/>
        </p:nvSpPr>
        <p:spPr>
          <a:xfrm>
            <a:off x="9150584" y="4937760"/>
            <a:ext cx="520111"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ios</a:t>
            </a:r>
            <a:endParaRPr lang="en-US" sz="1400" dirty="0"/>
          </a:p>
        </p:txBody>
      </p:sp>
      <p:sp>
        <p:nvSpPr>
          <p:cNvPr id="67" name="chip c++"/>
          <p:cNvSpPr/>
          <p:nvPr/>
        </p:nvSpPr>
        <p:spPr>
          <a:xfrm>
            <a:off x="548640" y="5486400"/>
            <a:ext cx="11887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400" b="1" dirty="0">
                <a:solidFill>
                  <a:schemeClr val="bg1"/>
                </a:solidFill>
              </a:rPr>
              <a:t>c++</a:t>
            </a:r>
            <a:endParaRPr lang="en-US" sz="1400" dirty="0"/>
          </a:p>
        </p:txBody>
      </p:sp>
      <p:sp>
        <p:nvSpPr>
          <p:cNvPr id="68" name="chip std"/>
          <p:cNvSpPr/>
          <p:nvPr/>
        </p:nvSpPr>
        <p:spPr>
          <a:xfrm>
            <a:off x="1920240" y="5486400"/>
            <a:ext cx="520111"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std</a:t>
            </a:r>
            <a:endParaRPr lang="en-US" sz="1400" dirty="0"/>
          </a:p>
        </p:txBody>
      </p:sp>
      <p:sp>
        <p:nvSpPr>
          <p:cNvPr id="69" name="chip cc"/>
          <p:cNvSpPr/>
          <p:nvPr/>
        </p:nvSpPr>
        <p:spPr>
          <a:xfrm>
            <a:off x="2531791" y="5486400"/>
            <a:ext cx="438180"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cc</a:t>
            </a:r>
            <a:endParaRPr lang="en-US" sz="1400" dirty="0"/>
          </a:p>
        </p:txBody>
      </p:sp>
      <p:sp>
        <p:nvSpPr>
          <p:cNvPr id="70" name="chip boost"/>
          <p:cNvSpPr/>
          <p:nvPr/>
        </p:nvSpPr>
        <p:spPr>
          <a:xfrm>
            <a:off x="3061411" y="5486400"/>
            <a:ext cx="683971"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boost</a:t>
            </a:r>
            <a:endParaRPr lang="en-US" sz="1400" dirty="0"/>
          </a:p>
        </p:txBody>
      </p:sp>
      <p:sp>
        <p:nvSpPr>
          <p:cNvPr id="71" name="chip c++"/>
          <p:cNvSpPr/>
          <p:nvPr/>
        </p:nvSpPr>
        <p:spPr>
          <a:xfrm>
            <a:off x="3836822" y="5486400"/>
            <a:ext cx="520111"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c++</a:t>
            </a:r>
            <a:endParaRPr lang="en-US" sz="1400" dirty="0"/>
          </a:p>
        </p:txBody>
      </p:sp>
      <p:sp>
        <p:nvSpPr>
          <p:cNvPr id="72" name="chip stl"/>
          <p:cNvSpPr/>
          <p:nvPr/>
        </p:nvSpPr>
        <p:spPr>
          <a:xfrm>
            <a:off x="4448373" y="5486400"/>
            <a:ext cx="520111"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stl</a:t>
            </a:r>
            <a:endParaRPr lang="en-US" sz="1400" dirty="0"/>
          </a:p>
        </p:txBody>
      </p:sp>
      <p:sp>
        <p:nvSpPr>
          <p:cNvPr id="73" name="chip virtual"/>
          <p:cNvSpPr/>
          <p:nvPr/>
        </p:nvSpPr>
        <p:spPr>
          <a:xfrm>
            <a:off x="5059924" y="5486400"/>
            <a:ext cx="847832"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virtual</a:t>
            </a:r>
            <a:endParaRPr lang="en-US" sz="1400" dirty="0"/>
          </a:p>
        </p:txBody>
      </p:sp>
      <p:sp>
        <p:nvSpPr>
          <p:cNvPr id="74" name="chip qt"/>
          <p:cNvSpPr/>
          <p:nvPr/>
        </p:nvSpPr>
        <p:spPr>
          <a:xfrm>
            <a:off x="5999196" y="5486400"/>
            <a:ext cx="438180"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qt</a:t>
            </a:r>
            <a:endParaRPr lang="en-US" sz="1400" dirty="0"/>
          </a:p>
        </p:txBody>
      </p:sp>
      <p:sp>
        <p:nvSpPr>
          <p:cNvPr id="75" name="chip template"/>
          <p:cNvSpPr/>
          <p:nvPr/>
        </p:nvSpPr>
        <p:spPr>
          <a:xfrm>
            <a:off x="6528816" y="5486400"/>
            <a:ext cx="929762"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template</a:t>
            </a:r>
            <a:endParaRPr lang="en-US" sz="1400" dirty="0"/>
          </a:p>
        </p:txBody>
      </p:sp>
      <p:sp>
        <p:nvSpPr>
          <p:cNvPr id="76" name="Text 74"/>
          <p:cNvSpPr txBox="1"/>
          <p:nvPr/>
        </p:nvSpPr>
        <p:spPr>
          <a:xfrm>
            <a:off x="548640" y="6016752"/>
            <a:ext cx="11064240" cy="320040"/>
          </a:xfrm>
          <a:prstGeom prst="rect">
            <a:avLst/>
          </a:prstGeom>
          <a:noFill/>
          <a:ln/>
        </p:spPr>
        <p:txBody>
          <a:bodyPr wrap="square" lIns="0" tIns="0" rIns="0" bIns="0" rtlCol="0" anchor="t"/>
          <a:lstStyle/>
          <a:p>
            <a:pPr indent="0" marL="0">
              <a:buNone/>
            </a:pPr>
            <a:r>
              <a:rPr lang="en-US" sz="1400" dirty="0">
                <a:solidFill>
                  <a:schemeClr val="accent6"/>
                </a:solidFill>
              </a:rPr>
              <a:t>For most tags the strongest word is the tag’s own name. For c++ it is “std”; the next slide shows why.</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algn="l" indent="0" marL="0">
              <a:buNone/>
            </a:pPr>
            <a:r>
              <a:rPr lang="en-US" sz="3000" b="1" dirty="0">
                <a:solidFill>
                  <a:schemeClr val="tx1"/>
                </a:solidFill>
              </a:rPr>
              <a:t>What the cleanup did to C# and C++</a:t>
            </a:r>
            <a:endParaRPr lang="en-US" sz="3000" dirty="0"/>
          </a:p>
        </p:txBody>
      </p:sp>
      <p:sp>
        <p:nvSpPr>
          <p:cNvPr id="3" name="Text 0"/>
          <p:cNvSpPr/>
          <p:nvPr>
            <p:ph idx="101" type="body" hasCustomPrompt="1"/>
          </p:nvPr>
        </p:nvSpPr>
        <p:spPr>
          <a:xfrm>
            <a:off x="548640" y="987552"/>
            <a:ext cx="11064240" cy="411480"/>
          </a:xfrm>
          <a:prstGeom prst="rect">
            <a:avLst/>
          </a:prstGeom>
          <a:noFill/>
          <a:ln/>
        </p:spPr>
        <p:txBody>
          <a:bodyPr wrap="square" lIns="0" tIns="0" rIns="0" bIns="0" rtlCol="0" anchor="ctr"/>
          <a:lstStyle/>
          <a:p>
            <a:pPr algn="l" indent="0" marL="0">
              <a:buNone/>
            </a:pPr>
            <a:r>
              <a:rPr lang="en-US" sz="1600" dirty="0">
                <a:solidFill>
                  <a:schemeClr val="accent6"/>
                </a:solidFill>
              </a:rPr>
              <a:t>Found in 2026 while reviewing the 2021 code</a:t>
            </a:r>
            <a:endParaRPr lang="en-US" sz="1600" dirty="0"/>
          </a:p>
        </p:txBody>
      </p:sp>
      <p:sp>
        <p:nvSpPr>
          <p:cNvPr id="4" name="Text 2"/>
          <p:cNvSpPr txBox="1"/>
          <p:nvPr/>
        </p:nvSpPr>
        <p:spPr>
          <a:xfrm>
            <a:off x="548640" y="1645920"/>
            <a:ext cx="1371600" cy="274320"/>
          </a:xfrm>
          <a:prstGeom prst="rect">
            <a:avLst/>
          </a:prstGeom>
          <a:noFill/>
          <a:ln/>
        </p:spPr>
        <p:txBody>
          <a:bodyPr wrap="square" lIns="0" tIns="0" rIns="0" bIns="0" rtlCol="0" anchor="t"/>
          <a:lstStyle/>
          <a:p>
            <a:pPr indent="0" marL="0">
              <a:buNone/>
            </a:pPr>
            <a:r>
              <a:rPr lang="en-US" sz="1200" dirty="0">
                <a:solidFill>
                  <a:schemeClr val="accent6"/>
                </a:solidFill>
              </a:rPr>
              <a:t>In the title</a:t>
            </a:r>
            <a:endParaRPr lang="en-US" sz="1200" dirty="0"/>
          </a:p>
        </p:txBody>
      </p:sp>
      <p:sp>
        <p:nvSpPr>
          <p:cNvPr id="5" name="Text 3"/>
          <p:cNvSpPr txBox="1"/>
          <p:nvPr/>
        </p:nvSpPr>
        <p:spPr>
          <a:xfrm>
            <a:off x="2331720" y="1645920"/>
            <a:ext cx="1828800" cy="274320"/>
          </a:xfrm>
          <a:prstGeom prst="rect">
            <a:avLst/>
          </a:prstGeom>
          <a:noFill/>
          <a:ln/>
        </p:spPr>
        <p:txBody>
          <a:bodyPr wrap="square" lIns="0" tIns="0" rIns="0" bIns="0" rtlCol="0" anchor="t"/>
          <a:lstStyle/>
          <a:p>
            <a:pPr indent="0" marL="0">
              <a:buNone/>
            </a:pPr>
            <a:r>
              <a:rPr lang="en-US" sz="1200" dirty="0">
                <a:solidFill>
                  <a:schemeClr val="accent6"/>
                </a:solidFill>
              </a:rPr>
              <a:t>After punctuation removal</a:t>
            </a:r>
            <a:endParaRPr lang="en-US" sz="1200" dirty="0"/>
          </a:p>
        </p:txBody>
      </p:sp>
      <p:sp>
        <p:nvSpPr>
          <p:cNvPr id="6" name="Text 4"/>
          <p:cNvSpPr txBox="1"/>
          <p:nvPr/>
        </p:nvSpPr>
        <p:spPr>
          <a:xfrm>
            <a:off x="4526280" y="1645920"/>
            <a:ext cx="1645920" cy="274320"/>
          </a:xfrm>
          <a:prstGeom prst="rect">
            <a:avLst/>
          </a:prstGeom>
          <a:noFill/>
          <a:ln/>
        </p:spPr>
        <p:txBody>
          <a:bodyPr wrap="square" lIns="0" tIns="0" rIns="0" bIns="0" rtlCol="0" anchor="t"/>
          <a:lstStyle/>
          <a:p>
            <a:pPr indent="0" marL="0">
              <a:buNone/>
            </a:pPr>
            <a:r>
              <a:rPr lang="en-US" sz="1200" dirty="0">
                <a:solidFill>
                  <a:schemeClr val="accent6"/>
                </a:solidFill>
              </a:rPr>
              <a:t>After TF-IDF</a:t>
            </a:r>
            <a:endParaRPr lang="en-US" sz="1200" dirty="0"/>
          </a:p>
        </p:txBody>
      </p:sp>
      <p:sp>
        <p:nvSpPr>
          <p:cNvPr id="7" name="chip C#"/>
          <p:cNvSpPr/>
          <p:nvPr/>
        </p:nvSpPr>
        <p:spPr>
          <a:xfrm>
            <a:off x="548640" y="2011680"/>
            <a:ext cx="1097280" cy="329184"/>
          </a:xfrm>
          <a:prstGeom prst="roundRect">
            <a:avLst>
              <a:gd name="adj" fmla="val 16667"/>
            </a:avLst>
          </a:prstGeom>
          <a:solidFill>
            <a:schemeClr val="accent4"/>
          </a:solidFill>
          <a:ln/>
        </p:spPr>
        <p:txBody>
          <a:bodyPr wrap="square" lIns="0" tIns="0" rIns="0" bIns="0" rtlCol="0" anchor="ctr"/>
          <a:lstStyle/>
          <a:p>
            <a:pPr algn="ctr" indent="0" marL="0">
              <a:buNone/>
            </a:pPr>
            <a:r>
              <a:rPr lang="en-US" sz="1500" b="1" dirty="0">
                <a:solidFill>
                  <a:schemeClr val="accent5"/>
                </a:solidFill>
                <a:latin typeface="Courier New" pitchFamily="34" charset="0"/>
                <a:ea typeface="Courier New" pitchFamily="34" charset="-122"/>
                <a:cs typeface="Courier New" pitchFamily="34" charset="-120"/>
              </a:rPr>
              <a:t>C#</a:t>
            </a:r>
            <a:endParaRPr lang="en-US" sz="1500" dirty="0"/>
          </a:p>
        </p:txBody>
      </p:sp>
      <p:sp>
        <p:nvSpPr>
          <p:cNvPr id="8" name="arrow"/>
          <p:cNvSpPr/>
          <p:nvPr/>
        </p:nvSpPr>
        <p:spPr>
          <a:xfrm>
            <a:off x="1737360" y="2176272"/>
            <a:ext cx="502920" cy="0"/>
          </a:xfrm>
          <a:prstGeom prst="line">
            <a:avLst/>
          </a:prstGeom>
          <a:noFill/>
          <a:ln w="22225">
            <a:solidFill>
              <a:schemeClr val="accent6"/>
            </a:solidFill>
            <a:prstDash val="solid"/>
            <a:tailEnd type="triangle"/>
          </a:ln>
        </p:spPr>
      </p:sp>
      <p:sp>
        <p:nvSpPr>
          <p:cNvPr id="9" name="chip C"/>
          <p:cNvSpPr/>
          <p:nvPr/>
        </p:nvSpPr>
        <p:spPr>
          <a:xfrm>
            <a:off x="2331720" y="2011680"/>
            <a:ext cx="822960" cy="329184"/>
          </a:xfrm>
          <a:prstGeom prst="roundRect">
            <a:avLst>
              <a:gd name="adj" fmla="val 16667"/>
            </a:avLst>
          </a:prstGeom>
          <a:solidFill>
            <a:schemeClr val="accent4"/>
          </a:solidFill>
          <a:ln/>
        </p:spPr>
        <p:txBody>
          <a:bodyPr wrap="square" lIns="0" tIns="0" rIns="0" bIns="0" rtlCol="0" anchor="ctr"/>
          <a:lstStyle/>
          <a:p>
            <a:pPr algn="ctr" indent="0" marL="0">
              <a:buNone/>
            </a:pPr>
            <a:r>
              <a:rPr lang="en-US" sz="1500" b="1" dirty="0">
                <a:solidFill>
                  <a:schemeClr val="accent5"/>
                </a:solidFill>
              </a:rPr>
              <a:t>C</a:t>
            </a:r>
            <a:endParaRPr lang="en-US" sz="1500" dirty="0"/>
          </a:p>
        </p:txBody>
      </p:sp>
      <p:sp>
        <p:nvSpPr>
          <p:cNvPr id="10" name="arrow"/>
          <p:cNvSpPr/>
          <p:nvPr/>
        </p:nvSpPr>
        <p:spPr>
          <a:xfrm>
            <a:off x="3246120" y="2176272"/>
            <a:ext cx="1188720" cy="0"/>
          </a:xfrm>
          <a:prstGeom prst="line">
            <a:avLst/>
          </a:prstGeom>
          <a:noFill/>
          <a:ln w="22225">
            <a:solidFill>
              <a:schemeClr val="accent6"/>
            </a:solidFill>
            <a:prstDash val="solid"/>
            <a:tailEnd type="triangle"/>
          </a:ln>
        </p:spPr>
      </p:sp>
      <p:sp>
        <p:nvSpPr>
          <p:cNvPr id="11" name="chip nothing left"/>
          <p:cNvSpPr/>
          <p:nvPr/>
        </p:nvSpPr>
        <p:spPr>
          <a:xfrm>
            <a:off x="4526280" y="2011680"/>
            <a:ext cx="1508760"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i="1" dirty="0">
                <a:solidFill>
                  <a:schemeClr val="accent6"/>
                </a:solidFill>
              </a:rPr>
              <a:t>nothing left</a:t>
            </a:r>
            <a:endParaRPr lang="en-US" sz="1400" dirty="0"/>
          </a:p>
        </p:txBody>
      </p:sp>
      <p:sp>
        <p:nvSpPr>
          <p:cNvPr id="12" name="chip C++"/>
          <p:cNvSpPr/>
          <p:nvPr/>
        </p:nvSpPr>
        <p:spPr>
          <a:xfrm>
            <a:off x="548640" y="2633472"/>
            <a:ext cx="1097280" cy="329184"/>
          </a:xfrm>
          <a:prstGeom prst="roundRect">
            <a:avLst>
              <a:gd name="adj" fmla="val 16667"/>
            </a:avLst>
          </a:prstGeom>
          <a:solidFill>
            <a:schemeClr val="accent4"/>
          </a:solidFill>
          <a:ln/>
        </p:spPr>
        <p:txBody>
          <a:bodyPr wrap="square" lIns="0" tIns="0" rIns="0" bIns="0" rtlCol="0" anchor="ctr"/>
          <a:lstStyle/>
          <a:p>
            <a:pPr algn="ctr" indent="0" marL="0">
              <a:buNone/>
            </a:pPr>
            <a:r>
              <a:rPr lang="en-US" sz="1500" b="1" dirty="0">
                <a:solidFill>
                  <a:schemeClr val="accent5"/>
                </a:solidFill>
                <a:latin typeface="Courier New" pitchFamily="34" charset="0"/>
                <a:ea typeface="Courier New" pitchFamily="34" charset="-122"/>
                <a:cs typeface="Courier New" pitchFamily="34" charset="-120"/>
              </a:rPr>
              <a:t>C++</a:t>
            </a:r>
            <a:endParaRPr lang="en-US" sz="1500" dirty="0"/>
          </a:p>
        </p:txBody>
      </p:sp>
      <p:sp>
        <p:nvSpPr>
          <p:cNvPr id="13" name="arrow"/>
          <p:cNvSpPr/>
          <p:nvPr/>
        </p:nvSpPr>
        <p:spPr>
          <a:xfrm>
            <a:off x="1737360" y="2798064"/>
            <a:ext cx="502920" cy="0"/>
          </a:xfrm>
          <a:prstGeom prst="line">
            <a:avLst/>
          </a:prstGeom>
          <a:noFill/>
          <a:ln w="22225">
            <a:solidFill>
              <a:schemeClr val="accent6"/>
            </a:solidFill>
            <a:prstDash val="solid"/>
            <a:tailEnd type="triangle"/>
          </a:ln>
        </p:spPr>
      </p:sp>
      <p:sp>
        <p:nvSpPr>
          <p:cNvPr id="14" name="chip C"/>
          <p:cNvSpPr/>
          <p:nvPr/>
        </p:nvSpPr>
        <p:spPr>
          <a:xfrm>
            <a:off x="2331720" y="2633472"/>
            <a:ext cx="822960" cy="329184"/>
          </a:xfrm>
          <a:prstGeom prst="roundRect">
            <a:avLst>
              <a:gd name="adj" fmla="val 16667"/>
            </a:avLst>
          </a:prstGeom>
          <a:solidFill>
            <a:schemeClr val="accent4"/>
          </a:solidFill>
          <a:ln/>
        </p:spPr>
        <p:txBody>
          <a:bodyPr wrap="square" lIns="0" tIns="0" rIns="0" bIns="0" rtlCol="0" anchor="ctr"/>
          <a:lstStyle/>
          <a:p>
            <a:pPr algn="ctr" indent="0" marL="0">
              <a:buNone/>
            </a:pPr>
            <a:r>
              <a:rPr lang="en-US" sz="1500" b="1" dirty="0">
                <a:solidFill>
                  <a:schemeClr val="accent5"/>
                </a:solidFill>
              </a:rPr>
              <a:t>C</a:t>
            </a:r>
            <a:endParaRPr lang="en-US" sz="1500" dirty="0"/>
          </a:p>
        </p:txBody>
      </p:sp>
      <p:sp>
        <p:nvSpPr>
          <p:cNvPr id="15" name="arrow"/>
          <p:cNvSpPr/>
          <p:nvPr/>
        </p:nvSpPr>
        <p:spPr>
          <a:xfrm>
            <a:off x="3246120" y="2798064"/>
            <a:ext cx="1188720" cy="0"/>
          </a:xfrm>
          <a:prstGeom prst="line">
            <a:avLst/>
          </a:prstGeom>
          <a:noFill/>
          <a:ln w="22225">
            <a:solidFill>
              <a:schemeClr val="accent6"/>
            </a:solidFill>
            <a:prstDash val="solid"/>
            <a:tailEnd type="triangle"/>
          </a:ln>
        </p:spPr>
      </p:sp>
      <p:sp>
        <p:nvSpPr>
          <p:cNvPr id="16" name="chip nothing left"/>
          <p:cNvSpPr/>
          <p:nvPr/>
        </p:nvSpPr>
        <p:spPr>
          <a:xfrm>
            <a:off x="4526280" y="2633472"/>
            <a:ext cx="1508760"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i="1" dirty="0">
                <a:solidFill>
                  <a:schemeClr val="accent6"/>
                </a:solidFill>
              </a:rPr>
              <a:t>nothing left</a:t>
            </a:r>
            <a:endParaRPr lang="en-US" sz="1400" dirty="0"/>
          </a:p>
        </p:txBody>
      </p:sp>
      <p:sp>
        <p:nvSpPr>
          <p:cNvPr id="17" name="chip C/C++"/>
          <p:cNvSpPr/>
          <p:nvPr/>
        </p:nvSpPr>
        <p:spPr>
          <a:xfrm>
            <a:off x="548640" y="3255264"/>
            <a:ext cx="1097280" cy="329184"/>
          </a:xfrm>
          <a:prstGeom prst="roundRect">
            <a:avLst>
              <a:gd name="adj" fmla="val 16667"/>
            </a:avLst>
          </a:prstGeom>
          <a:solidFill>
            <a:schemeClr val="accent4"/>
          </a:solidFill>
          <a:ln/>
        </p:spPr>
        <p:txBody>
          <a:bodyPr wrap="square" lIns="0" tIns="0" rIns="0" bIns="0" rtlCol="0" anchor="ctr"/>
          <a:lstStyle/>
          <a:p>
            <a:pPr algn="ctr" indent="0" marL="0">
              <a:buNone/>
            </a:pPr>
            <a:r>
              <a:rPr lang="en-US" sz="1500" b="1" dirty="0">
                <a:solidFill>
                  <a:schemeClr val="accent5"/>
                </a:solidFill>
                <a:latin typeface="Courier New" pitchFamily="34" charset="0"/>
                <a:ea typeface="Courier New" pitchFamily="34" charset="-122"/>
                <a:cs typeface="Courier New" pitchFamily="34" charset="-120"/>
              </a:rPr>
              <a:t>C/C++</a:t>
            </a:r>
            <a:endParaRPr lang="en-US" sz="1500" dirty="0"/>
          </a:p>
        </p:txBody>
      </p:sp>
      <p:sp>
        <p:nvSpPr>
          <p:cNvPr id="18" name="arrow"/>
          <p:cNvSpPr/>
          <p:nvPr/>
        </p:nvSpPr>
        <p:spPr>
          <a:xfrm>
            <a:off x="1737360" y="3419856"/>
            <a:ext cx="502920" cy="0"/>
          </a:xfrm>
          <a:prstGeom prst="line">
            <a:avLst/>
          </a:prstGeom>
          <a:noFill/>
          <a:ln w="22225">
            <a:solidFill>
              <a:schemeClr val="accent6"/>
            </a:solidFill>
            <a:prstDash val="solid"/>
            <a:tailEnd type="triangle"/>
          </a:ln>
        </p:spPr>
      </p:sp>
      <p:sp>
        <p:nvSpPr>
          <p:cNvPr id="19" name="chip CC"/>
          <p:cNvSpPr/>
          <p:nvPr/>
        </p:nvSpPr>
        <p:spPr>
          <a:xfrm>
            <a:off x="2331720" y="3255264"/>
            <a:ext cx="822960" cy="329184"/>
          </a:xfrm>
          <a:prstGeom prst="roundRect">
            <a:avLst>
              <a:gd name="adj" fmla="val 16667"/>
            </a:avLst>
          </a:prstGeom>
          <a:solidFill>
            <a:schemeClr val="accent4"/>
          </a:solidFill>
          <a:ln/>
        </p:spPr>
        <p:txBody>
          <a:bodyPr wrap="square" lIns="0" tIns="0" rIns="0" bIns="0" rtlCol="0" anchor="ctr"/>
          <a:lstStyle/>
          <a:p>
            <a:pPr algn="ctr" indent="0" marL="0">
              <a:buNone/>
            </a:pPr>
            <a:r>
              <a:rPr lang="en-US" sz="1500" b="1" dirty="0">
                <a:solidFill>
                  <a:schemeClr val="accent5"/>
                </a:solidFill>
              </a:rPr>
              <a:t>CC</a:t>
            </a:r>
            <a:endParaRPr lang="en-US" sz="1500" dirty="0"/>
          </a:p>
        </p:txBody>
      </p:sp>
      <p:sp>
        <p:nvSpPr>
          <p:cNvPr id="20" name="arrow"/>
          <p:cNvSpPr/>
          <p:nvPr/>
        </p:nvSpPr>
        <p:spPr>
          <a:xfrm>
            <a:off x="3246120" y="3419856"/>
            <a:ext cx="1188720" cy="0"/>
          </a:xfrm>
          <a:prstGeom prst="line">
            <a:avLst/>
          </a:prstGeom>
          <a:noFill/>
          <a:ln w="22225">
            <a:solidFill>
              <a:schemeClr val="accent6"/>
            </a:solidFill>
            <a:prstDash val="solid"/>
            <a:tailEnd type="triangle"/>
          </a:ln>
        </p:spPr>
      </p:sp>
      <p:sp>
        <p:nvSpPr>
          <p:cNvPr id="21" name="chip kept as “cc”"/>
          <p:cNvSpPr/>
          <p:nvPr/>
        </p:nvSpPr>
        <p:spPr>
          <a:xfrm>
            <a:off x="4526280" y="3255264"/>
            <a:ext cx="1508760" cy="329184"/>
          </a:xfrm>
          <a:prstGeom prst="roundRect">
            <a:avLst>
              <a:gd name="adj" fmla="val 16667"/>
            </a:avLst>
          </a:prstGeom>
          <a:solidFill>
            <a:schemeClr val="accent4"/>
          </a:solidFill>
          <a:ln/>
        </p:spPr>
        <p:txBody>
          <a:bodyPr wrap="square" lIns="0" tIns="0" rIns="0" bIns="0" rtlCol="0" anchor="ctr"/>
          <a:lstStyle/>
          <a:p>
            <a:pPr algn="ctr" indent="0" marL="0">
              <a:buNone/>
            </a:pPr>
            <a:r>
              <a:rPr lang="en-US" sz="1400" dirty="0">
                <a:solidFill>
                  <a:schemeClr val="accent5"/>
                </a:solidFill>
              </a:rPr>
              <a:t>kept as “cc”</a:t>
            </a:r>
            <a:endParaRPr lang="en-US" sz="1400" dirty="0"/>
          </a:p>
        </p:txBody>
      </p:sp>
      <p:sp>
        <p:nvSpPr>
          <p:cNvPr id="22" name="example"/>
          <p:cNvSpPr/>
          <p:nvPr/>
        </p:nvSpPr>
        <p:spPr>
          <a:xfrm>
            <a:off x="548640" y="4023360"/>
            <a:ext cx="5486400" cy="1325880"/>
          </a:xfrm>
          <a:prstGeom prst="roundRect">
            <a:avLst>
              <a:gd name="adj" fmla="val 5517"/>
            </a:avLst>
          </a:prstGeom>
          <a:solidFill>
            <a:schemeClr val="bg2"/>
          </a:solidFill>
          <a:ln/>
        </p:spPr>
      </p:sp>
      <p:sp>
        <p:nvSpPr>
          <p:cNvPr id="23" name="Text 21"/>
          <p:cNvSpPr txBox="1"/>
          <p:nvPr/>
        </p:nvSpPr>
        <p:spPr>
          <a:xfrm>
            <a:off x="777240" y="4114800"/>
            <a:ext cx="5120640" cy="1188720"/>
          </a:xfrm>
          <a:prstGeom prst="rect">
            <a:avLst/>
          </a:prstGeom>
          <a:noFill/>
          <a:ln/>
        </p:spPr>
        <p:txBody>
          <a:bodyPr wrap="square" lIns="0" tIns="0" rIns="0" bIns="0" rtlCol="0" anchor="t"/>
          <a:lstStyle/>
          <a:p>
            <a:pPr indent="0" marL="0">
              <a:spcAft>
                <a:spcPts val="400"/>
              </a:spcAft>
              <a:buNone/>
            </a:pPr>
            <a:r>
              <a:rPr lang="en-US" sz="1200" dirty="0">
                <a:solidFill>
                  <a:schemeClr val="accent6"/>
                </a:solidFill>
              </a:rPr>
              <a:t>Notebook output for one title</a:t>
            </a:r>
            <a:endParaRPr lang="en-US" sz="1400" dirty="0"/>
          </a:p>
          <a:p>
            <a:pPr indent="0" marL="0">
              <a:spcAft>
                <a:spcPts val="400"/>
              </a:spcAft>
              <a:buNone/>
            </a:pPr>
            <a:r>
              <a:rPr lang="en-US" sz="1400" b="1" dirty="0">
                <a:solidFill>
                  <a:schemeClr val="tx1"/>
                </a:solidFill>
              </a:rPr>
              <a:t>How do I calculate someone’s age in C#?</a:t>
            </a:r>
            <a:endParaRPr lang="en-US" sz="1400" dirty="0"/>
          </a:p>
          <a:p>
            <a:pPr indent="0" marL="0">
              <a:spcAft>
                <a:spcPts val="400"/>
              </a:spcAft>
              <a:buNone/>
            </a:pPr>
            <a:r>
              <a:rPr lang="en-US" sz="1400" b="1" dirty="0">
                <a:solidFill>
                  <a:schemeClr val="accent5"/>
                </a:solidFill>
              </a:rPr>
              <a:t>How do I calculate someone s age in C</a:t>
            </a:r>
            <a:endParaRPr lang="en-US" sz="1400" dirty="0"/>
          </a:p>
        </p:txBody>
      </p:sp>
      <p:sp>
        <p:nvSpPr>
          <p:cNvPr id="24" name="Text 22"/>
          <p:cNvSpPr txBox="1"/>
          <p:nvPr/>
        </p:nvSpPr>
        <p:spPr>
          <a:xfrm>
            <a:off x="548640" y="5486400"/>
            <a:ext cx="5486400" cy="868680"/>
          </a:xfrm>
          <a:prstGeom prst="rect">
            <a:avLst/>
          </a:prstGeom>
          <a:noFill/>
          <a:ln/>
        </p:spPr>
        <p:txBody>
          <a:bodyPr wrap="square" lIns="0" tIns="0" rIns="0" bIns="0" rtlCol="0" anchor="t"/>
          <a:lstStyle/>
          <a:p>
            <a:pPr indent="0" marL="0">
              <a:buNone/>
            </a:pPr>
            <a:r>
              <a:rPr lang="en-US" sz="1400" dirty="0">
                <a:solidFill>
                  <a:schemeClr val="tx1"/>
                </a:solidFill>
              </a:rPr>
              <a:t>This is probably part of why these three scored lowest of the language tags. To fix it, I would match tag names in any case before removing punctuation, and let TF-IDF keep one-letter words.</a:t>
            </a:r>
            <a:endParaRPr lang="en-US" sz="1400" dirty="0"/>
          </a:p>
        </p:txBody>
      </p:sp>
      <p:graphicFrame>
        <p:nvGraphicFramePr>
          <p:cNvPr id="25" name="Chart 0" descr=""/>
          <p:cNvGraphicFramePr/>
          <p:nvPr/>
        </p:nvGraphicFramePr>
        <p:xfrm>
          <a:off x="6446520" y="1554480"/>
          <a:ext cx="5303520" cy="448056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algn="l" indent="0" marL="0">
              <a:buNone/>
            </a:pPr>
            <a:r>
              <a:rPr lang="en-US" sz="3000" b="1" dirty="0">
                <a:solidFill>
                  <a:schemeClr val="bg1"/>
                </a:solidFill>
              </a:rPr>
              <a:t>What I would change</a:t>
            </a:r>
            <a:endParaRPr lang="en-US" sz="3000" dirty="0"/>
          </a:p>
        </p:txBody>
      </p:sp>
      <p:sp>
        <p:nvSpPr>
          <p:cNvPr id="3" name="change Use the question body"/>
          <p:cNvSpPr/>
          <p:nvPr/>
        </p:nvSpPr>
        <p:spPr>
          <a:xfrm>
            <a:off x="548640" y="1691640"/>
            <a:ext cx="3520440" cy="2057400"/>
          </a:xfrm>
          <a:prstGeom prst="roundRect">
            <a:avLst>
              <a:gd name="adj" fmla="val 4444"/>
            </a:avLst>
          </a:prstGeom>
          <a:solidFill>
            <a:schemeClr val="bg1">
              <a:alpha val="9000"/>
            </a:schemeClr>
          </a:solidFill>
          <a:ln/>
        </p:spPr>
      </p:sp>
      <p:sp>
        <p:nvSpPr>
          <p:cNvPr id="4" name="icon circle book"/>
          <p:cNvSpPr/>
          <p:nvPr/>
        </p:nvSpPr>
        <p:spPr>
          <a:xfrm>
            <a:off x="777240" y="1920240"/>
            <a:ext cx="640080" cy="640080"/>
          </a:xfrm>
          <a:prstGeom prst="ellipse">
            <a:avLst/>
          </a:prstGeom>
          <a:solidFill>
            <a:schemeClr val="accent1"/>
          </a:solidFill>
          <a:ln/>
        </p:spPr>
      </p:sp>
      <p:pic>
        <p:nvPicPr>
          <p:cNvPr id="5" name="icon book" descr="Book icon">    </p:cNvPr>
          <p:cNvPicPr>
            <a:picLocks noChangeAspect="1"/>
          </p:cNvPicPr>
          <p:nvPr/>
        </p:nvPicPr>
        <p:blipFill>
          <a:blip r:embed="rId1"/>
          <a:stretch>
            <a:fillRect/>
          </a:stretch>
        </p:blipFill>
        <p:spPr>
          <a:xfrm>
            <a:off x="930859" y="2073859"/>
            <a:ext cx="332842" cy="332842"/>
          </a:xfrm>
          <a:prstGeom prst="rect">
            <a:avLst/>
          </a:prstGeom>
        </p:spPr>
      </p:pic>
      <p:sp>
        <p:nvSpPr>
          <p:cNvPr id="6" name="Text 3"/>
          <p:cNvSpPr txBox="1"/>
          <p:nvPr/>
        </p:nvSpPr>
        <p:spPr>
          <a:xfrm>
            <a:off x="1554480" y="1965960"/>
            <a:ext cx="2331720" cy="548640"/>
          </a:xfrm>
          <a:prstGeom prst="rect">
            <a:avLst/>
          </a:prstGeom>
          <a:noFill/>
          <a:ln/>
        </p:spPr>
        <p:txBody>
          <a:bodyPr wrap="square" lIns="0" tIns="0" rIns="0" bIns="0" rtlCol="0" anchor="ctr"/>
          <a:lstStyle/>
          <a:p>
            <a:pPr indent="0" marL="0">
              <a:buNone/>
            </a:pPr>
            <a:r>
              <a:rPr lang="en-US" sz="1600" b="1" dirty="0">
                <a:solidFill>
                  <a:schemeClr val="bg1"/>
                </a:solidFill>
              </a:rPr>
              <a:t>Use the question body</a:t>
            </a:r>
            <a:endParaRPr lang="en-US" sz="1600" dirty="0"/>
          </a:p>
        </p:txBody>
      </p:sp>
      <p:sp>
        <p:nvSpPr>
          <p:cNvPr id="7" name="Text 4"/>
          <p:cNvSpPr txBox="1"/>
          <p:nvPr/>
        </p:nvSpPr>
        <p:spPr>
          <a:xfrm>
            <a:off x="777240" y="2651760"/>
            <a:ext cx="3063240" cy="1005840"/>
          </a:xfrm>
          <a:prstGeom prst="rect">
            <a:avLst/>
          </a:prstGeom>
          <a:noFill/>
          <a:ln/>
        </p:spPr>
        <p:txBody>
          <a:bodyPr wrap="square" lIns="0" tIns="0" rIns="0" bIns="0" rtlCol="0" anchor="t"/>
          <a:lstStyle/>
          <a:p>
            <a:pPr indent="0" marL="0">
              <a:buNone/>
            </a:pPr>
            <a:r>
              <a:rPr lang="en-US" sz="1400" dirty="0">
                <a:solidFill>
                  <a:schemeClr val="bg2"/>
                </a:solidFill>
              </a:rPr>
              <a:t>Titles often don’t name the tool. I left the body out in 2021 because it needed much more memory and I wanted more rows.</a:t>
            </a:r>
            <a:endParaRPr lang="en-US" sz="1400" dirty="0"/>
          </a:p>
        </p:txBody>
      </p:sp>
      <p:sp>
        <p:nvSpPr>
          <p:cNvPr id="8" name="change Fix the cleanup"/>
          <p:cNvSpPr/>
          <p:nvPr/>
        </p:nvSpPr>
        <p:spPr>
          <a:xfrm>
            <a:off x="4320540" y="1691640"/>
            <a:ext cx="3520440" cy="2057400"/>
          </a:xfrm>
          <a:prstGeom prst="roundRect">
            <a:avLst>
              <a:gd name="adj" fmla="val 4444"/>
            </a:avLst>
          </a:prstGeom>
          <a:solidFill>
            <a:schemeClr val="bg1">
              <a:alpha val="9000"/>
            </a:schemeClr>
          </a:solidFill>
          <a:ln/>
        </p:spPr>
      </p:sp>
      <p:sp>
        <p:nvSpPr>
          <p:cNvPr id="9" name="icon circle broom"/>
          <p:cNvSpPr/>
          <p:nvPr/>
        </p:nvSpPr>
        <p:spPr>
          <a:xfrm>
            <a:off x="4549140" y="1920240"/>
            <a:ext cx="640080" cy="640080"/>
          </a:xfrm>
          <a:prstGeom prst="ellipse">
            <a:avLst/>
          </a:prstGeom>
          <a:solidFill>
            <a:schemeClr val="accent1"/>
          </a:solidFill>
          <a:ln/>
        </p:spPr>
      </p:sp>
      <p:pic>
        <p:nvPicPr>
          <p:cNvPr id="10" name="icon broom" descr="Broom icon">    </p:cNvPr>
          <p:cNvPicPr>
            <a:picLocks noChangeAspect="1"/>
          </p:cNvPicPr>
          <p:nvPr/>
        </p:nvPicPr>
        <p:blipFill>
          <a:blip r:embed="rId2"/>
          <a:stretch>
            <a:fillRect/>
          </a:stretch>
        </p:blipFill>
        <p:spPr>
          <a:xfrm>
            <a:off x="4702759" y="2073859"/>
            <a:ext cx="332842" cy="332842"/>
          </a:xfrm>
          <a:prstGeom prst="rect">
            <a:avLst/>
          </a:prstGeom>
        </p:spPr>
      </p:pic>
      <p:sp>
        <p:nvSpPr>
          <p:cNvPr id="11" name="Text 7"/>
          <p:cNvSpPr txBox="1"/>
          <p:nvPr/>
        </p:nvSpPr>
        <p:spPr>
          <a:xfrm>
            <a:off x="5326380" y="1965960"/>
            <a:ext cx="2331720" cy="548640"/>
          </a:xfrm>
          <a:prstGeom prst="rect">
            <a:avLst/>
          </a:prstGeom>
          <a:noFill/>
          <a:ln/>
        </p:spPr>
        <p:txBody>
          <a:bodyPr wrap="square" lIns="0" tIns="0" rIns="0" bIns="0" rtlCol="0" anchor="ctr"/>
          <a:lstStyle/>
          <a:p>
            <a:pPr indent="0" marL="0">
              <a:buNone/>
            </a:pPr>
            <a:r>
              <a:rPr lang="en-US" sz="1600" b="1" dirty="0">
                <a:solidFill>
                  <a:schemeClr val="bg1"/>
                </a:solidFill>
              </a:rPr>
              <a:t>Fix the cleanup</a:t>
            </a:r>
            <a:endParaRPr lang="en-US" sz="1600" dirty="0"/>
          </a:p>
        </p:txBody>
      </p:sp>
      <p:sp>
        <p:nvSpPr>
          <p:cNvPr id="12" name="Text 8"/>
          <p:cNvSpPr txBox="1"/>
          <p:nvPr/>
        </p:nvSpPr>
        <p:spPr>
          <a:xfrm>
            <a:off x="4549140" y="2651760"/>
            <a:ext cx="3063240" cy="1005840"/>
          </a:xfrm>
          <a:prstGeom prst="rect">
            <a:avLst/>
          </a:prstGeom>
          <a:noFill/>
          <a:ln/>
        </p:spPr>
        <p:txBody>
          <a:bodyPr wrap="square" lIns="0" tIns="0" rIns="0" bIns="0" rtlCol="0" anchor="t"/>
          <a:lstStyle/>
          <a:p>
            <a:pPr indent="0" marL="0">
              <a:buNone/>
            </a:pPr>
            <a:r>
              <a:rPr lang="en-US" sz="1400" dirty="0">
                <a:solidFill>
                  <a:schemeClr val="bg2"/>
                </a:solidFill>
              </a:rPr>
              <a:t>Keep C#, C++ and one-letter words, and make the common-word filter ignore case.</a:t>
            </a:r>
            <a:endParaRPr lang="en-US" sz="1400" dirty="0"/>
          </a:p>
        </p:txBody>
      </p:sp>
      <p:sp>
        <p:nvSpPr>
          <p:cNvPr id="13" name="change One cutoff per tag"/>
          <p:cNvSpPr/>
          <p:nvPr/>
        </p:nvSpPr>
        <p:spPr>
          <a:xfrm>
            <a:off x="8092440" y="1691640"/>
            <a:ext cx="3520440" cy="2057400"/>
          </a:xfrm>
          <a:prstGeom prst="roundRect">
            <a:avLst>
              <a:gd name="adj" fmla="val 4444"/>
            </a:avLst>
          </a:prstGeom>
          <a:solidFill>
            <a:schemeClr val="bg1">
              <a:alpha val="9000"/>
            </a:schemeClr>
          </a:solidFill>
          <a:ln/>
        </p:spPr>
      </p:sp>
      <p:sp>
        <p:nvSpPr>
          <p:cNvPr id="14" name="icon circle sliders"/>
          <p:cNvSpPr/>
          <p:nvPr/>
        </p:nvSpPr>
        <p:spPr>
          <a:xfrm>
            <a:off x="8321040" y="1920240"/>
            <a:ext cx="640080" cy="640080"/>
          </a:xfrm>
          <a:prstGeom prst="ellipse">
            <a:avLst/>
          </a:prstGeom>
          <a:solidFill>
            <a:schemeClr val="accent1"/>
          </a:solidFill>
          <a:ln/>
        </p:spPr>
      </p:sp>
      <p:pic>
        <p:nvPicPr>
          <p:cNvPr id="15" name="icon sliders" descr="Sliders icon">    </p:cNvPr>
          <p:cNvPicPr>
            <a:picLocks noChangeAspect="1"/>
          </p:cNvPicPr>
          <p:nvPr/>
        </p:nvPicPr>
        <p:blipFill>
          <a:blip r:embed="rId3"/>
          <a:stretch>
            <a:fillRect/>
          </a:stretch>
        </p:blipFill>
        <p:spPr>
          <a:xfrm>
            <a:off x="8474659" y="2073859"/>
            <a:ext cx="332842" cy="332842"/>
          </a:xfrm>
          <a:prstGeom prst="rect">
            <a:avLst/>
          </a:prstGeom>
        </p:spPr>
      </p:pic>
      <p:sp>
        <p:nvSpPr>
          <p:cNvPr id="16" name="Text 11"/>
          <p:cNvSpPr txBox="1"/>
          <p:nvPr/>
        </p:nvSpPr>
        <p:spPr>
          <a:xfrm>
            <a:off x="9098280" y="1965960"/>
            <a:ext cx="2331720" cy="548640"/>
          </a:xfrm>
          <a:prstGeom prst="rect">
            <a:avLst/>
          </a:prstGeom>
          <a:noFill/>
          <a:ln/>
        </p:spPr>
        <p:txBody>
          <a:bodyPr wrap="square" lIns="0" tIns="0" rIns="0" bIns="0" rtlCol="0" anchor="ctr"/>
          <a:lstStyle/>
          <a:p>
            <a:pPr indent="0" marL="0">
              <a:buNone/>
            </a:pPr>
            <a:r>
              <a:rPr lang="en-US" sz="1600" b="1" dirty="0">
                <a:solidFill>
                  <a:schemeClr val="bg1"/>
                </a:solidFill>
              </a:rPr>
              <a:t>One cutoff per tag</a:t>
            </a:r>
            <a:endParaRPr lang="en-US" sz="1600" dirty="0"/>
          </a:p>
        </p:txBody>
      </p:sp>
      <p:sp>
        <p:nvSpPr>
          <p:cNvPr id="17" name="Text 12"/>
          <p:cNvSpPr txBox="1"/>
          <p:nvPr/>
        </p:nvSpPr>
        <p:spPr>
          <a:xfrm>
            <a:off x="8321040" y="2651760"/>
            <a:ext cx="3063240" cy="1005840"/>
          </a:xfrm>
          <a:prstGeom prst="rect">
            <a:avLst/>
          </a:prstGeom>
          <a:noFill/>
          <a:ln/>
        </p:spPr>
        <p:txBody>
          <a:bodyPr wrap="square" lIns="0" tIns="0" rIns="0" bIns="0" rtlCol="0" anchor="t"/>
          <a:lstStyle/>
          <a:p>
            <a:pPr indent="0" marL="0">
              <a:buNone/>
            </a:pPr>
            <a:r>
              <a:rPr lang="en-US" sz="1400" dirty="0">
                <a:solidFill>
                  <a:schemeClr val="bg2"/>
                </a:solidFill>
              </a:rPr>
              <a:t>Trade some precision (85.5%) for more recall (46.0%).</a:t>
            </a:r>
            <a:endParaRPr lang="en-US" sz="1400" dirty="0"/>
          </a:p>
        </p:txBody>
      </p:sp>
      <p:sp>
        <p:nvSpPr>
          <p:cNvPr id="18" name="change Newer data"/>
          <p:cNvSpPr/>
          <p:nvPr/>
        </p:nvSpPr>
        <p:spPr>
          <a:xfrm>
            <a:off x="2434590" y="4023360"/>
            <a:ext cx="3520440" cy="2057400"/>
          </a:xfrm>
          <a:prstGeom prst="roundRect">
            <a:avLst>
              <a:gd name="adj" fmla="val 4444"/>
            </a:avLst>
          </a:prstGeom>
          <a:solidFill>
            <a:schemeClr val="bg1">
              <a:alpha val="9000"/>
            </a:schemeClr>
          </a:solidFill>
          <a:ln/>
        </p:spPr>
      </p:sp>
      <p:sp>
        <p:nvSpPr>
          <p:cNvPr id="19" name="icon circle calendar"/>
          <p:cNvSpPr/>
          <p:nvPr/>
        </p:nvSpPr>
        <p:spPr>
          <a:xfrm>
            <a:off x="2663190" y="4251960"/>
            <a:ext cx="640080" cy="640080"/>
          </a:xfrm>
          <a:prstGeom prst="ellipse">
            <a:avLst/>
          </a:prstGeom>
          <a:solidFill>
            <a:schemeClr val="accent1"/>
          </a:solidFill>
          <a:ln/>
        </p:spPr>
      </p:sp>
      <p:pic>
        <p:nvPicPr>
          <p:cNvPr id="20" name="icon calendar" descr="Calendar icon">    </p:cNvPr>
          <p:cNvPicPr>
            <a:picLocks noChangeAspect="1"/>
          </p:cNvPicPr>
          <p:nvPr/>
        </p:nvPicPr>
        <p:blipFill>
          <a:blip r:embed="rId4"/>
          <a:stretch>
            <a:fillRect/>
          </a:stretch>
        </p:blipFill>
        <p:spPr>
          <a:xfrm>
            <a:off x="2816809" y="4405579"/>
            <a:ext cx="332842" cy="332842"/>
          </a:xfrm>
          <a:prstGeom prst="rect">
            <a:avLst/>
          </a:prstGeom>
        </p:spPr>
      </p:pic>
      <p:sp>
        <p:nvSpPr>
          <p:cNvPr id="21" name="Text 15"/>
          <p:cNvSpPr txBox="1"/>
          <p:nvPr/>
        </p:nvSpPr>
        <p:spPr>
          <a:xfrm>
            <a:off x="3440430" y="4297680"/>
            <a:ext cx="2331720" cy="548640"/>
          </a:xfrm>
          <a:prstGeom prst="rect">
            <a:avLst/>
          </a:prstGeom>
          <a:noFill/>
          <a:ln/>
        </p:spPr>
        <p:txBody>
          <a:bodyPr wrap="square" lIns="0" tIns="0" rIns="0" bIns="0" rtlCol="0" anchor="ctr"/>
          <a:lstStyle/>
          <a:p>
            <a:pPr indent="0" marL="0">
              <a:buNone/>
            </a:pPr>
            <a:r>
              <a:rPr lang="en-US" sz="1600" b="1" dirty="0">
                <a:solidFill>
                  <a:schemeClr val="bg1"/>
                </a:solidFill>
              </a:rPr>
              <a:t>Newer data</a:t>
            </a:r>
            <a:endParaRPr lang="en-US" sz="1600" dirty="0"/>
          </a:p>
        </p:txBody>
      </p:sp>
      <p:sp>
        <p:nvSpPr>
          <p:cNvPr id="22" name="Text 16"/>
          <p:cNvSpPr txBox="1"/>
          <p:nvPr/>
        </p:nvSpPr>
        <p:spPr>
          <a:xfrm>
            <a:off x="2663190" y="4983480"/>
            <a:ext cx="3063240" cy="1005840"/>
          </a:xfrm>
          <a:prstGeom prst="rect">
            <a:avLst/>
          </a:prstGeom>
          <a:noFill/>
          <a:ln/>
        </p:spPr>
        <p:txBody>
          <a:bodyPr wrap="square" lIns="0" tIns="0" rIns="0" bIns="0" rtlCol="0" anchor="t"/>
          <a:lstStyle/>
          <a:p>
            <a:pPr indent="0" marL="0">
              <a:buNone/>
            </a:pPr>
            <a:r>
              <a:rPr lang="en-US" sz="1400" dirty="0">
                <a:solidFill>
                  <a:schemeClr val="bg2"/>
                </a:solidFill>
              </a:rPr>
              <a:t>The database ends in 2010, and the filters kept only popular questions.</a:t>
            </a:r>
            <a:endParaRPr lang="en-US" sz="1400" dirty="0"/>
          </a:p>
        </p:txBody>
      </p:sp>
      <p:sp>
        <p:nvSpPr>
          <p:cNvPr id="23" name="change More tags"/>
          <p:cNvSpPr/>
          <p:nvPr/>
        </p:nvSpPr>
        <p:spPr>
          <a:xfrm>
            <a:off x="6206490" y="4023360"/>
            <a:ext cx="3520440" cy="2057400"/>
          </a:xfrm>
          <a:prstGeom prst="roundRect">
            <a:avLst>
              <a:gd name="adj" fmla="val 4444"/>
            </a:avLst>
          </a:prstGeom>
          <a:solidFill>
            <a:schemeClr val="bg1">
              <a:alpha val="9000"/>
            </a:schemeClr>
          </a:solidFill>
          <a:ln/>
        </p:spPr>
      </p:sp>
      <p:sp>
        <p:nvSpPr>
          <p:cNvPr id="24" name="icon circle tags"/>
          <p:cNvSpPr/>
          <p:nvPr/>
        </p:nvSpPr>
        <p:spPr>
          <a:xfrm>
            <a:off x="6435090" y="4251960"/>
            <a:ext cx="640080" cy="640080"/>
          </a:xfrm>
          <a:prstGeom prst="ellipse">
            <a:avLst/>
          </a:prstGeom>
          <a:solidFill>
            <a:schemeClr val="accent1"/>
          </a:solidFill>
          <a:ln/>
        </p:spPr>
      </p:sp>
      <p:pic>
        <p:nvPicPr>
          <p:cNvPr id="25" name="icon tags" descr="Tags icon">    </p:cNvPr>
          <p:cNvPicPr>
            <a:picLocks noChangeAspect="1"/>
          </p:cNvPicPr>
          <p:nvPr/>
        </p:nvPicPr>
        <p:blipFill>
          <a:blip r:embed="rId5"/>
          <a:stretch>
            <a:fillRect/>
          </a:stretch>
        </p:blipFill>
        <p:spPr>
          <a:xfrm>
            <a:off x="6588709" y="4405579"/>
            <a:ext cx="332842" cy="332842"/>
          </a:xfrm>
          <a:prstGeom prst="rect">
            <a:avLst/>
          </a:prstGeom>
        </p:spPr>
      </p:pic>
      <p:sp>
        <p:nvSpPr>
          <p:cNvPr id="26" name="Text 19"/>
          <p:cNvSpPr txBox="1"/>
          <p:nvPr/>
        </p:nvSpPr>
        <p:spPr>
          <a:xfrm>
            <a:off x="7212330" y="4297680"/>
            <a:ext cx="2331720" cy="548640"/>
          </a:xfrm>
          <a:prstGeom prst="rect">
            <a:avLst/>
          </a:prstGeom>
          <a:noFill/>
          <a:ln/>
        </p:spPr>
        <p:txBody>
          <a:bodyPr wrap="square" lIns="0" tIns="0" rIns="0" bIns="0" rtlCol="0" anchor="ctr"/>
          <a:lstStyle/>
          <a:p>
            <a:pPr indent="0" marL="0">
              <a:buNone/>
            </a:pPr>
            <a:r>
              <a:rPr lang="en-US" sz="1600" b="1" dirty="0">
                <a:solidFill>
                  <a:schemeClr val="bg1"/>
                </a:solidFill>
              </a:rPr>
              <a:t>More tags</a:t>
            </a:r>
            <a:endParaRPr lang="en-US" sz="1600" dirty="0"/>
          </a:p>
        </p:txBody>
      </p:sp>
      <p:sp>
        <p:nvSpPr>
          <p:cNvPr id="27" name="Text 20"/>
          <p:cNvSpPr txBox="1"/>
          <p:nvPr/>
        </p:nvSpPr>
        <p:spPr>
          <a:xfrm>
            <a:off x="6435090" y="4983480"/>
            <a:ext cx="3063240" cy="1005840"/>
          </a:xfrm>
          <a:prstGeom prst="rect">
            <a:avLst/>
          </a:prstGeom>
          <a:noFill/>
          <a:ln/>
        </p:spPr>
        <p:txBody>
          <a:bodyPr wrap="square" lIns="0" tIns="0" rIns="0" bIns="0" rtlCol="0" anchor="t"/>
          <a:lstStyle/>
          <a:p>
            <a:pPr indent="0" marL="0">
              <a:buNone/>
            </a:pPr>
            <a:r>
              <a:rPr lang="en-US" sz="1400" dirty="0">
                <a:solidFill>
                  <a:schemeClr val="bg2"/>
                </a:solidFill>
              </a:rPr>
              <a:t>Only the 100 most common tags were modeled; 6,784 were left out.</a:t>
            </a:r>
            <a:endParaRPr lang="en-US" sz="1400" dirty="0"/>
          </a:p>
        </p:txBody>
      </p:sp>
      <p:sp>
        <p:nvSpPr>
          <p:cNvPr id="28" name="Text 21"/>
          <p:cNvSpPr txBox="1"/>
          <p:nvPr/>
        </p:nvSpPr>
        <p:spPr>
          <a:xfrm>
            <a:off x="548640" y="6309360"/>
            <a:ext cx="10424160" cy="320040"/>
          </a:xfrm>
          <a:prstGeom prst="rect">
            <a:avLst/>
          </a:prstGeom>
          <a:noFill/>
          <a:ln/>
        </p:spPr>
        <p:txBody>
          <a:bodyPr wrap="square" lIns="0" tIns="0" rIns="0" bIns="0" rtlCol="0" anchor="t"/>
          <a:lstStyle/>
          <a:p>
            <a:pPr indent="0" marL="0">
              <a:buNone/>
            </a:pPr>
            <a:r>
              <a:rPr lang="en-US" sz="1200" dirty="0">
                <a:solidFill>
                  <a:schemeClr val="bg2"/>
                </a:solidFill>
              </a:rPr>
              <a:t>Code, notebook and these slides: github.com/garrethcline/Predicting-Tags-from-StackOverflow-Using-Title-Data-</a:t>
            </a:r>
            <a:endParaRPr lang="en-US" sz="1200" dirty="0"/>
          </a:p>
        </p:txBody>
      </p:sp>
      <p:sp>
        <p:nvSpPr>
          <p:cNvPr id="29" name="Text 0"/>
          <p:cNvSpPr/>
          <p:nvPr>
            <p:ph idx="101" type="body" hasCustomPrompt="1"/>
          </p:nvPr>
        </p:nvSpPr>
        <p:spPr>
          <a:xfrm>
            <a:off x="548640" y="987552"/>
            <a:ext cx="11064240" cy="411480"/>
          </a:xfrm>
          <a:prstGeom prst="rect">
            <a:avLst/>
          </a:prstGeom>
          <a:noFill/>
          <a:ln/>
        </p:spPr>
        <p:txBody>
          <a:bodyPr wrap="square" lIns="0" tIns="0" rIns="0" bIns="0" rtlCol="0" anchor="ctr"/>
          <a:lstStyle/>
          <a:p>
            <a:pPr algn="l" indent="0" marL="0">
              <a:buNone/>
            </a:pPr>
            <a:endParaRPr lang="en-US" sz="16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Stack Overflow Tags">
  <a:themeElements>
    <a:clrScheme name="Stack Overflow Tags">
      <a:dk1>
        <a:srgbClr val="1F2328"/>
      </a:dk1>
      <a:lt1>
        <a:srgbClr val="FFFFFF"/>
      </a:lt1>
      <a:dk2>
        <a:srgbClr val="24292F"/>
      </a:dk2>
      <a:lt2>
        <a:srgbClr val="F3F4F6"/>
      </a:lt2>
      <a:accent1>
        <a:srgbClr val="EB6834"/>
      </a:accent1>
      <a:accent2>
        <a:srgbClr val="2A78D6"/>
      </a:accent2>
      <a:accent3>
        <a:srgbClr val="C3C2B7"/>
      </a:accent3>
      <a:accent4>
        <a:srgbClr val="E1ECF4"/>
      </a:accent4>
      <a:accent5>
        <a:srgbClr val="2C5777"/>
      </a:accent5>
      <a:accent6>
        <a:srgbClr val="52514E"/>
      </a:accent6>
      <a:hlink>
        <a:srgbClr val="2A78D6"/>
      </a:hlink>
      <a:folHlink>
        <a:srgbClr val="6250D6"/>
      </a:folHlink>
    </a:clrScheme>
    <a:fontScheme name="Stack Overflow Tags">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Predicting Stack Overflow Tags from Question Titles</dc:title>
  <dc:subject>Metis Data Science Bootcamp, Project 3, February 2021</dc:subject>
  <dc:creator>Garreth Cline</dc:creator>
  <cp:lastModifiedBy>Garreth Cline</cp:lastModifiedBy>
  <cp:revision>1</cp:revision>
  <dcterms:created xsi:type="dcterms:W3CDTF">2026-10-12T21:02:28Z</dcterms:created>
  <dcterms:modified xsi:type="dcterms:W3CDTF">2026-10-12T21:02:28Z</dcterms:modified>
</cp:coreProperties>
</file>