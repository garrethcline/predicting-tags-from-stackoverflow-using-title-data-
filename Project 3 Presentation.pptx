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54864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2057400"/>
          </a:xfrm>
          <a:prstGeom prst="rect">
            <a:avLst/>
          </a:prstGeom>
          <a:noFill/>
        </p:spPr>
        <p:txBody>
          <a:bodyPr wrap="square" lIns="18288" rIns="18288" tIns="18288" bIns="18288" anchor="b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Predicting Stack Overflow Tags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from Question Titles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Metis Data Science Bootcamp, Project 3, February 2021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6984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Garreth Cline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106984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C8D0E0"/>
                </a:solidFill>
                <a:latin typeface="Calibri"/>
              </a:rPr>
              <a:t>Slides remade in October 2026 with AI help. Every result comes from the original 2021 notebook.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C8D0E0"/>
                </a:solidFill>
                <a:latin typeface="Calibri"/>
              </a:rPr>
              <a:t>Code and notebook: github.com/garrethcline/Predicting-Tags-from-StackOverflow-Using-Title-Data-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Calibri"/>
              </a:rPr>
              <a:t>The 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Garreth Cline  |  Predicting Stack Overflow tags from titles  |  Metis, February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39496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Recommend tags for a Stack Overflow question from its title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394960" cy="3566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marL="256032" indent="-256032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800" b="0" i="0">
                <a:solidFill>
                  <a:srgbClr val="222222"/>
                </a:solidFill>
                <a:latin typeface="Calibri"/>
              </a:rPr>
              <a:t>Suggest tags to someone while they write a question.</a:t>
            </a:r>
          </a:p>
          <a:p>
            <a:pPr marL="256032" indent="-256032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800" b="0" i="0">
                <a:solidFill>
                  <a:srgbClr val="222222"/>
                </a:solidFill>
                <a:latin typeface="Calibri"/>
              </a:rPr>
              <a:t>Add tags to old posts or other text that has none.</a:t>
            </a:r>
          </a:p>
          <a:p>
            <a:pPr marL="256032" indent="-256032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question can have several tags, so for each title the model makes 100 yes or no calls, one for each of the 100 most common tags.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508760"/>
          <a:ext cx="5349240" cy="25603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611880"/>
                <a:gridCol w="17373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Tags kept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Convert Decimal to Double?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c#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How do I calculate someone’s age in C#?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c#, .net, datetime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Calculate relative time in C#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c#, datetime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Determine a User’s Timezone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javascript, html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4206240"/>
            <a:ext cx="5349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F636B"/>
                </a:solidFill>
                <a:latin typeface="Calibri"/>
              </a:rPr>
              <a:t>Examples from the data. Tags outside the 100 most common were dropped.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Calibri"/>
              </a:rPr>
              <a:t>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F636B"/>
                </a:solidFill>
                <a:latin typeface="Calibri"/>
              </a:rPr>
              <a:t>Stack Overflow’s public data dump (2010 version), loaded as a SQL Server database from brentozar.com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Garreth Cline  |  Predicting Stack Overflow tags from titles  |  Metis, February 2021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1783080"/>
            <a:ext cx="2468880" cy="123444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2" y="1892807"/>
            <a:ext cx="210312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1F3864"/>
                </a:solidFill>
                <a:latin typeface="Calibri"/>
              </a:rPr>
              <a:t>1,000,000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587752"/>
            <a:ext cx="2103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posts exported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4952" y="2103120"/>
            <a:ext cx="38404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0">
                <a:solidFill>
                  <a:srgbClr val="5F636B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468880" cy="123444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11880" y="1892807"/>
            <a:ext cx="210312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1F3864"/>
                </a:solidFill>
                <a:latin typeface="Calibri"/>
              </a:rPr>
              <a:t>28,183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87752"/>
            <a:ext cx="2103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score above 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103120"/>
            <a:ext cx="38404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0">
                <a:solidFill>
                  <a:srgbClr val="5F636B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1783080"/>
            <a:ext cx="2468880" cy="123444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64808" y="1892807"/>
            <a:ext cx="210312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1F3864"/>
                </a:solidFill>
                <a:latin typeface="Calibri"/>
              </a:rPr>
              <a:t>27,666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587752"/>
            <a:ext cx="2103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over 10,000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0808" y="2103120"/>
            <a:ext cx="38404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0">
                <a:solidFill>
                  <a:srgbClr val="5F636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34856" y="1783080"/>
            <a:ext cx="2468880" cy="123444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17736" y="1892807"/>
            <a:ext cx="210312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1F3864"/>
                </a:solidFill>
                <a:latin typeface="Calibri"/>
              </a:rPr>
              <a:t>25,352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587752"/>
            <a:ext cx="2103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with a top-100 tag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37560"/>
            <a:ext cx="52120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In SQL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749039"/>
            <a:ext cx="5212080" cy="2468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marL="256032" indent="-256032">
              <a:lnSpc>
                <a:spcPct val="108000"/>
              </a:lnSpc>
              <a:spcAft>
                <a:spcPts val="700"/>
              </a:spcAft>
              <a:buChar char="•"/>
            </a:pPr>
            <a:r>
              <a:rPr sz="1600" b="0" i="0">
                <a:solidFill>
                  <a:srgbClr val="222222"/>
                </a:solidFill>
                <a:latin typeface="Calibri"/>
              </a:rPr>
              <a:t>Removed commas from titles and tags, and the angle brackets around tags, so the CSV would load cleanly</a:t>
            </a:r>
          </a:p>
          <a:p>
            <a:pPr marL="256032" indent="-256032">
              <a:lnSpc>
                <a:spcPct val="108000"/>
              </a:lnSpc>
              <a:spcAft>
                <a:spcPts val="700"/>
              </a:spcAft>
              <a:buChar char="•"/>
            </a:pPr>
            <a:r>
              <a:rPr sz="1600" b="0" i="0">
                <a:solidFill>
                  <a:srgbClr val="222222"/>
                </a:solidFill>
                <a:latin typeface="Calibri"/>
              </a:rPr>
              <a:t>Deleted posts with no title</a:t>
            </a:r>
          </a:p>
          <a:p>
            <a:pPr marL="256032" indent="-256032">
              <a:lnSpc>
                <a:spcPct val="108000"/>
              </a:lnSpc>
              <a:spcAft>
                <a:spcPts val="700"/>
              </a:spcAft>
              <a:buChar char="•"/>
            </a:pPr>
            <a:r>
              <a:rPr sz="1600" b="0" i="0">
                <a:solidFill>
                  <a:srgbClr val="222222"/>
                </a:solidFill>
                <a:latin typeface="Calibri"/>
              </a:rPr>
              <a:t>Exported the posts to CSV with SQL Server Management Studio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337560"/>
            <a:ext cx="5394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In Python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749039"/>
            <a:ext cx="5394960" cy="2468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marL="256032" indent="-256032">
              <a:lnSpc>
                <a:spcPct val="108000"/>
              </a:lnSpc>
              <a:spcAft>
                <a:spcPts val="700"/>
              </a:spcAft>
              <a:buChar char="•"/>
            </a:pPr>
            <a:r>
              <a:rPr sz="1600" b="0" i="0">
                <a:solidFill>
                  <a:srgbClr val="222222"/>
                </a:solidFill>
                <a:latin typeface="Calibri"/>
              </a:rPr>
              <a:t>Counted 82,516 tag uses across 6,884 different tags and kept the 100 most common</a:t>
            </a:r>
          </a:p>
          <a:p>
            <a:pPr marL="256032" indent="-256032">
              <a:lnSpc>
                <a:spcPct val="108000"/>
              </a:lnSpc>
              <a:spcAft>
                <a:spcPts val="700"/>
              </a:spcAft>
              <a:buChar char="•"/>
            </a:pPr>
            <a:r>
              <a:rPr sz="1600" b="0" i="0">
                <a:solidFill>
                  <a:srgbClr val="222222"/>
                </a:solidFill>
                <a:latin typeface="Calibri"/>
              </a:rPr>
              <a:t>Cleaned the titles: removed punctuation, reduced verbs to their base form, removed common words</a:t>
            </a:r>
          </a:p>
          <a:p>
            <a:pPr marL="256032" indent="-256032">
              <a:lnSpc>
                <a:spcPct val="108000"/>
              </a:lnSpc>
              <a:spcAft>
                <a:spcPts val="700"/>
              </a:spcAft>
              <a:buChar char="•"/>
            </a:pPr>
            <a:r>
              <a:rPr sz="1600" b="0" i="0">
                <a:solidFill>
                  <a:srgbClr val="222222"/>
                </a:solidFill>
                <a:latin typeface="Calibri"/>
              </a:rPr>
              <a:t>Scored each title with TF-IDF over the 1,000 most frequent words</a:t>
            </a:r>
          </a:p>
          <a:p>
            <a:pPr marL="256032" indent="-256032">
              <a:lnSpc>
                <a:spcPct val="108000"/>
              </a:lnSpc>
              <a:spcAft>
                <a:spcPts val="700"/>
              </a:spcAft>
              <a:buChar char="•"/>
            </a:pPr>
            <a:r>
              <a:rPr sz="1600" b="0" i="0">
                <a:solidFill>
                  <a:srgbClr val="222222"/>
                </a:solidFill>
                <a:latin typeface="Calibri"/>
              </a:rPr>
              <a:t>Held out 20% of the questions (5,071) as a test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Calibri"/>
              </a:rPr>
              <a:t>The 100 most common tags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Garreth Cline  |  Predicting Stack Overflow tags from titles  |  Metis, February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0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0E0"/>
            </a:solidFill>
          </a:ln>
        </p:spPr>
        <p:txBody>
          <a:bodyPr rtlCol="0" anchor="ctr"/>
          <a:lstStyle/>
          <a:p/>
        </p:txBody>
      </p:sp>
      <p:pic>
        <p:nvPicPr>
          <p:cNvPr id="7" name="Picture 6" descr="orig_tag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7351"/>
            <a:ext cx="6217920" cy="46582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1463040"/>
            <a:ext cx="4343400" cy="4206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How often each tag appears in the 27,666 questions left after the score and view filters.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c# is the most common, on about 3,100 questions, followed by java, javascript and python. By the 100th tag (file-io) the count is close to 100.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So c# has about 30 times as many examples to learn from as file-io.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5760720"/>
            <a:ext cx="4343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F636B"/>
                </a:solidFill>
                <a:latin typeface="Calibri"/>
              </a:rPr>
              <a:t>Chart from the 2021 notebook.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Calibri"/>
              </a:rPr>
              <a:t>Twelve models on the same test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F636B"/>
                </a:solidFill>
                <a:latin typeface="Calibri"/>
              </a:rPr>
              <a:t>Each model ran as 100 yes or no classifiers, one per tag (one-vs-rest), with default settings.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Garreth Cline  |  Predicting Stack Overflow tags from titles  |  Metis, February 2021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97306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383280"/>
                <a:gridCol w="1783080"/>
                <a:gridCol w="1783080"/>
              </a:tblGrid>
              <a:tr h="36118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Jaccard score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Hamming loss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PassiveAggressive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48.5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1.19%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22222"/>
                          </a:solidFill>
                          <a:latin typeface="Calibri"/>
                        </a:rPr>
                        <a:t>LinearSVC (chosen)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222222"/>
                          </a:solidFill>
                          <a:latin typeface="Calibri"/>
                        </a:rPr>
                        <a:t>47.8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222222"/>
                          </a:solidFill>
                          <a:latin typeface="Calibri"/>
                        </a:rPr>
                        <a:t>1.02%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forest, 3 runs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45.8 to 45.9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1.07 to 1.08%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SGD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45.7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1.02%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43.1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1.41%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Perceptron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42.7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1.70%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41.1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1.09%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k-nearest neighbors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24.2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1.42%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Multinomial naive Bayes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23.2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1.35%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Dummy (random guesses)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2.6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3.14%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818120" y="1645920"/>
            <a:ext cx="3840480" cy="3973068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429000" cy="37490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1" i="0">
                <a:solidFill>
                  <a:srgbClr val="1F3864"/>
                </a:solidFill>
                <a:latin typeface="Calibri"/>
              </a:rPr>
              <a:t>Reading the scores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</a:rPr>
              <a:t>Jaccard score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For each test question: the tags both predicted and correct, divided by all tags that were predicted or correct. Averaged and shown out of 100. Higher is better.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</a:rPr>
              <a:t>Hamming loss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The share of all yes or no calls that were wrong. Lower is better.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Even the dummy model gets about 97% of calls right, since most tags don’t apply to a given question. The Jaccard score shows the differences better.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42432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F636B"/>
                </a:solidFill>
                <a:latin typeface="Calibri"/>
              </a:rPr>
              <a:t>The 2021 code labeled the three random forests 10, 100 and 1,000 trees, but all three were set to 1,000, so they share a row. The dummy model guessed each tag at random, at that tag’s rate in the training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Calibri"/>
              </a:rPr>
              <a:t>Final model: LinearSVC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Garreth Cline  |  Predicting Stack Overflow tags from titles  |  Metis, February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257800" cy="4206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I tuned LinearSVC, which had the lowest Hamming loss and the second-highest Jaccard score.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A grid search tried C = 1, 10, 100 and 1,000 with 100-fold cross-validation: 400 fits, about four minutes on a 32-thread computer.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The best value was C = 1, the default, so the tuned model scored the same as the untuned one.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100 folds was more than needed. The notebook notes that 15 folds gave similar results with much less load.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463040"/>
            <a:ext cx="2651760" cy="192024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55080" y="1572768"/>
            <a:ext cx="228600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F3864"/>
                </a:solidFill>
                <a:latin typeface="Calibri"/>
              </a:rPr>
              <a:t>47.8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67712"/>
            <a:ext cx="2286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Jaccard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606040"/>
            <a:ext cx="2286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F636B"/>
                </a:solidFill>
                <a:latin typeface="Calibri"/>
              </a:rPr>
              <a:t>Dummy model: 2.6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6840" y="1463040"/>
            <a:ext cx="2651760" cy="192024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89719" y="1572768"/>
            <a:ext cx="228600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F3864"/>
                </a:solidFill>
                <a:latin typeface="Calibri"/>
              </a:rPr>
              <a:t>1.02%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19" y="2267712"/>
            <a:ext cx="2286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Hamming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19" y="2606040"/>
            <a:ext cx="2286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F636B"/>
                </a:solidFill>
                <a:latin typeface="Calibri"/>
              </a:rPr>
              <a:t>Dummy model: 3.14%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566160"/>
            <a:ext cx="2651760" cy="192024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5080" y="3675888"/>
            <a:ext cx="228600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F3864"/>
                </a:solidFill>
                <a:latin typeface="Calibri"/>
              </a:rPr>
              <a:t>85.5%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370832"/>
            <a:ext cx="2286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Precision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709160"/>
            <a:ext cx="2286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F636B"/>
                </a:solidFill>
                <a:latin typeface="Calibri"/>
              </a:rPr>
              <a:t>Share of predicted tags that were correct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3566160"/>
            <a:ext cx="2651760" cy="192024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89719" y="3675888"/>
            <a:ext cx="228600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F3864"/>
                </a:solidFill>
                <a:latin typeface="Calibri"/>
              </a:rPr>
              <a:t>46.0%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4370832"/>
            <a:ext cx="2286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Recall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4709160"/>
            <a:ext cx="2286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F636B"/>
                </a:solidFill>
                <a:latin typeface="Calibri"/>
              </a:rPr>
              <a:t>Share of actual tags the model found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F636B"/>
                </a:solidFill>
                <a:latin typeface="Calibri"/>
              </a:rPr>
              <a:t>Precision and recall were added in 2026, from the notebook’s 100 per-tag confusion matrices: 3,842 tags found, 652 predicted wrongly, 4,508 missed.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Calibri"/>
              </a:rPr>
              <a:t>Where it worked and where it didn’t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Garreth Cline  |  Predicting Stack Overflow tags from titles  |  Metis, February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2578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Highest recall (tags with 25 or more test questions)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5257800" cy="320954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331720"/>
                <a:gridCol w="1737360"/>
                <a:gridCol w="11887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Found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json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39 of 44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git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148 of 170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87%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eclipse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54 of 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django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55 of 69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svn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39 of 49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sqlite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23 of 29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ruby-on-rails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77 of 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vim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45 of 59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325880"/>
            <a:ext cx="52578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The eight most common tags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737360"/>
          <a:ext cx="5257800" cy="320954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331720"/>
                <a:gridCol w="1737360"/>
                <a:gridCol w="11887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Found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c#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183 of 597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java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342 of 595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javascript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258 of 466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309 of 450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69%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.net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77 of 302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c++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66 of 282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php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148 of 236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android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176 of 234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The best tags are names of tools that tend to appear in titles. Broad topic tags did worst: 11 tags were never predicted correctly, including oop, class, file, math, coding-style and language-agnostic.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Calibri"/>
              </a:rPr>
              <a:t>What the model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F636B"/>
                </a:solidFill>
                <a:latin typeface="Calibri"/>
              </a:rPr>
              <a:t>The eight title words with the most weight for each tag in the final model, strongest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Garreth Cline  |  Predicting Stack Overflow tags from titles  |  Metis, February 2021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40" cy="353872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600200"/>
                <a:gridCol w="946404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Words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git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git, github, commit, branch, repo, repository, remote, master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android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android, activity, webview, edittext, textview, intent, listview, emulator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python, matplotlib, numpy, dict, django, module, none, modules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java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java, jpa, spring, junit, jvm, hibernate, servlet, arraylist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css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css, border, divs, div, font, span, align, overflow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sql, procedure, oracle, inner, query, t-sql, on, by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iphone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iphone, uiscrollview, uitableview, uiview, uibutton, uiimage, uilabel, ios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c++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std, cc, boost, c++, stl, virtual, qt, template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For most tags the strongest word is the tag’s own name. The exception here is c++, where it is “std”; the next slide explains why.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Calibri"/>
              </a:rPr>
              <a:t>Why c#, c++ and c scored 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Garreth Cline  |  Predicting Stack Overflow tags from titles  |  Metis, February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309360" cy="4572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The punctuation cleanup kept a tag name only when it matched exactly, in lower case. When a title said “C#” or “C++”, the symbols were stripped and only “C” was left.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The TF-IDF step ignored one-letter words, so the “C” was dropped too. For those titles the model never saw the language name.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The same cleanup turned “C/C++” into “cc”, which became the strongest word for the c tag.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The fix is to match tag names in any case before removing punctuation.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69480" y="1463040"/>
            <a:ext cx="4389120" cy="205740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79" y="1600200"/>
            <a:ext cx="3977639" cy="2103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5F636B"/>
                </a:solidFill>
                <a:latin typeface="Calibri"/>
              </a:rPr>
              <a:t>Title in the data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How do I calculate someone’s age in C#?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5F636B"/>
                </a:solidFill>
                <a:latin typeface="Calibri"/>
              </a:rPr>
              <a:t>After cleanup (notebook output)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How do I calculate someone s age in 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69480" y="3794760"/>
          <a:ext cx="4389120" cy="14630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371600"/>
                <a:gridCol w="1737360"/>
                <a:gridCol w="1280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Test questions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82296" marR="82296" marT="27432" marB="27432" anchor="ctr">
                    <a:solidFill>
                      <a:srgbClr val="1F3864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c#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597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c++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82296" marR="82296" marT="27432" marB="27432" anchor="ctr">
                    <a:solidFill>
                      <a:srgbClr val="F1F4F9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L w="6350">
                      <a:solidFill>
                        <a:srgbClr val="D5DBE5"/>
                      </a:solidFill>
                    </a:lnL>
                    <a:lnR w="6350">
                      <a:solidFill>
                        <a:srgbClr val="D5DBE5"/>
                      </a:solidFill>
                    </a:lnR>
                    <a:lnT w="6350">
                      <a:solidFill>
                        <a:srgbClr val="D5DBE5"/>
                      </a:solidFill>
                    </a:lnT>
                    <a:lnB w="6350">
                      <a:solidFill>
                        <a:srgbClr val="D5DB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F636B"/>
                </a:solidFill>
                <a:latin typeface="Calibri"/>
              </a:rPr>
              <a:t>Found in 2026 while reviewing the 2021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Calibri"/>
              </a:rPr>
              <a:t>Limitations and what I would change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Garreth Cline  |  Predicting Stack Overflow tags from titles  |  Metis, February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914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marL="256032" indent="-256032">
              <a:lnSpc>
                <a:spcPct val="108000"/>
              </a:lnSpc>
              <a:spcAft>
                <a:spcPts val="1400"/>
              </a:spcAft>
              <a:buChar char="•"/>
            </a:pPr>
            <a:r>
              <a:rPr sz="1900" b="0" i="0">
                <a:solidFill>
                  <a:srgbClr val="222222"/>
                </a:solidFill>
                <a:latin typeface="Calibri"/>
              </a:rPr>
              <a:t>Add the question body. I left it out in 2021 because it took much more memory and I wanted more rows, and titles often don’t name the tool.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har char="•"/>
            </a:pPr>
            <a:r>
              <a:rPr sz="1900" b="0" i="0">
                <a:solidFill>
                  <a:srgbClr val="222222"/>
                </a:solidFill>
                <a:latin typeface="Calibri"/>
              </a:rPr>
              <a:t>Fix the cleanup so C# and C++ survive in any case, and make the common-word filter ignore case (capitalized words like “How” got through).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har char="•"/>
            </a:pPr>
            <a:r>
              <a:rPr sz="1900" b="0" i="0">
                <a:solidFill>
                  <a:srgbClr val="222222"/>
                </a:solidFill>
                <a:latin typeface="Calibri"/>
              </a:rPr>
              <a:t>Tune a separate cutoff for each tag, trading some precision (85.5%) for more recall (46.0%).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har char="•"/>
            </a:pPr>
            <a:r>
              <a:rPr sz="1900" b="0" i="0">
                <a:solidFill>
                  <a:srgbClr val="222222"/>
                </a:solidFill>
                <a:latin typeface="Calibri"/>
              </a:rPr>
              <a:t>The data ends in 2010 and covers only popular questions (score above 50, over 10,000 views), so results may differ on typical questions.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har char="•"/>
            </a:pPr>
            <a:r>
              <a:rPr sz="1900" b="0" i="0">
                <a:solidFill>
                  <a:srgbClr val="222222"/>
                </a:solidFill>
                <a:latin typeface="Calibri"/>
              </a:rPr>
              <a:t>Only the 100 most common tags were modeled; the other 6,784 were left 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